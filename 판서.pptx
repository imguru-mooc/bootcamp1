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95" d="100"/>
          <a:sy n="95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151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361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1199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8674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0313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0233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8455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4708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2198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1897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4225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03CC5D-3E5C-4301-B9DE-42262803A384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798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jikim@imguru.co.kr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61175" y="286247"/>
            <a:ext cx="8281178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err="1" smtClean="0"/>
              <a:t>강사명</a:t>
            </a:r>
            <a:r>
              <a:rPr lang="ko-KR" altLang="en-US" sz="2800" smtClean="0"/>
              <a:t> </a:t>
            </a:r>
            <a:r>
              <a:rPr lang="en-US" altLang="ko-KR" sz="2800" smtClean="0"/>
              <a:t>: </a:t>
            </a:r>
            <a:r>
              <a:rPr lang="ko-KR" altLang="en-US" sz="2800" smtClean="0"/>
              <a:t>김정인</a:t>
            </a:r>
            <a:endParaRPr lang="en-US" altLang="ko-KR" sz="2800" smtClean="0"/>
          </a:p>
          <a:p>
            <a:r>
              <a:rPr lang="en-US" altLang="ko-KR" sz="2800" smtClean="0"/>
              <a:t>email : </a:t>
            </a:r>
            <a:r>
              <a:rPr lang="en-US" altLang="ko-KR" sz="2800" smtClean="0">
                <a:hlinkClick r:id="rId2"/>
              </a:rPr>
              <a:t>jikim@imguru.co.kr</a:t>
            </a:r>
            <a:endParaRPr lang="en-US" altLang="ko-KR" sz="2800" smtClean="0"/>
          </a:p>
          <a:p>
            <a:endParaRPr lang="en-US" altLang="ko-KR" sz="2800"/>
          </a:p>
          <a:p>
            <a:endParaRPr lang="en-US" altLang="ko-KR" sz="2800" smtClean="0"/>
          </a:p>
          <a:p>
            <a:r>
              <a:rPr lang="en-US" altLang="ko-KR" sz="2800"/>
              <a:t> </a:t>
            </a:r>
            <a:r>
              <a:rPr lang="ko-KR" altLang="en-US" sz="2800" smtClean="0"/>
              <a:t>강의자료 </a:t>
            </a:r>
            <a:r>
              <a:rPr lang="en-US" altLang="ko-KR" sz="2800" smtClean="0"/>
              <a:t>: github.com/</a:t>
            </a:r>
            <a:r>
              <a:rPr lang="en-US" altLang="ko-KR" sz="2800" err="1" smtClean="0"/>
              <a:t>imguru-mooc</a:t>
            </a:r>
            <a:r>
              <a:rPr lang="en-US" altLang="ko-KR" sz="2800" smtClean="0"/>
              <a:t>/bootcamp1</a:t>
            </a:r>
            <a:endParaRPr lang="ko-KR" altLang="en-US" sz="2800"/>
          </a:p>
        </p:txBody>
      </p:sp>
    </p:spTree>
    <p:extLst>
      <p:ext uri="{BB962C8B-B14F-4D97-AF65-F5344CB8AC3E}">
        <p14:creationId xmlns:p14="http://schemas.microsoft.com/office/powerpoint/2010/main" val="3082780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30"/>
          <p:cNvSpPr txBox="1"/>
          <p:nvPr/>
        </p:nvSpPr>
        <p:spPr>
          <a:xfrm>
            <a:off x="287427" y="547631"/>
            <a:ext cx="2970685" cy="1754326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#include &lt;stdio.h&gt;</a:t>
            </a:r>
          </a:p>
          <a:p>
            <a:endParaRPr lang="en-US" altLang="ko-KR" smtClean="0">
              <a:latin typeface="Consolas" panose="020B0609020204030204" pitchFamily="49" charset="0"/>
            </a:endParaRPr>
          </a:p>
          <a:p>
            <a:r>
              <a:rPr lang="en-US" altLang="ko-KR" smtClean="0">
                <a:latin typeface="Consolas" panose="020B0609020204030204" pitchFamily="49" charset="0"/>
              </a:rPr>
              <a:t>int main(void) {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printf("hello\n");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return 0;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}</a:t>
            </a:r>
            <a:endParaRPr lang="en-US" altLang="ko-KR">
              <a:latin typeface="Consolas" panose="020B0609020204030204" pitchFamily="49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089406" y="547631"/>
            <a:ext cx="3983783" cy="1754326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int printf(const char *, ...);</a:t>
            </a:r>
          </a:p>
          <a:p>
            <a:endParaRPr lang="en-US" altLang="ko-KR" smtClean="0">
              <a:latin typeface="Consolas" panose="020B0609020204030204" pitchFamily="49" charset="0"/>
            </a:endParaRPr>
          </a:p>
          <a:p>
            <a:r>
              <a:rPr lang="en-US" altLang="ko-KR" smtClean="0">
                <a:latin typeface="Consolas" panose="020B0609020204030204" pitchFamily="49" charset="0"/>
              </a:rPr>
              <a:t>int main(void) {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printf(1234, "hello\n");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return 0;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}</a:t>
            </a:r>
            <a:endParaRPr lang="en-US" altLang="ko-KR">
              <a:latin typeface="Consolas" panose="020B0609020204030204" pitchFamily="49" charset="0"/>
            </a:endParaRPr>
          </a:p>
        </p:txBody>
      </p:sp>
      <p:sp>
        <p:nvSpPr>
          <p:cNvPr id="33" name="오른쪽 화살표 32"/>
          <p:cNvSpPr/>
          <p:nvPr/>
        </p:nvSpPr>
        <p:spPr>
          <a:xfrm>
            <a:off x="3466553" y="1424794"/>
            <a:ext cx="368969" cy="369588"/>
          </a:xfrm>
          <a:prstGeom prst="rightArrow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201859" y="101634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>
                <a:latin typeface="Consolas" panose="020B0609020204030204" pitchFamily="49" charset="0"/>
              </a:rPr>
              <a:t>전처리</a:t>
            </a:r>
          </a:p>
        </p:txBody>
      </p:sp>
      <p:sp>
        <p:nvSpPr>
          <p:cNvPr id="35" name="오른쪽 화살표 34"/>
          <p:cNvSpPr/>
          <p:nvPr/>
        </p:nvSpPr>
        <p:spPr>
          <a:xfrm>
            <a:off x="8327073" y="1385672"/>
            <a:ext cx="368969" cy="369588"/>
          </a:xfrm>
          <a:prstGeom prst="rightArrow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072975" y="96019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>
                <a:latin typeface="Consolas" panose="020B0609020204030204" pitchFamily="49" charset="0"/>
              </a:rPr>
              <a:t>컴파일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04483" y="522624"/>
            <a:ext cx="2563522" cy="1754326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200" smtClean="0">
                <a:latin typeface="Consolas" panose="020B0609020204030204" pitchFamily="49" charset="0"/>
              </a:rPr>
              <a:t>main:</a:t>
            </a:r>
          </a:p>
          <a:p>
            <a:r>
              <a:rPr lang="en-US" altLang="ko-KR" sz="1200" smtClean="0">
                <a:latin typeface="Consolas" panose="020B0609020204030204" pitchFamily="49" charset="0"/>
              </a:rPr>
              <a:t>    pushq   %rbp</a:t>
            </a:r>
          </a:p>
          <a:p>
            <a:r>
              <a:rPr lang="en-US" altLang="ko-KR" sz="1200" smtClean="0">
                <a:latin typeface="Consolas" panose="020B0609020204030204" pitchFamily="49" charset="0"/>
              </a:rPr>
              <a:t>    movq    %rsp, %rbp</a:t>
            </a:r>
          </a:p>
          <a:p>
            <a:r>
              <a:rPr lang="en-US" altLang="ko-KR" sz="1200" smtClean="0">
                <a:latin typeface="Consolas" panose="020B0609020204030204" pitchFamily="49" charset="0"/>
              </a:rPr>
              <a:t>    leaq    .LC0(%rip), %rax</a:t>
            </a:r>
          </a:p>
          <a:p>
            <a:r>
              <a:rPr lang="en-US" altLang="ko-KR" sz="1200" smtClean="0">
                <a:latin typeface="Consolas" panose="020B0609020204030204" pitchFamily="49" charset="0"/>
              </a:rPr>
              <a:t>    movq    %rax, %rdi</a:t>
            </a:r>
          </a:p>
          <a:p>
            <a:r>
              <a:rPr lang="en-US" altLang="ko-KR" sz="1200" smtClean="0">
                <a:latin typeface="Consolas" panose="020B0609020204030204" pitchFamily="49" charset="0"/>
              </a:rPr>
              <a:t>    call    puts@PLT</a:t>
            </a:r>
          </a:p>
          <a:p>
            <a:r>
              <a:rPr lang="en-US" altLang="ko-KR" sz="1200" smtClean="0">
                <a:latin typeface="Consolas" panose="020B0609020204030204" pitchFamily="49" charset="0"/>
              </a:rPr>
              <a:t>    movl    $0, %eax</a:t>
            </a:r>
          </a:p>
          <a:p>
            <a:r>
              <a:rPr lang="en-US" altLang="ko-KR" sz="1200" smtClean="0">
                <a:latin typeface="Consolas" panose="020B0609020204030204" pitchFamily="49" charset="0"/>
              </a:rPr>
              <a:t>    popq    %rbp</a:t>
            </a:r>
          </a:p>
          <a:p>
            <a:r>
              <a:rPr lang="en-US" altLang="ko-KR" sz="1200">
                <a:latin typeface="Consolas" panose="020B0609020204030204" pitchFamily="49" charset="0"/>
              </a:rPr>
              <a:t> </a:t>
            </a:r>
            <a:r>
              <a:rPr lang="en-US" altLang="ko-KR" sz="1200" smtClean="0">
                <a:latin typeface="Consolas" panose="020B0609020204030204" pitchFamily="49" charset="0"/>
              </a:rPr>
              <a:t>   ....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36498" y="3294611"/>
            <a:ext cx="1713931" cy="46166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200" smtClean="0">
                <a:latin typeface="Consolas" panose="020B0609020204030204" pitchFamily="49" charset="0"/>
              </a:rPr>
              <a:t>f30f1efa 554889e5 </a:t>
            </a:r>
          </a:p>
          <a:p>
            <a:r>
              <a:rPr lang="en-US" altLang="ko-KR" sz="1200" smtClean="0">
                <a:latin typeface="Consolas" panose="020B0609020204030204" pitchFamily="49" charset="0"/>
              </a:rPr>
              <a:t>488d0500 00000048</a:t>
            </a:r>
          </a:p>
        </p:txBody>
      </p:sp>
      <p:sp>
        <p:nvSpPr>
          <p:cNvPr id="40" name="오른쪽 화살표 39"/>
          <p:cNvSpPr/>
          <p:nvPr/>
        </p:nvSpPr>
        <p:spPr>
          <a:xfrm rot="5400000">
            <a:off x="10001759" y="2831819"/>
            <a:ext cx="368969" cy="369588"/>
          </a:xfrm>
          <a:prstGeom prst="rightArrow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0293463" y="26007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>
                <a:latin typeface="Consolas" panose="020B0609020204030204" pitchFamily="49" charset="0"/>
              </a:rPr>
              <a:t>어셈블러</a:t>
            </a:r>
          </a:p>
        </p:txBody>
      </p:sp>
      <p:sp>
        <p:nvSpPr>
          <p:cNvPr id="42" name="오른쪽 화살표 41"/>
          <p:cNvSpPr/>
          <p:nvPr/>
        </p:nvSpPr>
        <p:spPr>
          <a:xfrm rot="10800000">
            <a:off x="8326763" y="3192827"/>
            <a:ext cx="368969" cy="369588"/>
          </a:xfrm>
          <a:prstGeom prst="rightArrow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612643" y="2985926"/>
            <a:ext cx="1713931" cy="1015663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200" smtClean="0">
                <a:latin typeface="Consolas" panose="020B0609020204030204" pitchFamily="49" charset="0"/>
              </a:rPr>
              <a:t>f30f1efa 31ed4989 </a:t>
            </a:r>
          </a:p>
          <a:p>
            <a:r>
              <a:rPr lang="en-US" altLang="ko-KR" sz="1200" smtClean="0">
                <a:latin typeface="Consolas" panose="020B0609020204030204" pitchFamily="49" charset="0"/>
              </a:rPr>
              <a:t>d15e4889 e24883e4</a:t>
            </a:r>
          </a:p>
          <a:p>
            <a:r>
              <a:rPr lang="en-US" altLang="ko-KR" sz="1200" smtClean="0">
                <a:latin typeface="Consolas" panose="020B0609020204030204" pitchFamily="49" charset="0"/>
              </a:rPr>
              <a:t>f0505445 31c031c9 </a:t>
            </a:r>
          </a:p>
          <a:p>
            <a:r>
              <a:rPr lang="en-US" altLang="ko-KR" sz="1200" smtClean="0">
                <a:latin typeface="Consolas" panose="020B0609020204030204" pitchFamily="49" charset="0"/>
              </a:rPr>
              <a:t>488d3dca 000000ff</a:t>
            </a:r>
          </a:p>
          <a:p>
            <a:r>
              <a:rPr lang="en-US" altLang="ko-KR" sz="1200" smtClean="0">
                <a:latin typeface="Consolas" panose="020B0609020204030204" pitchFamily="49" charset="0"/>
              </a:rPr>
              <a:t>....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76165" y="374868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>
                <a:latin typeface="Consolas" panose="020B0609020204030204" pitchFamily="49" charset="0"/>
              </a:rPr>
              <a:t>링킹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1297" y="3988181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hello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168476" y="178299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hello.c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396940" y="185763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-E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5419096" y="178299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hello.i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8251604" y="174208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-S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9465885" y="16540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hello.s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0628491" y="2878523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-c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9835474" y="3816923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hello.o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6829" y="2451002"/>
            <a:ext cx="5495415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# 1) </a:t>
            </a:r>
            <a:r>
              <a:rPr lang="ko-KR" altLang="en-US" smtClean="0">
                <a:latin typeface="Consolas" panose="020B0609020204030204" pitchFamily="49" charset="0"/>
              </a:rPr>
              <a:t>전처리만 </a:t>
            </a:r>
            <a:r>
              <a:rPr lang="en-US" altLang="ko-KR" smtClean="0">
                <a:latin typeface="Consolas" panose="020B0609020204030204" pitchFamily="49" charset="0"/>
              </a:rPr>
              <a:t>(#include, #define </a:t>
            </a:r>
            <a:r>
              <a:rPr lang="ko-KR" altLang="en-US" smtClean="0">
                <a:latin typeface="Consolas" panose="020B0609020204030204" pitchFamily="49" charset="0"/>
              </a:rPr>
              <a:t>처리</a:t>
            </a:r>
            <a:r>
              <a:rPr lang="en-US" altLang="ko-KR" smtClean="0">
                <a:latin typeface="Consolas" panose="020B0609020204030204" pitchFamily="49" charset="0"/>
              </a:rPr>
              <a:t>) → .i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$ gcc -E hello.c -o hello.i</a:t>
            </a:r>
          </a:p>
          <a:p>
            <a:endParaRPr lang="en-US" altLang="ko-KR" smtClean="0">
              <a:latin typeface="Consolas" panose="020B0609020204030204" pitchFamily="49" charset="0"/>
            </a:endParaRPr>
          </a:p>
          <a:p>
            <a:r>
              <a:rPr lang="en-US" altLang="ko-KR" smtClean="0">
                <a:latin typeface="Consolas" panose="020B0609020204030204" pitchFamily="49" charset="0"/>
              </a:rPr>
              <a:t># 2) </a:t>
            </a:r>
            <a:r>
              <a:rPr lang="ko-KR" altLang="en-US" smtClean="0">
                <a:latin typeface="Consolas" panose="020B0609020204030204" pitchFamily="49" charset="0"/>
              </a:rPr>
              <a:t>컴파일까지 </a:t>
            </a:r>
            <a:r>
              <a:rPr lang="en-US" altLang="ko-KR" smtClean="0">
                <a:latin typeface="Consolas" panose="020B0609020204030204" pitchFamily="49" charset="0"/>
              </a:rPr>
              <a:t>(</a:t>
            </a:r>
            <a:r>
              <a:rPr lang="ko-KR" altLang="en-US" smtClean="0">
                <a:latin typeface="Consolas" panose="020B0609020204030204" pitchFamily="49" charset="0"/>
              </a:rPr>
              <a:t>어셈블리 생성</a:t>
            </a:r>
            <a:r>
              <a:rPr lang="en-US" altLang="ko-KR" smtClean="0">
                <a:latin typeface="Consolas" panose="020B0609020204030204" pitchFamily="49" charset="0"/>
              </a:rPr>
              <a:t>) → .s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$ gcc -S hello.i -o hello.s</a:t>
            </a:r>
          </a:p>
          <a:p>
            <a:endParaRPr lang="en-US" altLang="ko-KR" smtClean="0">
              <a:latin typeface="Consolas" panose="020B0609020204030204" pitchFamily="49" charset="0"/>
            </a:endParaRPr>
          </a:p>
          <a:p>
            <a:r>
              <a:rPr lang="en-US" altLang="ko-KR" smtClean="0">
                <a:latin typeface="Consolas" panose="020B0609020204030204" pitchFamily="49" charset="0"/>
              </a:rPr>
              <a:t># 3) </a:t>
            </a:r>
            <a:r>
              <a:rPr lang="ko-KR" altLang="en-US" smtClean="0">
                <a:latin typeface="Consolas" panose="020B0609020204030204" pitchFamily="49" charset="0"/>
              </a:rPr>
              <a:t>어셈블까지 </a:t>
            </a:r>
            <a:r>
              <a:rPr lang="en-US" altLang="ko-KR" smtClean="0">
                <a:latin typeface="Consolas" panose="020B0609020204030204" pitchFamily="49" charset="0"/>
              </a:rPr>
              <a:t>(</a:t>
            </a:r>
            <a:r>
              <a:rPr lang="ko-KR" altLang="en-US" smtClean="0">
                <a:latin typeface="Consolas" panose="020B0609020204030204" pitchFamily="49" charset="0"/>
              </a:rPr>
              <a:t>목적 파일 생성</a:t>
            </a:r>
            <a:r>
              <a:rPr lang="en-US" altLang="ko-KR" smtClean="0">
                <a:latin typeface="Consolas" panose="020B0609020204030204" pitchFamily="49" charset="0"/>
              </a:rPr>
              <a:t>) → .o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$ gcc -c hello.s -o hello.o</a:t>
            </a:r>
          </a:p>
          <a:p>
            <a:endParaRPr lang="en-US" altLang="ko-KR" smtClean="0">
              <a:latin typeface="Consolas" panose="020B0609020204030204" pitchFamily="49" charset="0"/>
            </a:endParaRPr>
          </a:p>
          <a:p>
            <a:r>
              <a:rPr lang="en-US" altLang="ko-KR" smtClean="0">
                <a:latin typeface="Consolas" panose="020B0609020204030204" pitchFamily="49" charset="0"/>
              </a:rPr>
              <a:t># 4) </a:t>
            </a:r>
            <a:r>
              <a:rPr lang="ko-KR" altLang="en-US" smtClean="0">
                <a:latin typeface="Consolas" panose="020B0609020204030204" pitchFamily="49" charset="0"/>
              </a:rPr>
              <a:t>링크 </a:t>
            </a:r>
            <a:r>
              <a:rPr lang="en-US" altLang="ko-KR" smtClean="0">
                <a:latin typeface="Consolas" panose="020B0609020204030204" pitchFamily="49" charset="0"/>
              </a:rPr>
              <a:t>(</a:t>
            </a:r>
            <a:r>
              <a:rPr lang="ko-KR" altLang="en-US" smtClean="0">
                <a:latin typeface="Consolas" panose="020B0609020204030204" pitchFamily="49" charset="0"/>
              </a:rPr>
              <a:t>목적 파일 → 실행 파일</a:t>
            </a:r>
            <a:r>
              <a:rPr lang="en-US" altLang="ko-KR" smtClean="0">
                <a:latin typeface="Consolas" panose="020B0609020204030204" pitchFamily="49" charset="0"/>
              </a:rPr>
              <a:t>)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$ gcc hello.o -o hello</a:t>
            </a:r>
          </a:p>
          <a:p>
            <a:endParaRPr lang="en-US" altLang="ko-KR" smtClean="0">
              <a:latin typeface="Consolas" panose="020B0609020204030204" pitchFamily="49" charset="0"/>
            </a:endParaRPr>
          </a:p>
          <a:p>
            <a:r>
              <a:rPr lang="en-US" altLang="ko-KR" smtClean="0">
                <a:latin typeface="Consolas" panose="020B0609020204030204" pitchFamily="49" charset="0"/>
              </a:rPr>
              <a:t># </a:t>
            </a:r>
            <a:r>
              <a:rPr lang="ko-KR" altLang="en-US" smtClean="0">
                <a:latin typeface="Consolas" panose="020B0609020204030204" pitchFamily="49" charset="0"/>
              </a:rPr>
              <a:t>생성된 파일들 확인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$ ls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hello  hello.c  hello.i  hello.o  hello.s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13329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/>
          <p:cNvSpPr txBox="1"/>
          <p:nvPr/>
        </p:nvSpPr>
        <p:spPr>
          <a:xfrm>
            <a:off x="1468419" y="3970318"/>
            <a:ext cx="94448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main.c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79709" y="0"/>
            <a:ext cx="3857146" cy="397031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#include &lt;stdio.h&gt;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int add(int a, int b)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{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return a+b;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}</a:t>
            </a:r>
          </a:p>
          <a:p>
            <a:endParaRPr lang="en-US" altLang="ko-KR" smtClean="0">
              <a:latin typeface="Consolas" panose="020B0609020204030204" pitchFamily="49" charset="0"/>
            </a:endParaRPr>
          </a:p>
          <a:p>
            <a:r>
              <a:rPr lang="en-US" altLang="ko-KR" smtClean="0">
                <a:latin typeface="Consolas" panose="020B0609020204030204" pitchFamily="49" charset="0"/>
              </a:rPr>
              <a:t>int main()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{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int ret;</a:t>
            </a:r>
          </a:p>
          <a:p>
            <a:endParaRPr lang="en-US" altLang="ko-KR" smtClean="0">
              <a:latin typeface="Consolas" panose="020B0609020204030204" pitchFamily="49" charset="0"/>
            </a:endParaRPr>
          </a:p>
          <a:p>
            <a:r>
              <a:rPr lang="en-US" altLang="ko-KR" smtClean="0">
                <a:latin typeface="Consolas" panose="020B0609020204030204" pitchFamily="49" charset="0"/>
              </a:rPr>
              <a:t>    ret = add(3,4);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printf("ret=%d\n", ret );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return 0;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5604" y="4801314"/>
            <a:ext cx="94448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main.c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901585" y="0"/>
            <a:ext cx="3857146" cy="480131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#include &lt;stdio.h&gt;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int add(int a, int b);</a:t>
            </a:r>
          </a:p>
          <a:p>
            <a:endParaRPr lang="en-US" altLang="ko-KR" smtClean="0">
              <a:latin typeface="Consolas" panose="020B0609020204030204" pitchFamily="49" charset="0"/>
            </a:endParaRPr>
          </a:p>
          <a:p>
            <a:r>
              <a:rPr lang="en-US" altLang="ko-KR" smtClean="0">
                <a:latin typeface="Consolas" panose="020B0609020204030204" pitchFamily="49" charset="0"/>
              </a:rPr>
              <a:t>int main()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{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int ret;</a:t>
            </a:r>
          </a:p>
          <a:p>
            <a:endParaRPr lang="en-US" altLang="ko-KR" smtClean="0">
              <a:latin typeface="Consolas" panose="020B0609020204030204" pitchFamily="49" charset="0"/>
            </a:endParaRPr>
          </a:p>
          <a:p>
            <a:r>
              <a:rPr lang="en-US" altLang="ko-KR" smtClean="0">
                <a:latin typeface="Consolas" panose="020B0609020204030204" pitchFamily="49" charset="0"/>
              </a:rPr>
              <a:t>    ret = add(3,4);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printf("ret=%d\n", ret );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return 0;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}</a:t>
            </a:r>
          </a:p>
          <a:p>
            <a:endParaRPr lang="en-US" altLang="ko-KR">
              <a:latin typeface="Consolas" panose="020B0609020204030204" pitchFamily="49" charset="0"/>
            </a:endParaRPr>
          </a:p>
          <a:p>
            <a:r>
              <a:rPr lang="en-US" altLang="ko-KR" smtClean="0">
                <a:latin typeface="Consolas" panose="020B0609020204030204" pitchFamily="49" charset="0"/>
              </a:rPr>
              <a:t>int add(int a, int b)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{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return a+b;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}</a:t>
            </a:r>
          </a:p>
          <a:p>
            <a:endParaRPr lang="en-US" altLang="ko-KR" smtClean="0">
              <a:latin typeface="Consolas" panose="020B0609020204030204" pitchFamily="49" charset="0"/>
            </a:endParaRPr>
          </a:p>
        </p:txBody>
      </p:sp>
      <p:sp>
        <p:nvSpPr>
          <p:cNvPr id="2" name="오른쪽 화살표 1"/>
          <p:cNvSpPr/>
          <p:nvPr/>
        </p:nvSpPr>
        <p:spPr>
          <a:xfrm>
            <a:off x="4339244" y="2094807"/>
            <a:ext cx="482138" cy="565266"/>
          </a:xfrm>
          <a:prstGeom prst="rightArrow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3123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/>
          <p:cNvSpPr txBox="1"/>
          <p:nvPr/>
        </p:nvSpPr>
        <p:spPr>
          <a:xfrm>
            <a:off x="1276181" y="710154"/>
            <a:ext cx="94448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main.h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63084" y="340822"/>
            <a:ext cx="2970685" cy="369332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int add(int a, int b);</a:t>
            </a:r>
            <a:endParaRPr lang="en-US" altLang="ko-KR" smtClean="0">
              <a:latin typeface="Consolas" panose="020B0609020204030204" pitchFamily="49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965604" y="4801314"/>
            <a:ext cx="94448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main.c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901585" y="0"/>
            <a:ext cx="3857146" cy="480131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#include &lt;stdio.h&gt;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#include "main.h"</a:t>
            </a:r>
          </a:p>
          <a:p>
            <a:endParaRPr lang="en-US" altLang="ko-KR" smtClean="0">
              <a:latin typeface="Consolas" panose="020B0609020204030204" pitchFamily="49" charset="0"/>
            </a:endParaRPr>
          </a:p>
          <a:p>
            <a:r>
              <a:rPr lang="en-US" altLang="ko-KR" smtClean="0">
                <a:latin typeface="Consolas" panose="020B0609020204030204" pitchFamily="49" charset="0"/>
              </a:rPr>
              <a:t>int main()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{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int ret;</a:t>
            </a:r>
          </a:p>
          <a:p>
            <a:endParaRPr lang="en-US" altLang="ko-KR" smtClean="0">
              <a:latin typeface="Consolas" panose="020B0609020204030204" pitchFamily="49" charset="0"/>
            </a:endParaRPr>
          </a:p>
          <a:p>
            <a:r>
              <a:rPr lang="en-US" altLang="ko-KR" smtClean="0">
                <a:latin typeface="Consolas" panose="020B0609020204030204" pitchFamily="49" charset="0"/>
              </a:rPr>
              <a:t>    ret = add(3,4);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printf("ret=%d\n", ret );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return 0;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}</a:t>
            </a:r>
          </a:p>
          <a:p>
            <a:endParaRPr lang="en-US" altLang="ko-KR">
              <a:latin typeface="Consolas" panose="020B0609020204030204" pitchFamily="49" charset="0"/>
            </a:endParaRPr>
          </a:p>
          <a:p>
            <a:r>
              <a:rPr lang="en-US" altLang="ko-KR" smtClean="0">
                <a:latin typeface="Consolas" panose="020B0609020204030204" pitchFamily="49" charset="0"/>
              </a:rPr>
              <a:t>int add(int a, int b)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{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return a+b;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}</a:t>
            </a:r>
          </a:p>
          <a:p>
            <a:endParaRPr lang="en-US" altLang="ko-KR" smtClean="0">
              <a:latin typeface="Consolas" panose="020B0609020204030204" pitchFamily="49" charset="0"/>
            </a:endParaRPr>
          </a:p>
        </p:txBody>
      </p:sp>
      <p:sp>
        <p:nvSpPr>
          <p:cNvPr id="2" name="오른쪽 화살표 1"/>
          <p:cNvSpPr/>
          <p:nvPr/>
        </p:nvSpPr>
        <p:spPr>
          <a:xfrm>
            <a:off x="4339244" y="2094807"/>
            <a:ext cx="482138" cy="565266"/>
          </a:xfrm>
          <a:prstGeom prst="rightArrow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190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/>
          <p:cNvSpPr txBox="1"/>
          <p:nvPr/>
        </p:nvSpPr>
        <p:spPr>
          <a:xfrm>
            <a:off x="3394755" y="186250"/>
            <a:ext cx="94448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main.h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4339244" y="248570"/>
            <a:ext cx="2970685" cy="369332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int add(int a, int b);</a:t>
            </a:r>
            <a:endParaRPr lang="en-US" altLang="ko-KR" smtClean="0">
              <a:latin typeface="Consolas" panose="020B0609020204030204" pitchFamily="49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60761" y="2629570"/>
            <a:ext cx="94448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main.c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705250" y="1244576"/>
            <a:ext cx="3857146" cy="3139321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#include &lt;stdio.h&gt;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#include "main.h"</a:t>
            </a:r>
          </a:p>
          <a:p>
            <a:endParaRPr lang="en-US" altLang="ko-KR" smtClean="0">
              <a:latin typeface="Consolas" panose="020B0609020204030204" pitchFamily="49" charset="0"/>
            </a:endParaRPr>
          </a:p>
          <a:p>
            <a:r>
              <a:rPr lang="en-US" altLang="ko-KR" smtClean="0">
                <a:latin typeface="Consolas" panose="020B0609020204030204" pitchFamily="49" charset="0"/>
              </a:rPr>
              <a:t>int main()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{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int ret;</a:t>
            </a:r>
          </a:p>
          <a:p>
            <a:endParaRPr lang="en-US" altLang="ko-KR" smtClean="0">
              <a:latin typeface="Consolas" panose="020B0609020204030204" pitchFamily="49" charset="0"/>
            </a:endParaRPr>
          </a:p>
          <a:p>
            <a:r>
              <a:rPr lang="en-US" altLang="ko-KR" smtClean="0">
                <a:latin typeface="Consolas" panose="020B0609020204030204" pitchFamily="49" charset="0"/>
              </a:rPr>
              <a:t>    ret = add(3,4);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printf("ret=%d\n", ret );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return 0;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7507" y="2075572"/>
            <a:ext cx="8178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add.c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119050" y="1244576"/>
            <a:ext cx="2844048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#include "main.h"</a:t>
            </a:r>
          </a:p>
          <a:p>
            <a:endParaRPr lang="en-US" altLang="ko-KR" smtClean="0">
              <a:latin typeface="Consolas" panose="020B0609020204030204" pitchFamily="49" charset="0"/>
            </a:endParaRPr>
          </a:p>
          <a:p>
            <a:r>
              <a:rPr lang="en-US" altLang="ko-KR" smtClean="0">
                <a:latin typeface="Consolas" panose="020B0609020204030204" pitchFamily="49" charset="0"/>
              </a:rPr>
              <a:t>int add(int a, int b)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{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    return a+b;</a:t>
            </a:r>
          </a:p>
          <a:p>
            <a:r>
              <a:rPr lang="en-US" altLang="ko-KR" smtClean="0">
                <a:latin typeface="Consolas" panose="020B0609020204030204" pitchFamily="49" charset="0"/>
              </a:rPr>
              <a:t>}</a:t>
            </a:r>
          </a:p>
          <a:p>
            <a:endParaRPr lang="en-US" altLang="ko-KR" smtClean="0">
              <a:latin typeface="Consolas" panose="020B0609020204030204" pitchFamily="49" charset="0"/>
            </a:endParaRPr>
          </a:p>
        </p:txBody>
      </p:sp>
      <p:cxnSp>
        <p:nvCxnSpPr>
          <p:cNvPr id="4" name="직선 화살표 연결선 3"/>
          <p:cNvCxnSpPr>
            <a:stCxn id="25" idx="0"/>
            <a:endCxn id="55" idx="2"/>
          </p:cNvCxnSpPr>
          <p:nvPr/>
        </p:nvCxnSpPr>
        <p:spPr>
          <a:xfrm flipV="1">
            <a:off x="3633823" y="617902"/>
            <a:ext cx="2190764" cy="6266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>
            <a:stCxn id="8" idx="0"/>
            <a:endCxn id="55" idx="2"/>
          </p:cNvCxnSpPr>
          <p:nvPr/>
        </p:nvCxnSpPr>
        <p:spPr>
          <a:xfrm flipH="1" flipV="1">
            <a:off x="5824587" y="617902"/>
            <a:ext cx="1716487" cy="6266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3164448" y="4806034"/>
            <a:ext cx="938749" cy="409073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919945" y="4803265"/>
            <a:ext cx="94448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main.o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cxnSp>
        <p:nvCxnSpPr>
          <p:cNvPr id="18" name="직선 화살표 연결선 17"/>
          <p:cNvCxnSpPr>
            <a:stCxn id="12" idx="0"/>
            <a:endCxn id="25" idx="2"/>
          </p:cNvCxnSpPr>
          <p:nvPr/>
        </p:nvCxnSpPr>
        <p:spPr>
          <a:xfrm flipV="1">
            <a:off x="3633823" y="4383897"/>
            <a:ext cx="0" cy="4221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7071699" y="4763524"/>
            <a:ext cx="938749" cy="409073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827196" y="4760755"/>
            <a:ext cx="8178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add.o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cxnSp>
        <p:nvCxnSpPr>
          <p:cNvPr id="27" name="직선 화살표 연결선 26"/>
          <p:cNvCxnSpPr>
            <a:stCxn id="23" idx="0"/>
            <a:endCxn id="8" idx="2"/>
          </p:cNvCxnSpPr>
          <p:nvPr/>
        </p:nvCxnSpPr>
        <p:spPr>
          <a:xfrm flipV="1">
            <a:off x="7541074" y="3275901"/>
            <a:ext cx="0" cy="14876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4729205" y="6038871"/>
            <a:ext cx="938749" cy="409073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694270" y="6093672"/>
            <a:ext cx="8178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hello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cxnSp>
        <p:nvCxnSpPr>
          <p:cNvPr id="32" name="직선 화살표 연결선 31"/>
          <p:cNvCxnSpPr>
            <a:stCxn id="30" idx="0"/>
            <a:endCxn id="12" idx="2"/>
          </p:cNvCxnSpPr>
          <p:nvPr/>
        </p:nvCxnSpPr>
        <p:spPr>
          <a:xfrm flipH="1" flipV="1">
            <a:off x="3633823" y="5215107"/>
            <a:ext cx="1564757" cy="8237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/>
          <p:cNvCxnSpPr>
            <a:stCxn id="30" idx="0"/>
            <a:endCxn id="23" idx="2"/>
          </p:cNvCxnSpPr>
          <p:nvPr/>
        </p:nvCxnSpPr>
        <p:spPr>
          <a:xfrm flipV="1">
            <a:off x="5198580" y="5172597"/>
            <a:ext cx="2342494" cy="866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06002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Box 54"/>
          <p:cNvSpPr txBox="1"/>
          <p:nvPr/>
        </p:nvSpPr>
        <p:spPr>
          <a:xfrm>
            <a:off x="591947" y="445095"/>
            <a:ext cx="4432624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#!/bin/sh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set -x</a:t>
            </a:r>
            <a:endParaRPr lang="en-US" altLang="ko-KR" sz="2400" smtClean="0">
              <a:latin typeface="Consolas" panose="020B0609020204030204" pitchFamily="49" charset="0"/>
            </a:endParaRPr>
          </a:p>
          <a:p>
            <a:endParaRPr lang="en-US" altLang="ko-KR" sz="2400">
              <a:latin typeface="Consolas" panose="020B0609020204030204" pitchFamily="49" charset="0"/>
            </a:endParaRPr>
          </a:p>
          <a:p>
            <a:r>
              <a:rPr lang="en-US" altLang="ko-KR" sz="2400" smtClean="0">
                <a:latin typeface="Consolas" panose="020B0609020204030204" pitchFamily="49" charset="0"/>
              </a:rPr>
              <a:t>gcc -c main.c -o main.o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gcc -c add.c -o add.o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gcc main.o add.o -o hello</a:t>
            </a:r>
            <a:endParaRPr lang="en-US" altLang="ko-KR" sz="2400" smtClean="0">
              <a:latin typeface="Consolas" panose="020B06090202040302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862959" y="2889050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cc.sh</a:t>
            </a:r>
            <a:endParaRPr lang="ko-KR" altLang="en-US" sz="2400" smtClean="0">
              <a:latin typeface="Consolas" panose="020B06090202040302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15422" y="3955850"/>
            <a:ext cx="477246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$ sh cc.sh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+ gcc -c main.c -o main.o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+ gcc -c add.c -o add.o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+ gcc main.o add.o -o hello</a:t>
            </a:r>
          </a:p>
          <a:p>
            <a:endParaRPr lang="ko-KR" altLang="en-US" sz="2400" smtClean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48192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Box 54"/>
          <p:cNvSpPr txBox="1"/>
          <p:nvPr/>
        </p:nvSpPr>
        <p:spPr>
          <a:xfrm>
            <a:off x="591947" y="445095"/>
            <a:ext cx="4432624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#!/bin/sh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set -x</a:t>
            </a:r>
            <a:endParaRPr lang="en-US" altLang="ko-KR" sz="2400" smtClean="0">
              <a:latin typeface="Consolas" panose="020B0609020204030204" pitchFamily="49" charset="0"/>
            </a:endParaRPr>
          </a:p>
          <a:p>
            <a:endParaRPr lang="en-US" altLang="ko-KR" sz="2400">
              <a:latin typeface="Consolas" panose="020B0609020204030204" pitchFamily="49" charset="0"/>
            </a:endParaRPr>
          </a:p>
          <a:p>
            <a:r>
              <a:rPr lang="en-US" altLang="ko-KR" sz="2400" smtClean="0">
                <a:latin typeface="Consolas" panose="020B0609020204030204" pitchFamily="49" charset="0"/>
              </a:rPr>
              <a:t>gcc -c main.c -o main.o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gcc -c add.c -o add.o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gcc main.o add.o -o hello</a:t>
            </a:r>
            <a:endParaRPr lang="en-US" altLang="ko-KR" sz="2400" smtClean="0">
              <a:latin typeface="Consolas" panose="020B06090202040302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862959" y="2889050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cc.sh</a:t>
            </a:r>
            <a:endParaRPr lang="ko-KR" altLang="en-US" sz="2400" smtClean="0">
              <a:latin typeface="Consolas" panose="020B06090202040302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15422" y="3955850"/>
            <a:ext cx="477246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$ sh cc.sh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+ gcc -c main.c -o main.o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+ gcc -c add.c -o add.o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+ gcc main.o add.o -o hello</a:t>
            </a:r>
          </a:p>
          <a:p>
            <a:endParaRPr lang="ko-KR" altLang="en-US" sz="2400" smtClean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29324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Box 54"/>
          <p:cNvSpPr txBox="1"/>
          <p:nvPr/>
        </p:nvSpPr>
        <p:spPr>
          <a:xfrm>
            <a:off x="591947" y="445095"/>
            <a:ext cx="5112297" cy="304698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hello : main.o add.o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    gcc main.o add.o -o hello</a:t>
            </a:r>
          </a:p>
          <a:p>
            <a:endParaRPr lang="en-US" altLang="ko-KR" sz="2400" smtClean="0">
              <a:latin typeface="Consolas" panose="020B0609020204030204" pitchFamily="49" charset="0"/>
            </a:endParaRPr>
          </a:p>
          <a:p>
            <a:r>
              <a:rPr lang="en-US" altLang="ko-KR" sz="2400" smtClean="0">
                <a:latin typeface="Consolas" panose="020B0609020204030204" pitchFamily="49" charset="0"/>
              </a:rPr>
              <a:t>main.o : main.c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    gcc -c main.c -o main.o</a:t>
            </a:r>
          </a:p>
          <a:p>
            <a:endParaRPr lang="en-US" altLang="ko-KR" sz="2400" smtClean="0">
              <a:latin typeface="Consolas" panose="020B0609020204030204" pitchFamily="49" charset="0"/>
            </a:endParaRPr>
          </a:p>
          <a:p>
            <a:r>
              <a:rPr lang="en-US" altLang="ko-KR" sz="2400" smtClean="0">
                <a:latin typeface="Consolas" panose="020B0609020204030204" pitchFamily="49" charset="0"/>
              </a:rPr>
              <a:t>add.o : add.c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    gcc -c add.c -o add.o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997242" y="3681663"/>
            <a:ext cx="17620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Makefile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720031" y="445095"/>
            <a:ext cx="5452134" cy="4893647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TARGET = hello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OBJS = main.o add.o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CC = gcc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CFLAGS = -c</a:t>
            </a:r>
          </a:p>
          <a:p>
            <a:endParaRPr lang="en-US" altLang="ko-KR" sz="2400" smtClean="0">
              <a:latin typeface="Consolas" panose="020B0609020204030204" pitchFamily="49" charset="0"/>
            </a:endParaRPr>
          </a:p>
          <a:p>
            <a:r>
              <a:rPr lang="en-US" altLang="ko-KR" sz="2400" smtClean="0">
                <a:latin typeface="Consolas" panose="020B0609020204030204" pitchFamily="49" charset="0"/>
              </a:rPr>
              <a:t>$(TARGET) : $(OBJS)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    $(CC)  $(OBJS) -o $(TARGET)</a:t>
            </a:r>
          </a:p>
          <a:p>
            <a:endParaRPr lang="en-US" altLang="ko-KR" sz="2400" smtClean="0">
              <a:latin typeface="Consolas" panose="020B0609020204030204" pitchFamily="49" charset="0"/>
            </a:endParaRPr>
          </a:p>
          <a:p>
            <a:r>
              <a:rPr lang="en-US" altLang="ko-KR" sz="2400" smtClean="0">
                <a:latin typeface="Consolas" panose="020B0609020204030204" pitchFamily="49" charset="0"/>
              </a:rPr>
              <a:t>.c.o :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    $(CC) $(CFLAGS) $&lt;</a:t>
            </a:r>
          </a:p>
          <a:p>
            <a:endParaRPr lang="en-US" altLang="ko-KR" sz="2400">
              <a:latin typeface="Consolas" panose="020B0609020204030204" pitchFamily="49" charset="0"/>
            </a:endParaRPr>
          </a:p>
          <a:p>
            <a:r>
              <a:rPr lang="en-US" altLang="ko-KR" sz="2400" smtClean="0">
                <a:latin typeface="Consolas" panose="020B0609020204030204" pitchFamily="49" charset="0"/>
              </a:rPr>
              <a:t>clean :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    rm -f $(OBJS) $(TARGET)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5326" y="5526505"/>
            <a:ext cx="17620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Makefile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4" name="오른쪽 화살표 3"/>
          <p:cNvSpPr/>
          <p:nvPr/>
        </p:nvSpPr>
        <p:spPr>
          <a:xfrm>
            <a:off x="6071937" y="1968589"/>
            <a:ext cx="352926" cy="493874"/>
          </a:xfrm>
          <a:prstGeom prst="rightArrow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5741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86063" y="232611"/>
            <a:ext cx="2710999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1. type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2. </a:t>
            </a:r>
            <a:r>
              <a:rPr lang="ko-KR" altLang="en-US" sz="2400" smtClean="0">
                <a:latin typeface="Consolas" panose="020B0609020204030204" pitchFamily="49" charset="0"/>
              </a:rPr>
              <a:t>연산자</a:t>
            </a:r>
            <a:endParaRPr lang="en-US" altLang="ko-KR" sz="2400" smtClean="0">
              <a:latin typeface="Consolas" panose="020B0609020204030204" pitchFamily="49" charset="0"/>
            </a:endParaRPr>
          </a:p>
          <a:p>
            <a:r>
              <a:rPr lang="en-US" altLang="ko-KR" sz="2400" smtClean="0">
                <a:latin typeface="Consolas" panose="020B0609020204030204" pitchFamily="49" charset="0"/>
              </a:rPr>
              <a:t>3. </a:t>
            </a:r>
            <a:r>
              <a:rPr lang="ko-KR" altLang="en-US" sz="2400" smtClean="0">
                <a:latin typeface="Consolas" panose="020B0609020204030204" pitchFamily="49" charset="0"/>
              </a:rPr>
              <a:t>제어문</a:t>
            </a:r>
            <a:endParaRPr lang="en-US" altLang="ko-KR" sz="2400" smtClean="0">
              <a:latin typeface="Consolas" panose="020B0609020204030204" pitchFamily="49" charset="0"/>
            </a:endParaRPr>
          </a:p>
          <a:p>
            <a:r>
              <a:rPr lang="en-US" altLang="ko-KR" sz="2400" smtClean="0">
                <a:latin typeface="Consolas" panose="020B0609020204030204" pitchFamily="49" charset="0"/>
              </a:rPr>
              <a:t>4. </a:t>
            </a:r>
            <a:r>
              <a:rPr lang="ko-KR" altLang="en-US" sz="2400" smtClean="0">
                <a:latin typeface="Consolas" panose="020B0609020204030204" pitchFamily="49" charset="0"/>
              </a:rPr>
              <a:t>배열과 포인터</a:t>
            </a:r>
            <a:endParaRPr lang="en-US" altLang="ko-KR" sz="2400" smtClean="0">
              <a:latin typeface="Consolas" panose="020B0609020204030204" pitchFamily="49" charset="0"/>
            </a:endParaRPr>
          </a:p>
          <a:p>
            <a:r>
              <a:rPr lang="en-US" altLang="ko-KR" sz="2400" smtClean="0">
                <a:latin typeface="Consolas" panose="020B0609020204030204" pitchFamily="49" charset="0"/>
              </a:rPr>
              <a:t>5. </a:t>
            </a:r>
            <a:r>
              <a:rPr lang="ko-KR" altLang="en-US" sz="2400" smtClean="0">
                <a:latin typeface="Consolas" panose="020B0609020204030204" pitchFamily="49" charset="0"/>
              </a:rPr>
              <a:t>함수</a:t>
            </a:r>
            <a:endParaRPr lang="en-US" altLang="ko-KR" sz="2400" smtClean="0">
              <a:latin typeface="Consolas" panose="020B0609020204030204" pitchFamily="49" charset="0"/>
            </a:endParaRPr>
          </a:p>
          <a:p>
            <a:r>
              <a:rPr lang="en-US" altLang="ko-KR" sz="2400" smtClean="0">
                <a:latin typeface="Consolas" panose="020B0609020204030204" pitchFamily="49" charset="0"/>
              </a:rPr>
              <a:t>6. </a:t>
            </a:r>
            <a:r>
              <a:rPr lang="ko-KR" altLang="en-US" sz="2400" smtClean="0">
                <a:latin typeface="Consolas" panose="020B0609020204030204" pitchFamily="49" charset="0"/>
              </a:rPr>
              <a:t>구조체</a:t>
            </a:r>
            <a:endParaRPr lang="en-US" altLang="ko-KR" sz="2400" smtClean="0">
              <a:latin typeface="Consolas" panose="020B0609020204030204" pitchFamily="49" charset="0"/>
            </a:endParaRPr>
          </a:p>
          <a:p>
            <a:r>
              <a:rPr lang="en-US" altLang="ko-KR" sz="2400" smtClean="0">
                <a:latin typeface="Consolas" panose="020B0609020204030204" pitchFamily="49" charset="0"/>
              </a:rPr>
              <a:t>7. </a:t>
            </a:r>
            <a:r>
              <a:rPr lang="ko-KR" altLang="en-US" sz="2400" smtClean="0">
                <a:latin typeface="Consolas" panose="020B0609020204030204" pitchFamily="49" charset="0"/>
              </a:rPr>
              <a:t>파일입출력</a:t>
            </a:r>
          </a:p>
        </p:txBody>
      </p:sp>
    </p:spTree>
    <p:extLst>
      <p:ext uri="{BB962C8B-B14F-4D97-AF65-F5344CB8AC3E}">
        <p14:creationId xmlns:p14="http://schemas.microsoft.com/office/powerpoint/2010/main" val="2455576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86063" y="232611"/>
            <a:ext cx="110594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1. type : </a:t>
            </a:r>
            <a:r>
              <a:rPr lang="en-US" altLang="ko-KR" sz="2400" smtClean="0">
                <a:solidFill>
                  <a:srgbClr val="FF0000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sz="2400" smtClean="0">
                <a:latin typeface="Consolas" panose="020B0609020204030204" pitchFamily="49" charset="0"/>
              </a:rPr>
              <a:t>, </a:t>
            </a:r>
            <a:r>
              <a:rPr lang="en-US" altLang="ko-KR" sz="2400" smtClean="0">
                <a:solidFill>
                  <a:srgbClr val="FF0000"/>
                </a:solidFill>
                <a:latin typeface="Consolas" panose="020B0609020204030204" pitchFamily="49" charset="0"/>
              </a:rPr>
              <a:t>char</a:t>
            </a:r>
            <a:r>
              <a:rPr lang="en-US" altLang="ko-KR" sz="2400" smtClean="0">
                <a:latin typeface="Consolas" panose="020B0609020204030204" pitchFamily="49" charset="0"/>
              </a:rPr>
              <a:t>, short int, long int, </a:t>
            </a:r>
            <a:r>
              <a:rPr lang="en-US" altLang="ko-KR" sz="2400" smtClean="0">
                <a:solidFill>
                  <a:srgbClr val="FF0000"/>
                </a:solidFill>
                <a:latin typeface="Consolas" panose="020B0609020204030204" pitchFamily="49" charset="0"/>
              </a:rPr>
              <a:t>float</a:t>
            </a:r>
            <a:r>
              <a:rPr lang="en-US" altLang="ko-KR" sz="2400" smtClean="0">
                <a:latin typeface="Consolas" panose="020B0609020204030204" pitchFamily="49" charset="0"/>
              </a:rPr>
              <a:t>, unsigned char,</a:t>
            </a:r>
          </a:p>
          <a:p>
            <a:r>
              <a:rPr lang="en-US" altLang="ko-KR" sz="2400" smtClean="0">
                <a:latin typeface="Consolas" panose="020B0609020204030204" pitchFamily="49" charset="0"/>
              </a:rPr>
              <a:t>long long int, signed char, </a:t>
            </a:r>
            <a:r>
              <a:rPr lang="en-US" altLang="ko-KR" sz="2400" smtClean="0">
                <a:solidFill>
                  <a:srgbClr val="FF0000"/>
                </a:solidFill>
                <a:latin typeface="Consolas" panose="020B0609020204030204" pitchFamily="49" charset="0"/>
              </a:rPr>
              <a:t>double</a:t>
            </a:r>
            <a:r>
              <a:rPr lang="en-US" altLang="ko-KR" sz="2400" smtClean="0">
                <a:latin typeface="Consolas" panose="020B0609020204030204" pitchFamily="49" charset="0"/>
              </a:rPr>
              <a:t>, ...</a:t>
            </a:r>
          </a:p>
        </p:txBody>
      </p:sp>
    </p:spTree>
    <p:extLst>
      <p:ext uri="{BB962C8B-B14F-4D97-AF65-F5344CB8AC3E}">
        <p14:creationId xmlns:p14="http://schemas.microsoft.com/office/powerpoint/2010/main" val="1835851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86063" y="232611"/>
            <a:ext cx="1713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1. type :</a:t>
            </a:r>
          </a:p>
        </p:txBody>
      </p:sp>
      <p:cxnSp>
        <p:nvCxnSpPr>
          <p:cNvPr id="3" name="직선 연결선 2"/>
          <p:cNvCxnSpPr/>
          <p:nvPr/>
        </p:nvCxnSpPr>
        <p:spPr>
          <a:xfrm>
            <a:off x="721895" y="3007895"/>
            <a:ext cx="96252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037347" y="954505"/>
            <a:ext cx="37337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char  1byte   8bit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037347" y="2101515"/>
            <a:ext cx="3930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int   4byte   32bit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37347" y="3651285"/>
            <a:ext cx="45223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float   4byte    32bit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37347" y="4798295"/>
            <a:ext cx="45223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double  8byte    64bit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5973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86063" y="232611"/>
            <a:ext cx="1713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1. type 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37347" y="954505"/>
            <a:ext cx="37337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char  1byte   8bit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1477725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char ch = 200;</a:t>
            </a:r>
          </a:p>
          <a:p>
            <a:r>
              <a:rPr lang="en-US" altLang="ko-KR" sz="2800" smtClean="0">
                <a:latin typeface="Consolas" panose="020B0609020204030204" pitchFamily="49" charset="0"/>
              </a:rPr>
              <a:t>printf("%d\n", ch); // -56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71" name="직사각형 70"/>
          <p:cNvSpPr/>
          <p:nvPr/>
        </p:nvSpPr>
        <p:spPr>
          <a:xfrm>
            <a:off x="4589258" y="3317367"/>
            <a:ext cx="612656" cy="545432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2" name="직사각형 71"/>
          <p:cNvSpPr/>
          <p:nvPr/>
        </p:nvSpPr>
        <p:spPr>
          <a:xfrm>
            <a:off x="5201915" y="3317367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5814571" y="3317367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4" name="직사각형 73"/>
          <p:cNvSpPr/>
          <p:nvPr/>
        </p:nvSpPr>
        <p:spPr>
          <a:xfrm>
            <a:off x="6427228" y="3317367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5" name="직사각형 74"/>
          <p:cNvSpPr/>
          <p:nvPr/>
        </p:nvSpPr>
        <p:spPr>
          <a:xfrm>
            <a:off x="7039884" y="3317367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7652541" y="3317367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8265197" y="3317367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8877854" y="3317367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1" name="직사각형 120"/>
          <p:cNvSpPr/>
          <p:nvPr/>
        </p:nvSpPr>
        <p:spPr>
          <a:xfrm>
            <a:off x="4589258" y="2868188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128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2" name="직사각형 121"/>
          <p:cNvSpPr/>
          <p:nvPr/>
        </p:nvSpPr>
        <p:spPr>
          <a:xfrm>
            <a:off x="5201915" y="2868188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64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3" name="직사각형 122"/>
          <p:cNvSpPr/>
          <p:nvPr/>
        </p:nvSpPr>
        <p:spPr>
          <a:xfrm>
            <a:off x="5814571" y="2868188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32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4" name="직사각형 123"/>
          <p:cNvSpPr/>
          <p:nvPr/>
        </p:nvSpPr>
        <p:spPr>
          <a:xfrm>
            <a:off x="6427228" y="2868188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16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7039884" y="2868188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8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7652541" y="2868188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7" name="직사각형 126"/>
          <p:cNvSpPr/>
          <p:nvPr/>
        </p:nvSpPr>
        <p:spPr>
          <a:xfrm>
            <a:off x="8265197" y="2868188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8" name="직사각형 127"/>
          <p:cNvSpPr/>
          <p:nvPr/>
        </p:nvSpPr>
        <p:spPr>
          <a:xfrm>
            <a:off x="8877854" y="2868188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9" name="직사각형 128"/>
          <p:cNvSpPr/>
          <p:nvPr/>
        </p:nvSpPr>
        <p:spPr>
          <a:xfrm>
            <a:off x="4589258" y="2547346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s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TextBox 129"/>
              <p:cNvSpPr txBox="1"/>
              <p:nvPr/>
            </p:nvSpPr>
            <p:spPr>
              <a:xfrm>
                <a:off x="621893" y="4586090"/>
                <a:ext cx="2917209" cy="13542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4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altLang="ko-KR" sz="4400" b="0" i="1" smtClean="0">
                          <a:latin typeface="Cambria Math" panose="02040503050406030204" pitchFamily="18" charset="0"/>
                        </a:rPr>
                        <m:t>∗56</m:t>
                      </m:r>
                    </m:oMath>
                  </m:oMathPara>
                </a14:m>
                <a:endParaRPr lang="en-US" altLang="ko-KR" sz="4400" b="0" smtClean="0">
                  <a:latin typeface="Consolas" panose="020B0609020204030204" pitchFamily="49" charset="0"/>
                </a:endParaRPr>
              </a:p>
              <a:p>
                <a:endParaRPr lang="ko-KR" altLang="en-US" sz="4400" smtClean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130" name="TextBox 1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893" y="4586090"/>
                <a:ext cx="2917209" cy="13542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1" name="직사각형 130"/>
          <p:cNvSpPr/>
          <p:nvPr/>
        </p:nvSpPr>
        <p:spPr>
          <a:xfrm>
            <a:off x="4589257" y="4121970"/>
            <a:ext cx="612656" cy="545432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2" name="직사각형 131"/>
          <p:cNvSpPr/>
          <p:nvPr/>
        </p:nvSpPr>
        <p:spPr>
          <a:xfrm>
            <a:off x="5201914" y="4121970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3" name="직사각형 132"/>
          <p:cNvSpPr/>
          <p:nvPr/>
        </p:nvSpPr>
        <p:spPr>
          <a:xfrm>
            <a:off x="5814570" y="4121970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4" name="직사각형 133"/>
          <p:cNvSpPr/>
          <p:nvPr/>
        </p:nvSpPr>
        <p:spPr>
          <a:xfrm>
            <a:off x="6427227" y="4121970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5" name="직사각형 134"/>
          <p:cNvSpPr/>
          <p:nvPr/>
        </p:nvSpPr>
        <p:spPr>
          <a:xfrm>
            <a:off x="7039883" y="4121970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6" name="직사각형 135"/>
          <p:cNvSpPr/>
          <p:nvPr/>
        </p:nvSpPr>
        <p:spPr>
          <a:xfrm>
            <a:off x="7652540" y="4121970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7" name="직사각형 136"/>
          <p:cNvSpPr/>
          <p:nvPr/>
        </p:nvSpPr>
        <p:spPr>
          <a:xfrm>
            <a:off x="8265196" y="4121970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8" name="직사각형 137"/>
          <p:cNvSpPr/>
          <p:nvPr/>
        </p:nvSpPr>
        <p:spPr>
          <a:xfrm>
            <a:off x="8877853" y="4121970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9" name="직사각형 138"/>
          <p:cNvSpPr/>
          <p:nvPr/>
        </p:nvSpPr>
        <p:spPr>
          <a:xfrm>
            <a:off x="8877853" y="4773420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3848793" y="5046136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+</a:t>
            </a:r>
            <a:endParaRPr lang="ko-KR" altLang="en-US" smtClean="0">
              <a:latin typeface="Consolas" panose="020B0609020204030204" pitchFamily="49" charset="0"/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9623849" y="4197386"/>
            <a:ext cx="1130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Consolas" panose="020B0609020204030204" pitchFamily="49" charset="0"/>
              </a:rPr>
              <a:t>1</a:t>
            </a:r>
            <a:r>
              <a:rPr lang="ko-KR" altLang="en-US" smtClean="0">
                <a:latin typeface="Consolas" panose="020B0609020204030204" pitchFamily="49" charset="0"/>
              </a:rPr>
              <a:t>의 보수</a:t>
            </a:r>
          </a:p>
        </p:txBody>
      </p:sp>
      <p:cxnSp>
        <p:nvCxnSpPr>
          <p:cNvPr id="143" name="직선 연결선 142"/>
          <p:cNvCxnSpPr/>
          <p:nvPr/>
        </p:nvCxnSpPr>
        <p:spPr>
          <a:xfrm flipH="1">
            <a:off x="4160097" y="5415468"/>
            <a:ext cx="557410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직사각형 143"/>
          <p:cNvSpPr/>
          <p:nvPr/>
        </p:nvSpPr>
        <p:spPr>
          <a:xfrm>
            <a:off x="4589257" y="5512085"/>
            <a:ext cx="612656" cy="545432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45" name="직사각형 144"/>
          <p:cNvSpPr/>
          <p:nvPr/>
        </p:nvSpPr>
        <p:spPr>
          <a:xfrm>
            <a:off x="5201914" y="5512085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46" name="직사각형 145"/>
          <p:cNvSpPr/>
          <p:nvPr/>
        </p:nvSpPr>
        <p:spPr>
          <a:xfrm>
            <a:off x="5814570" y="5512085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47" name="직사각형 146"/>
          <p:cNvSpPr/>
          <p:nvPr/>
        </p:nvSpPr>
        <p:spPr>
          <a:xfrm>
            <a:off x="6427227" y="5512085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48" name="직사각형 147"/>
          <p:cNvSpPr/>
          <p:nvPr/>
        </p:nvSpPr>
        <p:spPr>
          <a:xfrm>
            <a:off x="7039883" y="5512085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49" name="직사각형 148"/>
          <p:cNvSpPr/>
          <p:nvPr/>
        </p:nvSpPr>
        <p:spPr>
          <a:xfrm>
            <a:off x="7652540" y="5512085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50" name="직사각형 149"/>
          <p:cNvSpPr/>
          <p:nvPr/>
        </p:nvSpPr>
        <p:spPr>
          <a:xfrm>
            <a:off x="8265196" y="5512085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51" name="직사각형 150"/>
          <p:cNvSpPr/>
          <p:nvPr/>
        </p:nvSpPr>
        <p:spPr>
          <a:xfrm>
            <a:off x="8877853" y="5512085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05988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86063" y="232611"/>
            <a:ext cx="1713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1. type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69533" y="275683"/>
            <a:ext cx="294503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char a=5, b=2;</a:t>
            </a:r>
          </a:p>
          <a:p>
            <a:r>
              <a:rPr lang="en-US" altLang="ko-KR" sz="2800" smtClean="0">
                <a:latin typeface="Consolas" panose="020B0609020204030204" pitchFamily="49" charset="0"/>
              </a:rPr>
              <a:t>a-b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71" name="직사각형 70"/>
          <p:cNvSpPr/>
          <p:nvPr/>
        </p:nvSpPr>
        <p:spPr>
          <a:xfrm>
            <a:off x="1733763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2" name="직사각형 71"/>
          <p:cNvSpPr/>
          <p:nvPr/>
        </p:nvSpPr>
        <p:spPr>
          <a:xfrm>
            <a:off x="2346420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2959076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4" name="직사각형 73"/>
          <p:cNvSpPr/>
          <p:nvPr/>
        </p:nvSpPr>
        <p:spPr>
          <a:xfrm>
            <a:off x="3571733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5" name="직사각형 74"/>
          <p:cNvSpPr/>
          <p:nvPr/>
        </p:nvSpPr>
        <p:spPr>
          <a:xfrm>
            <a:off x="4184389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4797046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5409702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6022359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1" name="직사각형 120"/>
          <p:cNvSpPr/>
          <p:nvPr/>
        </p:nvSpPr>
        <p:spPr>
          <a:xfrm>
            <a:off x="1733763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128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2" name="직사각형 121"/>
          <p:cNvSpPr/>
          <p:nvPr/>
        </p:nvSpPr>
        <p:spPr>
          <a:xfrm>
            <a:off x="2346420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64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3" name="직사각형 122"/>
          <p:cNvSpPr/>
          <p:nvPr/>
        </p:nvSpPr>
        <p:spPr>
          <a:xfrm>
            <a:off x="2959076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32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4" name="직사각형 123"/>
          <p:cNvSpPr/>
          <p:nvPr/>
        </p:nvSpPr>
        <p:spPr>
          <a:xfrm>
            <a:off x="3571733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16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4184389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8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4797046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7" name="직사각형 126"/>
          <p:cNvSpPr/>
          <p:nvPr/>
        </p:nvSpPr>
        <p:spPr>
          <a:xfrm>
            <a:off x="5409702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8" name="직사각형 127"/>
          <p:cNvSpPr/>
          <p:nvPr/>
        </p:nvSpPr>
        <p:spPr>
          <a:xfrm>
            <a:off x="6022359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9" name="직사각형 128"/>
          <p:cNvSpPr/>
          <p:nvPr/>
        </p:nvSpPr>
        <p:spPr>
          <a:xfrm>
            <a:off x="1733763" y="1229790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s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1" name="직사각형 130"/>
          <p:cNvSpPr/>
          <p:nvPr/>
        </p:nvSpPr>
        <p:spPr>
          <a:xfrm>
            <a:off x="1733762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2" name="직사각형 131"/>
          <p:cNvSpPr/>
          <p:nvPr/>
        </p:nvSpPr>
        <p:spPr>
          <a:xfrm>
            <a:off x="2346419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3" name="직사각형 132"/>
          <p:cNvSpPr/>
          <p:nvPr/>
        </p:nvSpPr>
        <p:spPr>
          <a:xfrm>
            <a:off x="2959075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4" name="직사각형 133"/>
          <p:cNvSpPr/>
          <p:nvPr/>
        </p:nvSpPr>
        <p:spPr>
          <a:xfrm>
            <a:off x="3571732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5" name="직사각형 134"/>
          <p:cNvSpPr/>
          <p:nvPr/>
        </p:nvSpPr>
        <p:spPr>
          <a:xfrm>
            <a:off x="4184388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6" name="직사각형 135"/>
          <p:cNvSpPr/>
          <p:nvPr/>
        </p:nvSpPr>
        <p:spPr>
          <a:xfrm>
            <a:off x="4797045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7" name="직사각형 136"/>
          <p:cNvSpPr/>
          <p:nvPr/>
        </p:nvSpPr>
        <p:spPr>
          <a:xfrm>
            <a:off x="5409701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8" name="직사각형 137"/>
          <p:cNvSpPr/>
          <p:nvPr/>
        </p:nvSpPr>
        <p:spPr>
          <a:xfrm>
            <a:off x="6022358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1288444" y="279902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-</a:t>
            </a:r>
            <a:endParaRPr lang="ko-KR" altLang="en-US" sz="2400" smtClean="0">
              <a:latin typeface="Consolas" panose="020B0609020204030204" pitchFamily="49" charset="0"/>
            </a:endParaRPr>
          </a:p>
        </p:txBody>
      </p:sp>
      <p:cxnSp>
        <p:nvCxnSpPr>
          <p:cNvPr id="43" name="직선 연결선 42"/>
          <p:cNvCxnSpPr/>
          <p:nvPr/>
        </p:nvCxnSpPr>
        <p:spPr>
          <a:xfrm flipH="1">
            <a:off x="1397334" y="3514478"/>
            <a:ext cx="557410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1733762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2346419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2959075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3571732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4184388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4797045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5409701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6022358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5409701" y="1021242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53592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86063" y="232611"/>
            <a:ext cx="1713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1. type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69533" y="275683"/>
            <a:ext cx="294503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char a=8, b=1;</a:t>
            </a:r>
          </a:p>
          <a:p>
            <a:r>
              <a:rPr lang="en-US" altLang="ko-KR" sz="2800" smtClean="0">
                <a:latin typeface="Consolas" panose="020B0609020204030204" pitchFamily="49" charset="0"/>
              </a:rPr>
              <a:t>a-b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71" name="직사각형 70"/>
          <p:cNvSpPr/>
          <p:nvPr/>
        </p:nvSpPr>
        <p:spPr>
          <a:xfrm>
            <a:off x="1733763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2" name="직사각형 71"/>
          <p:cNvSpPr/>
          <p:nvPr/>
        </p:nvSpPr>
        <p:spPr>
          <a:xfrm>
            <a:off x="2346420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2959076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4" name="직사각형 73"/>
          <p:cNvSpPr/>
          <p:nvPr/>
        </p:nvSpPr>
        <p:spPr>
          <a:xfrm>
            <a:off x="3571733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5" name="직사각형 74"/>
          <p:cNvSpPr/>
          <p:nvPr/>
        </p:nvSpPr>
        <p:spPr>
          <a:xfrm>
            <a:off x="4184389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4797046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5409702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6022359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1" name="직사각형 120"/>
          <p:cNvSpPr/>
          <p:nvPr/>
        </p:nvSpPr>
        <p:spPr>
          <a:xfrm>
            <a:off x="1733763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128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2" name="직사각형 121"/>
          <p:cNvSpPr/>
          <p:nvPr/>
        </p:nvSpPr>
        <p:spPr>
          <a:xfrm>
            <a:off x="2346420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64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3" name="직사각형 122"/>
          <p:cNvSpPr/>
          <p:nvPr/>
        </p:nvSpPr>
        <p:spPr>
          <a:xfrm>
            <a:off x="2959076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32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4" name="직사각형 123"/>
          <p:cNvSpPr/>
          <p:nvPr/>
        </p:nvSpPr>
        <p:spPr>
          <a:xfrm>
            <a:off x="3571733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16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4184389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8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4797046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7" name="직사각형 126"/>
          <p:cNvSpPr/>
          <p:nvPr/>
        </p:nvSpPr>
        <p:spPr>
          <a:xfrm>
            <a:off x="5409702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8" name="직사각형 127"/>
          <p:cNvSpPr/>
          <p:nvPr/>
        </p:nvSpPr>
        <p:spPr>
          <a:xfrm>
            <a:off x="6022359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9" name="직사각형 128"/>
          <p:cNvSpPr/>
          <p:nvPr/>
        </p:nvSpPr>
        <p:spPr>
          <a:xfrm>
            <a:off x="1733763" y="1229790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s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1" name="직사각형 130"/>
          <p:cNvSpPr/>
          <p:nvPr/>
        </p:nvSpPr>
        <p:spPr>
          <a:xfrm>
            <a:off x="1733762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2" name="직사각형 131"/>
          <p:cNvSpPr/>
          <p:nvPr/>
        </p:nvSpPr>
        <p:spPr>
          <a:xfrm>
            <a:off x="2346419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3" name="직사각형 132"/>
          <p:cNvSpPr/>
          <p:nvPr/>
        </p:nvSpPr>
        <p:spPr>
          <a:xfrm>
            <a:off x="2959075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4" name="직사각형 133"/>
          <p:cNvSpPr/>
          <p:nvPr/>
        </p:nvSpPr>
        <p:spPr>
          <a:xfrm>
            <a:off x="3571732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5" name="직사각형 134"/>
          <p:cNvSpPr/>
          <p:nvPr/>
        </p:nvSpPr>
        <p:spPr>
          <a:xfrm>
            <a:off x="4184388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6" name="직사각형 135"/>
          <p:cNvSpPr/>
          <p:nvPr/>
        </p:nvSpPr>
        <p:spPr>
          <a:xfrm>
            <a:off x="4797045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7" name="직사각형 136"/>
          <p:cNvSpPr/>
          <p:nvPr/>
        </p:nvSpPr>
        <p:spPr>
          <a:xfrm>
            <a:off x="5409701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8" name="직사각형 137"/>
          <p:cNvSpPr/>
          <p:nvPr/>
        </p:nvSpPr>
        <p:spPr>
          <a:xfrm>
            <a:off x="6022358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1288444" y="279902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-</a:t>
            </a:r>
            <a:endParaRPr lang="ko-KR" altLang="en-US" sz="2400" smtClean="0">
              <a:latin typeface="Consolas" panose="020B0609020204030204" pitchFamily="49" charset="0"/>
            </a:endParaRPr>
          </a:p>
        </p:txBody>
      </p:sp>
      <p:cxnSp>
        <p:nvCxnSpPr>
          <p:cNvPr id="43" name="직선 연결선 42"/>
          <p:cNvCxnSpPr/>
          <p:nvPr/>
        </p:nvCxnSpPr>
        <p:spPr>
          <a:xfrm flipH="1">
            <a:off x="1397334" y="3514478"/>
            <a:ext cx="557410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1733762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2346419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2959075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3571732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4184388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4797045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5409701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6022358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4797045" y="1052078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5409701" y="1052078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6031356" y="1052078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792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86063" y="232611"/>
            <a:ext cx="1713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1. type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69533" y="275683"/>
            <a:ext cx="294503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char a=5, b=2;</a:t>
            </a:r>
          </a:p>
          <a:p>
            <a:r>
              <a:rPr lang="en-US" altLang="ko-KR" sz="2800" smtClean="0">
                <a:latin typeface="Consolas" panose="020B0609020204030204" pitchFamily="49" charset="0"/>
              </a:rPr>
              <a:t>5+(-2)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71" name="직사각형 70"/>
          <p:cNvSpPr/>
          <p:nvPr/>
        </p:nvSpPr>
        <p:spPr>
          <a:xfrm>
            <a:off x="1733763" y="1999811"/>
            <a:ext cx="612656" cy="545432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2" name="직사각형 71"/>
          <p:cNvSpPr/>
          <p:nvPr/>
        </p:nvSpPr>
        <p:spPr>
          <a:xfrm>
            <a:off x="2346420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2959076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4" name="직사각형 73"/>
          <p:cNvSpPr/>
          <p:nvPr/>
        </p:nvSpPr>
        <p:spPr>
          <a:xfrm>
            <a:off x="3571733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5" name="직사각형 74"/>
          <p:cNvSpPr/>
          <p:nvPr/>
        </p:nvSpPr>
        <p:spPr>
          <a:xfrm>
            <a:off x="4184389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4797046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5409702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6022359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1" name="직사각형 120"/>
          <p:cNvSpPr/>
          <p:nvPr/>
        </p:nvSpPr>
        <p:spPr>
          <a:xfrm>
            <a:off x="1733763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128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2" name="직사각형 121"/>
          <p:cNvSpPr/>
          <p:nvPr/>
        </p:nvSpPr>
        <p:spPr>
          <a:xfrm>
            <a:off x="2346420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64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3" name="직사각형 122"/>
          <p:cNvSpPr/>
          <p:nvPr/>
        </p:nvSpPr>
        <p:spPr>
          <a:xfrm>
            <a:off x="2959076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32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4" name="직사각형 123"/>
          <p:cNvSpPr/>
          <p:nvPr/>
        </p:nvSpPr>
        <p:spPr>
          <a:xfrm>
            <a:off x="3571733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16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4184389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8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4797046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7" name="직사각형 126"/>
          <p:cNvSpPr/>
          <p:nvPr/>
        </p:nvSpPr>
        <p:spPr>
          <a:xfrm>
            <a:off x="5409702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8" name="직사각형 127"/>
          <p:cNvSpPr/>
          <p:nvPr/>
        </p:nvSpPr>
        <p:spPr>
          <a:xfrm>
            <a:off x="6022359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9" name="직사각형 128"/>
          <p:cNvSpPr/>
          <p:nvPr/>
        </p:nvSpPr>
        <p:spPr>
          <a:xfrm>
            <a:off x="1733763" y="1229790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s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1" name="직사각형 130"/>
          <p:cNvSpPr/>
          <p:nvPr/>
        </p:nvSpPr>
        <p:spPr>
          <a:xfrm>
            <a:off x="1733762" y="2804414"/>
            <a:ext cx="612656" cy="545432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2" name="직사각형 131"/>
          <p:cNvSpPr/>
          <p:nvPr/>
        </p:nvSpPr>
        <p:spPr>
          <a:xfrm>
            <a:off x="2346419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3" name="직사각형 132"/>
          <p:cNvSpPr/>
          <p:nvPr/>
        </p:nvSpPr>
        <p:spPr>
          <a:xfrm>
            <a:off x="2959075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4" name="직사각형 133"/>
          <p:cNvSpPr/>
          <p:nvPr/>
        </p:nvSpPr>
        <p:spPr>
          <a:xfrm>
            <a:off x="3571732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5" name="직사각형 134"/>
          <p:cNvSpPr/>
          <p:nvPr/>
        </p:nvSpPr>
        <p:spPr>
          <a:xfrm>
            <a:off x="4184388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6" name="직사각형 135"/>
          <p:cNvSpPr/>
          <p:nvPr/>
        </p:nvSpPr>
        <p:spPr>
          <a:xfrm>
            <a:off x="4797045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7" name="직사각형 136"/>
          <p:cNvSpPr/>
          <p:nvPr/>
        </p:nvSpPr>
        <p:spPr>
          <a:xfrm>
            <a:off x="5409701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8" name="직사각형 137"/>
          <p:cNvSpPr/>
          <p:nvPr/>
        </p:nvSpPr>
        <p:spPr>
          <a:xfrm>
            <a:off x="6022358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1288444" y="279902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+</a:t>
            </a:r>
            <a:endParaRPr lang="ko-KR" altLang="en-US" sz="2400" smtClean="0">
              <a:latin typeface="Consolas" panose="020B0609020204030204" pitchFamily="49" charset="0"/>
            </a:endParaRPr>
          </a:p>
        </p:txBody>
      </p:sp>
      <p:cxnSp>
        <p:nvCxnSpPr>
          <p:cNvPr id="43" name="직선 연결선 42"/>
          <p:cNvCxnSpPr/>
          <p:nvPr/>
        </p:nvCxnSpPr>
        <p:spPr>
          <a:xfrm flipH="1">
            <a:off x="1397334" y="3514478"/>
            <a:ext cx="557410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1733762" y="3616854"/>
            <a:ext cx="612656" cy="545432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2346419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2959075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3571732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4184388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4797045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5409701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6022358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794149" y="2036962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5</a:t>
            </a:r>
            <a:endParaRPr lang="ko-KR" altLang="en-US" sz="2400" smtClean="0">
              <a:latin typeface="Consolas" panose="020B0609020204030204" pitchFamily="49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794149" y="2873169"/>
            <a:ext cx="5245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-2</a:t>
            </a:r>
            <a:endParaRPr lang="ko-KR" altLang="en-US" sz="2400" smtClean="0">
              <a:latin typeface="Consolas" panose="020B0609020204030204" pitchFamily="49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765517" y="3645063"/>
            <a:ext cx="5245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-7</a:t>
            </a:r>
            <a:endParaRPr lang="ko-KR" altLang="en-US" sz="2400" smtClean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40065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86063" y="232611"/>
            <a:ext cx="1713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1. type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69533" y="275683"/>
            <a:ext cx="294503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char a=5, b=2;</a:t>
            </a:r>
          </a:p>
          <a:p>
            <a:r>
              <a:rPr lang="en-US" altLang="ko-KR" sz="2800" smtClean="0">
                <a:latin typeface="Consolas" panose="020B0609020204030204" pitchFamily="49" charset="0"/>
              </a:rPr>
              <a:t>5+(-2)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71" name="직사각형 70"/>
          <p:cNvSpPr/>
          <p:nvPr/>
        </p:nvSpPr>
        <p:spPr>
          <a:xfrm>
            <a:off x="931658" y="1999811"/>
            <a:ext cx="612656" cy="545432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2" name="직사각형 71"/>
          <p:cNvSpPr/>
          <p:nvPr/>
        </p:nvSpPr>
        <p:spPr>
          <a:xfrm>
            <a:off x="1544315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2156971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4" name="직사각형 73"/>
          <p:cNvSpPr/>
          <p:nvPr/>
        </p:nvSpPr>
        <p:spPr>
          <a:xfrm>
            <a:off x="2769628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5" name="직사각형 74"/>
          <p:cNvSpPr/>
          <p:nvPr/>
        </p:nvSpPr>
        <p:spPr>
          <a:xfrm>
            <a:off x="3382284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3994941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4607597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5220254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1" name="직사각형 120"/>
          <p:cNvSpPr/>
          <p:nvPr/>
        </p:nvSpPr>
        <p:spPr>
          <a:xfrm>
            <a:off x="931658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128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2" name="직사각형 121"/>
          <p:cNvSpPr/>
          <p:nvPr/>
        </p:nvSpPr>
        <p:spPr>
          <a:xfrm>
            <a:off x="1544315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64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3" name="직사각형 122"/>
          <p:cNvSpPr/>
          <p:nvPr/>
        </p:nvSpPr>
        <p:spPr>
          <a:xfrm>
            <a:off x="2156971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32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4" name="직사각형 123"/>
          <p:cNvSpPr/>
          <p:nvPr/>
        </p:nvSpPr>
        <p:spPr>
          <a:xfrm>
            <a:off x="2769628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16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3382284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8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3994941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7" name="직사각형 126"/>
          <p:cNvSpPr/>
          <p:nvPr/>
        </p:nvSpPr>
        <p:spPr>
          <a:xfrm>
            <a:off x="4607597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8" name="직사각형 127"/>
          <p:cNvSpPr/>
          <p:nvPr/>
        </p:nvSpPr>
        <p:spPr>
          <a:xfrm>
            <a:off x="5220254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9" name="직사각형 128"/>
          <p:cNvSpPr/>
          <p:nvPr/>
        </p:nvSpPr>
        <p:spPr>
          <a:xfrm>
            <a:off x="931658" y="1229790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s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1" name="직사각형 130"/>
          <p:cNvSpPr/>
          <p:nvPr/>
        </p:nvSpPr>
        <p:spPr>
          <a:xfrm>
            <a:off x="931657" y="2804414"/>
            <a:ext cx="612656" cy="545432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2" name="직사각형 131"/>
          <p:cNvSpPr/>
          <p:nvPr/>
        </p:nvSpPr>
        <p:spPr>
          <a:xfrm>
            <a:off x="1544314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3" name="직사각형 132"/>
          <p:cNvSpPr/>
          <p:nvPr/>
        </p:nvSpPr>
        <p:spPr>
          <a:xfrm>
            <a:off x="2156970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4" name="직사각형 133"/>
          <p:cNvSpPr/>
          <p:nvPr/>
        </p:nvSpPr>
        <p:spPr>
          <a:xfrm>
            <a:off x="2769627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5" name="직사각형 134"/>
          <p:cNvSpPr/>
          <p:nvPr/>
        </p:nvSpPr>
        <p:spPr>
          <a:xfrm>
            <a:off x="3382283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6" name="직사각형 135"/>
          <p:cNvSpPr/>
          <p:nvPr/>
        </p:nvSpPr>
        <p:spPr>
          <a:xfrm>
            <a:off x="3994940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7" name="직사각형 136"/>
          <p:cNvSpPr/>
          <p:nvPr/>
        </p:nvSpPr>
        <p:spPr>
          <a:xfrm>
            <a:off x="4607596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8" name="직사각형 137"/>
          <p:cNvSpPr/>
          <p:nvPr/>
        </p:nvSpPr>
        <p:spPr>
          <a:xfrm>
            <a:off x="5220253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86339" y="279902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+</a:t>
            </a:r>
            <a:endParaRPr lang="ko-KR" altLang="en-US" sz="2400" smtClean="0">
              <a:latin typeface="Consolas" panose="020B0609020204030204" pitchFamily="49" charset="0"/>
            </a:endParaRPr>
          </a:p>
        </p:txBody>
      </p:sp>
      <p:cxnSp>
        <p:nvCxnSpPr>
          <p:cNvPr id="43" name="직선 연결선 42"/>
          <p:cNvCxnSpPr/>
          <p:nvPr/>
        </p:nvCxnSpPr>
        <p:spPr>
          <a:xfrm flipH="1">
            <a:off x="595229" y="3514478"/>
            <a:ext cx="557410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931657" y="3616854"/>
            <a:ext cx="612656" cy="545432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544314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2156970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2769627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3382283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3994940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4607596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5220253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992044" y="2036962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5</a:t>
            </a:r>
            <a:endParaRPr lang="ko-KR" altLang="en-US" sz="2400" smtClean="0">
              <a:latin typeface="Consolas" panose="020B0609020204030204" pitchFamily="49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992044" y="2873169"/>
            <a:ext cx="5245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-2</a:t>
            </a:r>
            <a:endParaRPr lang="ko-KR" altLang="en-US" sz="2400" smtClean="0">
              <a:latin typeface="Consolas" panose="020B0609020204030204" pitchFamily="49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5963412" y="3645063"/>
            <a:ext cx="5245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-7</a:t>
            </a:r>
            <a:endParaRPr lang="ko-KR" altLang="en-US" sz="2400" smtClean="0">
              <a:latin typeface="Consolas" panose="020B0609020204030204" pitchFamily="49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7319321" y="922682"/>
            <a:ext cx="776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5-2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7313070" y="1572844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9 = 2+x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7313070" y="2349949"/>
            <a:ext cx="5113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5+(-2) =&gt; 5+7 =&gt; 1+2 =&gt; 3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168212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94" name="직사각형 93"/>
          <p:cNvSpPr/>
          <p:nvPr/>
        </p:nvSpPr>
        <p:spPr>
          <a:xfrm>
            <a:off x="5211412" y="4284499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463746" y="420673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+</a:t>
            </a:r>
            <a:endParaRPr lang="ko-KR" altLang="en-US" sz="2400" smtClean="0">
              <a:latin typeface="Consolas" panose="020B0609020204030204" pitchFamily="49" charset="0"/>
            </a:endParaRPr>
          </a:p>
        </p:txBody>
      </p:sp>
      <p:cxnSp>
        <p:nvCxnSpPr>
          <p:cNvPr id="96" name="직선 연결선 95"/>
          <p:cNvCxnSpPr/>
          <p:nvPr/>
        </p:nvCxnSpPr>
        <p:spPr>
          <a:xfrm flipH="1">
            <a:off x="572636" y="4922188"/>
            <a:ext cx="557410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직사각형 96"/>
          <p:cNvSpPr/>
          <p:nvPr/>
        </p:nvSpPr>
        <p:spPr>
          <a:xfrm>
            <a:off x="909064" y="5024564"/>
            <a:ext cx="612656" cy="545432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98" name="직사각형 97"/>
          <p:cNvSpPr/>
          <p:nvPr/>
        </p:nvSpPr>
        <p:spPr>
          <a:xfrm>
            <a:off x="1521721" y="502456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99" name="직사각형 98"/>
          <p:cNvSpPr/>
          <p:nvPr/>
        </p:nvSpPr>
        <p:spPr>
          <a:xfrm>
            <a:off x="2134377" y="502456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0" name="직사각형 99"/>
          <p:cNvSpPr/>
          <p:nvPr/>
        </p:nvSpPr>
        <p:spPr>
          <a:xfrm>
            <a:off x="2747034" y="502456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1" name="직사각형 100"/>
          <p:cNvSpPr/>
          <p:nvPr/>
        </p:nvSpPr>
        <p:spPr>
          <a:xfrm>
            <a:off x="3359690" y="502456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2" name="직사각형 101"/>
          <p:cNvSpPr/>
          <p:nvPr/>
        </p:nvSpPr>
        <p:spPr>
          <a:xfrm>
            <a:off x="3972347" y="502456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3" name="직사각형 102"/>
          <p:cNvSpPr/>
          <p:nvPr/>
        </p:nvSpPr>
        <p:spPr>
          <a:xfrm>
            <a:off x="4585003" y="502456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4" name="직사각형 103"/>
          <p:cNvSpPr/>
          <p:nvPr/>
        </p:nvSpPr>
        <p:spPr>
          <a:xfrm>
            <a:off x="5197660" y="502456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7483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86063" y="232611"/>
            <a:ext cx="1713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1. type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69533" y="275683"/>
            <a:ext cx="294503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char a=5, b=2;</a:t>
            </a:r>
          </a:p>
          <a:p>
            <a:r>
              <a:rPr lang="en-US" altLang="ko-KR" sz="2800" smtClean="0">
                <a:latin typeface="Consolas" panose="020B0609020204030204" pitchFamily="49" charset="0"/>
              </a:rPr>
              <a:t>5+(-2)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71" name="직사각형 70"/>
          <p:cNvSpPr/>
          <p:nvPr/>
        </p:nvSpPr>
        <p:spPr>
          <a:xfrm>
            <a:off x="931658" y="1999811"/>
            <a:ext cx="612656" cy="545432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2" name="직사각형 71"/>
          <p:cNvSpPr/>
          <p:nvPr/>
        </p:nvSpPr>
        <p:spPr>
          <a:xfrm>
            <a:off x="1544315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2156971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4" name="직사각형 73"/>
          <p:cNvSpPr/>
          <p:nvPr/>
        </p:nvSpPr>
        <p:spPr>
          <a:xfrm>
            <a:off x="2769628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5" name="직사각형 74"/>
          <p:cNvSpPr/>
          <p:nvPr/>
        </p:nvSpPr>
        <p:spPr>
          <a:xfrm>
            <a:off x="3382284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3994941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4607597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5220254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1" name="직사각형 120"/>
          <p:cNvSpPr/>
          <p:nvPr/>
        </p:nvSpPr>
        <p:spPr>
          <a:xfrm>
            <a:off x="931658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128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2" name="직사각형 121"/>
          <p:cNvSpPr/>
          <p:nvPr/>
        </p:nvSpPr>
        <p:spPr>
          <a:xfrm>
            <a:off x="1544315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64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3" name="직사각형 122"/>
          <p:cNvSpPr/>
          <p:nvPr/>
        </p:nvSpPr>
        <p:spPr>
          <a:xfrm>
            <a:off x="2156971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32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4" name="직사각형 123"/>
          <p:cNvSpPr/>
          <p:nvPr/>
        </p:nvSpPr>
        <p:spPr>
          <a:xfrm>
            <a:off x="2769628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16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3382284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8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3994941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7" name="직사각형 126"/>
          <p:cNvSpPr/>
          <p:nvPr/>
        </p:nvSpPr>
        <p:spPr>
          <a:xfrm>
            <a:off x="4607597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8" name="직사각형 127"/>
          <p:cNvSpPr/>
          <p:nvPr/>
        </p:nvSpPr>
        <p:spPr>
          <a:xfrm>
            <a:off x="5220254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9" name="직사각형 128"/>
          <p:cNvSpPr/>
          <p:nvPr/>
        </p:nvSpPr>
        <p:spPr>
          <a:xfrm>
            <a:off x="931658" y="1229790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s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1" name="직사각형 130"/>
          <p:cNvSpPr/>
          <p:nvPr/>
        </p:nvSpPr>
        <p:spPr>
          <a:xfrm>
            <a:off x="931657" y="2804414"/>
            <a:ext cx="612656" cy="545432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2" name="직사각형 131"/>
          <p:cNvSpPr/>
          <p:nvPr/>
        </p:nvSpPr>
        <p:spPr>
          <a:xfrm>
            <a:off x="1544314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3" name="직사각형 132"/>
          <p:cNvSpPr/>
          <p:nvPr/>
        </p:nvSpPr>
        <p:spPr>
          <a:xfrm>
            <a:off x="2156970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4" name="직사각형 133"/>
          <p:cNvSpPr/>
          <p:nvPr/>
        </p:nvSpPr>
        <p:spPr>
          <a:xfrm>
            <a:off x="2769627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5" name="직사각형 134"/>
          <p:cNvSpPr/>
          <p:nvPr/>
        </p:nvSpPr>
        <p:spPr>
          <a:xfrm>
            <a:off x="3382283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6" name="직사각형 135"/>
          <p:cNvSpPr/>
          <p:nvPr/>
        </p:nvSpPr>
        <p:spPr>
          <a:xfrm>
            <a:off x="3994940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7" name="직사각형 136"/>
          <p:cNvSpPr/>
          <p:nvPr/>
        </p:nvSpPr>
        <p:spPr>
          <a:xfrm>
            <a:off x="4607596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8" name="직사각형 137"/>
          <p:cNvSpPr/>
          <p:nvPr/>
        </p:nvSpPr>
        <p:spPr>
          <a:xfrm>
            <a:off x="5220253" y="280441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86339" y="279902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+</a:t>
            </a:r>
            <a:endParaRPr lang="ko-KR" altLang="en-US" sz="2400" smtClean="0">
              <a:latin typeface="Consolas" panose="020B0609020204030204" pitchFamily="49" charset="0"/>
            </a:endParaRPr>
          </a:p>
        </p:txBody>
      </p:sp>
      <p:cxnSp>
        <p:nvCxnSpPr>
          <p:cNvPr id="43" name="직선 연결선 42"/>
          <p:cNvCxnSpPr/>
          <p:nvPr/>
        </p:nvCxnSpPr>
        <p:spPr>
          <a:xfrm flipH="1">
            <a:off x="595229" y="3514478"/>
            <a:ext cx="557410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931657" y="3616854"/>
            <a:ext cx="612656" cy="545432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544314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2156970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2769627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3382283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3994940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4607596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5220253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992044" y="2036962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5</a:t>
            </a:r>
            <a:endParaRPr lang="ko-KR" altLang="en-US" sz="2400" smtClean="0">
              <a:latin typeface="Consolas" panose="020B0609020204030204" pitchFamily="49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992044" y="2873169"/>
            <a:ext cx="5245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-2</a:t>
            </a:r>
            <a:endParaRPr lang="ko-KR" altLang="en-US" sz="2400" smtClean="0">
              <a:latin typeface="Consolas" panose="020B0609020204030204" pitchFamily="49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7319321" y="922682"/>
            <a:ext cx="776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5-2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7313070" y="1572844"/>
            <a:ext cx="17620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10 = 2+x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7313070" y="2349949"/>
            <a:ext cx="49167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5+(-2) =&gt; 5+8 =&gt; </a:t>
            </a:r>
            <a:r>
              <a:rPr lang="en-US" altLang="ko-KR" sz="2800" smtClean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2800" smtClean="0">
                <a:latin typeface="Consolas" panose="020B0609020204030204" pitchFamily="49" charset="0"/>
              </a:rPr>
              <a:t>3 =&gt; 3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168212" y="3616854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38485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86063" y="232611"/>
            <a:ext cx="1713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1. type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69533" y="275683"/>
            <a:ext cx="294503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mtClean="0">
                <a:latin typeface="Consolas" panose="020B0609020204030204" pitchFamily="49" charset="0"/>
              </a:rPr>
              <a:t>char a=5, b=2;</a:t>
            </a:r>
          </a:p>
          <a:p>
            <a:r>
              <a:rPr lang="en-US" altLang="ko-KR" sz="2800" smtClean="0">
                <a:latin typeface="Consolas" panose="020B0609020204030204" pitchFamily="49" charset="0"/>
              </a:rPr>
              <a:t>5+(-2)</a:t>
            </a:r>
            <a:endParaRPr lang="ko-KR" altLang="en-US" sz="2800" smtClean="0">
              <a:latin typeface="Consolas" panose="020B0609020204030204" pitchFamily="49" charset="0"/>
            </a:endParaRPr>
          </a:p>
        </p:txBody>
      </p:sp>
      <p:sp>
        <p:nvSpPr>
          <p:cNvPr id="71" name="직사각형 70"/>
          <p:cNvSpPr/>
          <p:nvPr/>
        </p:nvSpPr>
        <p:spPr>
          <a:xfrm>
            <a:off x="931658" y="1999811"/>
            <a:ext cx="612656" cy="545432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2" name="직사각형 71"/>
          <p:cNvSpPr/>
          <p:nvPr/>
        </p:nvSpPr>
        <p:spPr>
          <a:xfrm>
            <a:off x="1544315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2156971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4" name="직사각형 73"/>
          <p:cNvSpPr/>
          <p:nvPr/>
        </p:nvSpPr>
        <p:spPr>
          <a:xfrm>
            <a:off x="2769628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5" name="직사각형 74"/>
          <p:cNvSpPr/>
          <p:nvPr/>
        </p:nvSpPr>
        <p:spPr>
          <a:xfrm>
            <a:off x="3382284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3994941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4607597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5220254" y="1999811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1" name="직사각형 120"/>
          <p:cNvSpPr/>
          <p:nvPr/>
        </p:nvSpPr>
        <p:spPr>
          <a:xfrm>
            <a:off x="931658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128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2" name="직사각형 121"/>
          <p:cNvSpPr/>
          <p:nvPr/>
        </p:nvSpPr>
        <p:spPr>
          <a:xfrm>
            <a:off x="1544315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64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3" name="직사각형 122"/>
          <p:cNvSpPr/>
          <p:nvPr/>
        </p:nvSpPr>
        <p:spPr>
          <a:xfrm>
            <a:off x="2156971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32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4" name="직사각형 123"/>
          <p:cNvSpPr/>
          <p:nvPr/>
        </p:nvSpPr>
        <p:spPr>
          <a:xfrm>
            <a:off x="2769628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16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3382284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8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3994941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7" name="직사각형 126"/>
          <p:cNvSpPr/>
          <p:nvPr/>
        </p:nvSpPr>
        <p:spPr>
          <a:xfrm>
            <a:off x="4607597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8" name="직사각형 127"/>
          <p:cNvSpPr/>
          <p:nvPr/>
        </p:nvSpPr>
        <p:spPr>
          <a:xfrm>
            <a:off x="5220254" y="1550632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9" name="직사각형 128"/>
          <p:cNvSpPr/>
          <p:nvPr/>
        </p:nvSpPr>
        <p:spPr>
          <a:xfrm>
            <a:off x="931658" y="1229790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s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992044" y="2036962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smtClean="0">
                <a:latin typeface="Consolas" panose="020B0609020204030204" pitchFamily="49" charset="0"/>
              </a:rPr>
              <a:t>8</a:t>
            </a:r>
            <a:endParaRPr lang="ko-KR" altLang="en-US" sz="2400" smtClean="0">
              <a:latin typeface="Consolas" panose="020B0609020204030204" pitchFamily="49" charset="0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931657" y="3578062"/>
            <a:ext cx="612656" cy="545432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7" name="직사각형 56"/>
          <p:cNvSpPr/>
          <p:nvPr/>
        </p:nvSpPr>
        <p:spPr>
          <a:xfrm>
            <a:off x="1544314" y="3578062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8" name="직사각형 57"/>
          <p:cNvSpPr/>
          <p:nvPr/>
        </p:nvSpPr>
        <p:spPr>
          <a:xfrm>
            <a:off x="2156970" y="3578062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2769627" y="3578062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3382283" y="3578062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1" name="직사각형 60"/>
          <p:cNvSpPr/>
          <p:nvPr/>
        </p:nvSpPr>
        <p:spPr>
          <a:xfrm>
            <a:off x="3994940" y="3578062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2" name="직사각형 61"/>
          <p:cNvSpPr/>
          <p:nvPr/>
        </p:nvSpPr>
        <p:spPr>
          <a:xfrm>
            <a:off x="4607596" y="3578062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3" name="직사각형 62"/>
          <p:cNvSpPr/>
          <p:nvPr/>
        </p:nvSpPr>
        <p:spPr>
          <a:xfrm>
            <a:off x="5220253" y="3578062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오른쪽 화살표 1"/>
          <p:cNvSpPr/>
          <p:nvPr/>
        </p:nvSpPr>
        <p:spPr>
          <a:xfrm flipH="1">
            <a:off x="3994938" y="1291389"/>
            <a:ext cx="1708029" cy="259243"/>
          </a:xfrm>
          <a:prstGeom prst="rightArrow">
            <a:avLst/>
          </a:prstGeom>
          <a:solidFill>
            <a:srgbClr val="FF0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grpSp>
        <p:nvGrpSpPr>
          <p:cNvPr id="8" name="그룹 7"/>
          <p:cNvGrpSpPr/>
          <p:nvPr/>
        </p:nvGrpSpPr>
        <p:grpSpPr>
          <a:xfrm>
            <a:off x="1083390" y="2528185"/>
            <a:ext cx="309192" cy="1049877"/>
            <a:chOff x="6938211" y="2545243"/>
            <a:chExt cx="433136" cy="1470735"/>
          </a:xfrm>
        </p:grpSpPr>
        <p:sp>
          <p:nvSpPr>
            <p:cNvPr id="3" name="이등변 삼각형 2"/>
            <p:cNvSpPr/>
            <p:nvPr/>
          </p:nvSpPr>
          <p:spPr>
            <a:xfrm rot="10800000">
              <a:off x="6938211" y="3056021"/>
              <a:ext cx="433136" cy="320842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mtClean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5" name="타원 4"/>
            <p:cNvSpPr/>
            <p:nvPr/>
          </p:nvSpPr>
          <p:spPr>
            <a:xfrm>
              <a:off x="7090610" y="3376863"/>
              <a:ext cx="128337" cy="12833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mtClean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7" name="직선 연결선 6"/>
            <p:cNvCxnSpPr>
              <a:endCxn id="3" idx="3"/>
            </p:cNvCxnSpPr>
            <p:nvPr/>
          </p:nvCxnSpPr>
          <p:spPr>
            <a:xfrm>
              <a:off x="7154778" y="2545243"/>
              <a:ext cx="1" cy="5107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직선 연결선 63"/>
            <p:cNvCxnSpPr/>
            <p:nvPr/>
          </p:nvCxnSpPr>
          <p:spPr>
            <a:xfrm>
              <a:off x="7154778" y="3505200"/>
              <a:ext cx="1" cy="5107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그룹 64"/>
          <p:cNvGrpSpPr/>
          <p:nvPr/>
        </p:nvGrpSpPr>
        <p:grpSpPr>
          <a:xfrm>
            <a:off x="1703448" y="2528185"/>
            <a:ext cx="309192" cy="1049877"/>
            <a:chOff x="6938211" y="2545243"/>
            <a:chExt cx="433136" cy="1470735"/>
          </a:xfrm>
        </p:grpSpPr>
        <p:sp>
          <p:nvSpPr>
            <p:cNvPr id="66" name="이등변 삼각형 65"/>
            <p:cNvSpPr/>
            <p:nvPr/>
          </p:nvSpPr>
          <p:spPr>
            <a:xfrm rot="10800000">
              <a:off x="6938211" y="3056021"/>
              <a:ext cx="433136" cy="320842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mtClean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67" name="타원 66"/>
            <p:cNvSpPr/>
            <p:nvPr/>
          </p:nvSpPr>
          <p:spPr>
            <a:xfrm>
              <a:off x="7090610" y="3376863"/>
              <a:ext cx="128337" cy="12833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mtClean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68" name="직선 연결선 67"/>
            <p:cNvCxnSpPr>
              <a:endCxn id="66" idx="3"/>
            </p:cNvCxnSpPr>
            <p:nvPr/>
          </p:nvCxnSpPr>
          <p:spPr>
            <a:xfrm>
              <a:off x="7154778" y="2545243"/>
              <a:ext cx="1" cy="5107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직선 연결선 68"/>
            <p:cNvCxnSpPr/>
            <p:nvPr/>
          </p:nvCxnSpPr>
          <p:spPr>
            <a:xfrm>
              <a:off x="7154778" y="3505200"/>
              <a:ext cx="1" cy="5107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0" name="그룹 69"/>
          <p:cNvGrpSpPr/>
          <p:nvPr/>
        </p:nvGrpSpPr>
        <p:grpSpPr>
          <a:xfrm>
            <a:off x="2323506" y="2528185"/>
            <a:ext cx="309192" cy="1049877"/>
            <a:chOff x="6938211" y="2545243"/>
            <a:chExt cx="433136" cy="1470735"/>
          </a:xfrm>
        </p:grpSpPr>
        <p:sp>
          <p:nvSpPr>
            <p:cNvPr id="78" name="이등변 삼각형 77"/>
            <p:cNvSpPr/>
            <p:nvPr/>
          </p:nvSpPr>
          <p:spPr>
            <a:xfrm rot="10800000">
              <a:off x="6938211" y="3056021"/>
              <a:ext cx="433136" cy="320842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mtClean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79" name="타원 78"/>
            <p:cNvSpPr/>
            <p:nvPr/>
          </p:nvSpPr>
          <p:spPr>
            <a:xfrm>
              <a:off x="7090610" y="3376863"/>
              <a:ext cx="128337" cy="12833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mtClean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80" name="직선 연결선 79"/>
            <p:cNvCxnSpPr>
              <a:endCxn id="78" idx="3"/>
            </p:cNvCxnSpPr>
            <p:nvPr/>
          </p:nvCxnSpPr>
          <p:spPr>
            <a:xfrm>
              <a:off x="7154778" y="2545243"/>
              <a:ext cx="1" cy="5107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직선 연결선 80"/>
            <p:cNvCxnSpPr/>
            <p:nvPr/>
          </p:nvCxnSpPr>
          <p:spPr>
            <a:xfrm>
              <a:off x="7154778" y="3505200"/>
              <a:ext cx="1" cy="5107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그룹 81"/>
          <p:cNvGrpSpPr/>
          <p:nvPr/>
        </p:nvGrpSpPr>
        <p:grpSpPr>
          <a:xfrm>
            <a:off x="2943564" y="2528185"/>
            <a:ext cx="309192" cy="1049877"/>
            <a:chOff x="6938211" y="2545243"/>
            <a:chExt cx="433136" cy="1470735"/>
          </a:xfrm>
        </p:grpSpPr>
        <p:sp>
          <p:nvSpPr>
            <p:cNvPr id="83" name="이등변 삼각형 82"/>
            <p:cNvSpPr/>
            <p:nvPr/>
          </p:nvSpPr>
          <p:spPr>
            <a:xfrm rot="10800000">
              <a:off x="6938211" y="3056021"/>
              <a:ext cx="433136" cy="320842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mtClean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84" name="타원 83"/>
            <p:cNvSpPr/>
            <p:nvPr/>
          </p:nvSpPr>
          <p:spPr>
            <a:xfrm>
              <a:off x="7090610" y="3376863"/>
              <a:ext cx="128337" cy="12833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mtClean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85" name="직선 연결선 84"/>
            <p:cNvCxnSpPr>
              <a:endCxn id="83" idx="3"/>
            </p:cNvCxnSpPr>
            <p:nvPr/>
          </p:nvCxnSpPr>
          <p:spPr>
            <a:xfrm>
              <a:off x="7154778" y="2545243"/>
              <a:ext cx="1" cy="5107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직선 연결선 85"/>
            <p:cNvCxnSpPr/>
            <p:nvPr/>
          </p:nvCxnSpPr>
          <p:spPr>
            <a:xfrm>
              <a:off x="7154778" y="3505200"/>
              <a:ext cx="1" cy="5107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직선 연결선 10"/>
          <p:cNvCxnSpPr>
            <a:stCxn id="75" idx="2"/>
            <a:endCxn id="60" idx="0"/>
          </p:cNvCxnSpPr>
          <p:nvPr/>
        </p:nvCxnSpPr>
        <p:spPr>
          <a:xfrm flipH="1">
            <a:off x="3688611" y="2545243"/>
            <a:ext cx="1" cy="10328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86"/>
          <p:cNvCxnSpPr>
            <a:stCxn id="76" idx="2"/>
            <a:endCxn id="61" idx="0"/>
          </p:cNvCxnSpPr>
          <p:nvPr/>
        </p:nvCxnSpPr>
        <p:spPr>
          <a:xfrm flipH="1">
            <a:off x="4301268" y="2545243"/>
            <a:ext cx="1" cy="10328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/>
          <p:cNvCxnSpPr>
            <a:stCxn id="77" idx="2"/>
            <a:endCxn id="62" idx="0"/>
          </p:cNvCxnSpPr>
          <p:nvPr/>
        </p:nvCxnSpPr>
        <p:spPr>
          <a:xfrm flipH="1">
            <a:off x="4913924" y="2545243"/>
            <a:ext cx="1" cy="10328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/>
          <p:cNvCxnSpPr>
            <a:stCxn id="118" idx="2"/>
            <a:endCxn id="63" idx="0"/>
          </p:cNvCxnSpPr>
          <p:nvPr/>
        </p:nvCxnSpPr>
        <p:spPr>
          <a:xfrm flipH="1">
            <a:off x="5526581" y="2545243"/>
            <a:ext cx="1" cy="10328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32200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4886037" y="1344188"/>
            <a:ext cx="612656" cy="545432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5498694" y="1344188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6111350" y="1344188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6724007" y="1344188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7336663" y="1344188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7949320" y="1344188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8561976" y="1344188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9174633" y="1344188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886037" y="895009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128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5498694" y="895009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64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6111350" y="895009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32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724007" y="895009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16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7336663" y="895009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8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7949320" y="895009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8561976" y="895009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9174633" y="895009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4886037" y="574167"/>
            <a:ext cx="612656" cy="5454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s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/>
              <p:cNvSpPr txBox="1"/>
              <p:nvPr/>
            </p:nvSpPr>
            <p:spPr>
              <a:xfrm>
                <a:off x="918672" y="2612911"/>
                <a:ext cx="2917209" cy="13542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4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altLang="ko-KR" sz="4400" b="0" i="1" smtClean="0">
                          <a:latin typeface="Cambria Math" panose="02040503050406030204" pitchFamily="18" charset="0"/>
                        </a:rPr>
                        <m:t>∗56</m:t>
                      </m:r>
                    </m:oMath>
                  </m:oMathPara>
                </a14:m>
                <a:endParaRPr lang="en-US" altLang="ko-KR" sz="4400" b="0" smtClean="0">
                  <a:latin typeface="Consolas" panose="020B0609020204030204" pitchFamily="49" charset="0"/>
                </a:endParaRPr>
              </a:p>
              <a:p>
                <a:endParaRPr lang="ko-KR" altLang="en-US" sz="4400" smtClean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672" y="2612911"/>
                <a:ext cx="2917209" cy="13542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직사각형 33"/>
          <p:cNvSpPr/>
          <p:nvPr/>
        </p:nvSpPr>
        <p:spPr>
          <a:xfrm>
            <a:off x="4899479" y="2114209"/>
            <a:ext cx="612656" cy="545432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512136" y="2114209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6124792" y="2114209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6737449" y="2114209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7350105" y="2114209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7962762" y="2114209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8575418" y="2114209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9188075" y="2114209"/>
            <a:ext cx="612656" cy="545432"/>
          </a:xfrm>
          <a:prstGeom prst="rect">
            <a:avLst/>
          </a:prstGeom>
          <a:solidFill>
            <a:srgbClr val="FFFF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2" name="오른쪽 화살표 41"/>
          <p:cNvSpPr/>
          <p:nvPr/>
        </p:nvSpPr>
        <p:spPr>
          <a:xfrm flipH="1">
            <a:off x="7603958" y="434460"/>
            <a:ext cx="1781129" cy="401053"/>
          </a:xfrm>
          <a:prstGeom prst="rightArrow">
            <a:avLst/>
          </a:prstGeom>
          <a:solidFill>
            <a:srgbClr val="FF0000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mtClean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0739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7306" y="473242"/>
            <a:ext cx="115820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smtClean="0">
                <a:latin typeface="Consolas" panose="020B0609020204030204" pitchFamily="49" charset="0"/>
              </a:rPr>
              <a:t>short s = 0xfffc;      // </a:t>
            </a:r>
            <a:r>
              <a:rPr lang="en-US" altLang="ko-KR" sz="3600" smtClean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3600" smtClean="0">
                <a:latin typeface="Consolas" panose="020B0609020204030204" pitchFamily="49" charset="0"/>
              </a:rPr>
              <a:t>111 1111 1111 1100</a:t>
            </a:r>
          </a:p>
          <a:p>
            <a:r>
              <a:rPr lang="en-US" altLang="ko-KR" sz="3600" smtClean="0">
                <a:latin typeface="Consolas" panose="020B0609020204030204" pitchFamily="49" charset="0"/>
              </a:rPr>
              <a:t>printf("s=%d\n", s );  // 0000 0000 0000 0100</a:t>
            </a:r>
            <a:endParaRPr lang="ko-KR" altLang="en-US" sz="3600" smtClean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03430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bg1">
              <a:lumMod val="65000"/>
            </a:schemeClr>
          </a:solidFill>
        </a:ln>
      </a:spPr>
      <a:bodyPr rtlCol="0" anchor="ctr"/>
      <a:lstStyle>
        <a:defPPr algn="ctr">
          <a:defRPr smtClean="0">
            <a:solidFill>
              <a:schemeClr val="tx1"/>
            </a:solidFill>
            <a:latin typeface="Consolas" panose="020B0609020204030204" pitchFamily="49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mtClean="0">
            <a:latin typeface="Consolas" panose="020B06090202040302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565</TotalTime>
  <Words>1151</Words>
  <Application>Microsoft Office PowerPoint</Application>
  <PresentationFormat>와이드스크린</PresentationFormat>
  <Paragraphs>507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5" baseType="lpstr">
      <vt:lpstr>맑은 고딕</vt:lpstr>
      <vt:lpstr>Arial</vt:lpstr>
      <vt:lpstr>Cambria Math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19</cp:revision>
  <dcterms:created xsi:type="dcterms:W3CDTF">2026-06-16T00:22:35Z</dcterms:created>
  <dcterms:modified xsi:type="dcterms:W3CDTF">2026-06-16T09:47:35Z</dcterms:modified>
</cp:coreProperties>
</file>