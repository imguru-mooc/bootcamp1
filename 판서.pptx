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7" r:id="rId52"/>
    <p:sldId id="308" r:id="rId53"/>
    <p:sldId id="309" r:id="rId54"/>
    <p:sldId id="310" r:id="rId55"/>
    <p:sldId id="311" r:id="rId56"/>
    <p:sldId id="306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609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91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3CC5D-3E5C-4301-B9DE-42262803A384}" type="datetimeFigureOut">
              <a:rPr lang="ko-KR" altLang="en-US" smtClean="0"/>
              <a:t>2026-06-17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B960D7-09D1-44EF-A5B3-9927F985D2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71515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3CC5D-3E5C-4301-B9DE-42262803A384}" type="datetimeFigureOut">
              <a:rPr lang="ko-KR" altLang="en-US" smtClean="0"/>
              <a:t>2026-06-17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B960D7-09D1-44EF-A5B3-9927F985D2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3614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3CC5D-3E5C-4301-B9DE-42262803A384}" type="datetimeFigureOut">
              <a:rPr lang="ko-KR" altLang="en-US" smtClean="0"/>
              <a:t>2026-06-17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B960D7-09D1-44EF-A5B3-9927F985D2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811998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3CC5D-3E5C-4301-B9DE-42262803A384}" type="datetimeFigureOut">
              <a:rPr lang="ko-KR" altLang="en-US" smtClean="0"/>
              <a:t>2026-06-17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B960D7-09D1-44EF-A5B3-9927F985D2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86743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3CC5D-3E5C-4301-B9DE-42262803A384}" type="datetimeFigureOut">
              <a:rPr lang="ko-KR" altLang="en-US" smtClean="0"/>
              <a:t>2026-06-17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B960D7-09D1-44EF-A5B3-9927F985D2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03133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3CC5D-3E5C-4301-B9DE-42262803A384}" type="datetimeFigureOut">
              <a:rPr lang="ko-KR" altLang="en-US" smtClean="0"/>
              <a:t>2026-06-17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B960D7-09D1-44EF-A5B3-9927F985D2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02337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3CC5D-3E5C-4301-B9DE-42262803A384}" type="datetimeFigureOut">
              <a:rPr lang="ko-KR" altLang="en-US" smtClean="0"/>
              <a:t>2026-06-17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B960D7-09D1-44EF-A5B3-9927F985D2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84552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3CC5D-3E5C-4301-B9DE-42262803A384}" type="datetimeFigureOut">
              <a:rPr lang="ko-KR" altLang="en-US" smtClean="0"/>
              <a:t>2026-06-17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B960D7-09D1-44EF-A5B3-9927F985D2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47082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3CC5D-3E5C-4301-B9DE-42262803A384}" type="datetimeFigureOut">
              <a:rPr lang="ko-KR" altLang="en-US" smtClean="0"/>
              <a:t>2026-06-17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B960D7-09D1-44EF-A5B3-9927F985D2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21982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3CC5D-3E5C-4301-B9DE-42262803A384}" type="datetimeFigureOut">
              <a:rPr lang="ko-KR" altLang="en-US" smtClean="0"/>
              <a:t>2026-06-17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B960D7-09D1-44EF-A5B3-9927F985D2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18971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3CC5D-3E5C-4301-B9DE-42262803A384}" type="datetimeFigureOut">
              <a:rPr lang="ko-KR" altLang="en-US" smtClean="0"/>
              <a:t>2026-06-17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B960D7-09D1-44EF-A5B3-9927F985D2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42254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03CC5D-3E5C-4301-B9DE-42262803A384}" type="datetimeFigureOut">
              <a:rPr lang="ko-KR" altLang="en-US" smtClean="0"/>
              <a:t>2026-06-17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B960D7-09D1-44EF-A5B3-9927F985D2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97988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jikim@imguru.co.kr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61175" y="286247"/>
            <a:ext cx="8281178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err="1" smtClean="0"/>
              <a:t>강사명</a:t>
            </a:r>
            <a:r>
              <a:rPr lang="ko-KR" altLang="en-US" sz="2800" smtClean="0"/>
              <a:t> </a:t>
            </a:r>
            <a:r>
              <a:rPr lang="en-US" altLang="ko-KR" sz="2800" smtClean="0"/>
              <a:t>: </a:t>
            </a:r>
            <a:r>
              <a:rPr lang="ko-KR" altLang="en-US" sz="2800" smtClean="0"/>
              <a:t>김정인</a:t>
            </a:r>
            <a:endParaRPr lang="en-US" altLang="ko-KR" sz="2800" smtClean="0"/>
          </a:p>
          <a:p>
            <a:r>
              <a:rPr lang="en-US" altLang="ko-KR" sz="2800" smtClean="0"/>
              <a:t>email : </a:t>
            </a:r>
            <a:r>
              <a:rPr lang="en-US" altLang="ko-KR" sz="2800" smtClean="0">
                <a:hlinkClick r:id="rId2"/>
              </a:rPr>
              <a:t>jikim@imguru.co.kr</a:t>
            </a:r>
            <a:endParaRPr lang="en-US" altLang="ko-KR" sz="2800" smtClean="0"/>
          </a:p>
          <a:p>
            <a:endParaRPr lang="en-US" altLang="ko-KR" sz="2800"/>
          </a:p>
          <a:p>
            <a:endParaRPr lang="en-US" altLang="ko-KR" sz="2800" smtClean="0"/>
          </a:p>
          <a:p>
            <a:r>
              <a:rPr lang="en-US" altLang="ko-KR" sz="2800"/>
              <a:t> </a:t>
            </a:r>
            <a:r>
              <a:rPr lang="ko-KR" altLang="en-US" sz="2800" smtClean="0"/>
              <a:t>강의자료 </a:t>
            </a:r>
            <a:r>
              <a:rPr lang="en-US" altLang="ko-KR" sz="2800" smtClean="0"/>
              <a:t>: github.com/</a:t>
            </a:r>
            <a:r>
              <a:rPr lang="en-US" altLang="ko-KR" sz="2800" err="1" smtClean="0"/>
              <a:t>imguru-mooc</a:t>
            </a:r>
            <a:r>
              <a:rPr lang="en-US" altLang="ko-KR" sz="2800" smtClean="0"/>
              <a:t>/bootcamp1</a:t>
            </a:r>
            <a:endParaRPr lang="ko-KR" altLang="en-US" sz="2800"/>
          </a:p>
        </p:txBody>
      </p:sp>
    </p:spTree>
    <p:extLst>
      <p:ext uri="{BB962C8B-B14F-4D97-AF65-F5344CB8AC3E}">
        <p14:creationId xmlns:p14="http://schemas.microsoft.com/office/powerpoint/2010/main" val="30827800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Box 30"/>
          <p:cNvSpPr txBox="1"/>
          <p:nvPr/>
        </p:nvSpPr>
        <p:spPr>
          <a:xfrm>
            <a:off x="287427" y="547631"/>
            <a:ext cx="2970685" cy="1754326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smtClean="0">
                <a:latin typeface="Consolas" panose="020B0609020204030204" pitchFamily="49" charset="0"/>
              </a:rPr>
              <a:t>#include &lt;stdio.h&gt;</a:t>
            </a:r>
          </a:p>
          <a:p>
            <a:endParaRPr lang="en-US" altLang="ko-KR" smtClean="0">
              <a:latin typeface="Consolas" panose="020B0609020204030204" pitchFamily="49" charset="0"/>
            </a:endParaRPr>
          </a:p>
          <a:p>
            <a:r>
              <a:rPr lang="en-US" altLang="ko-KR" smtClean="0">
                <a:latin typeface="Consolas" panose="020B0609020204030204" pitchFamily="49" charset="0"/>
              </a:rPr>
              <a:t>int main(void) {</a:t>
            </a:r>
          </a:p>
          <a:p>
            <a:r>
              <a:rPr lang="en-US" altLang="ko-KR" smtClean="0">
                <a:latin typeface="Consolas" panose="020B0609020204030204" pitchFamily="49" charset="0"/>
              </a:rPr>
              <a:t>    printf("hello\n");</a:t>
            </a:r>
          </a:p>
          <a:p>
            <a:r>
              <a:rPr lang="en-US" altLang="ko-KR" smtClean="0">
                <a:latin typeface="Consolas" panose="020B0609020204030204" pitchFamily="49" charset="0"/>
              </a:rPr>
              <a:t>    return 0;</a:t>
            </a:r>
          </a:p>
          <a:p>
            <a:r>
              <a:rPr lang="en-US" altLang="ko-KR" smtClean="0">
                <a:latin typeface="Consolas" panose="020B0609020204030204" pitchFamily="49" charset="0"/>
              </a:rPr>
              <a:t>}</a:t>
            </a:r>
            <a:endParaRPr lang="en-US" altLang="ko-KR">
              <a:latin typeface="Consolas" panose="020B0609020204030204" pitchFamily="49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4089406" y="547631"/>
            <a:ext cx="3983783" cy="1754326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smtClean="0">
                <a:latin typeface="Consolas" panose="020B0609020204030204" pitchFamily="49" charset="0"/>
              </a:rPr>
              <a:t>int printf(const char *, ...);</a:t>
            </a:r>
          </a:p>
          <a:p>
            <a:endParaRPr lang="en-US" altLang="ko-KR" smtClean="0">
              <a:latin typeface="Consolas" panose="020B0609020204030204" pitchFamily="49" charset="0"/>
            </a:endParaRPr>
          </a:p>
          <a:p>
            <a:r>
              <a:rPr lang="en-US" altLang="ko-KR" smtClean="0">
                <a:latin typeface="Consolas" panose="020B0609020204030204" pitchFamily="49" charset="0"/>
              </a:rPr>
              <a:t>int main(void) {</a:t>
            </a:r>
          </a:p>
          <a:p>
            <a:r>
              <a:rPr lang="en-US" altLang="ko-KR" smtClean="0">
                <a:latin typeface="Consolas" panose="020B0609020204030204" pitchFamily="49" charset="0"/>
              </a:rPr>
              <a:t>    printf(1234, "hello\n");</a:t>
            </a:r>
          </a:p>
          <a:p>
            <a:r>
              <a:rPr lang="en-US" altLang="ko-KR" smtClean="0">
                <a:latin typeface="Consolas" panose="020B0609020204030204" pitchFamily="49" charset="0"/>
              </a:rPr>
              <a:t>    return 0;</a:t>
            </a:r>
          </a:p>
          <a:p>
            <a:r>
              <a:rPr lang="en-US" altLang="ko-KR" smtClean="0">
                <a:latin typeface="Consolas" panose="020B0609020204030204" pitchFamily="49" charset="0"/>
              </a:rPr>
              <a:t>}</a:t>
            </a:r>
            <a:endParaRPr lang="en-US" altLang="ko-KR">
              <a:latin typeface="Consolas" panose="020B0609020204030204" pitchFamily="49" charset="0"/>
            </a:endParaRPr>
          </a:p>
        </p:txBody>
      </p:sp>
      <p:sp>
        <p:nvSpPr>
          <p:cNvPr id="33" name="오른쪽 화살표 32"/>
          <p:cNvSpPr/>
          <p:nvPr/>
        </p:nvSpPr>
        <p:spPr>
          <a:xfrm>
            <a:off x="3466553" y="1424794"/>
            <a:ext cx="368969" cy="369588"/>
          </a:xfrm>
          <a:prstGeom prst="rightArrow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3201859" y="1016340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mtClean="0">
                <a:latin typeface="Consolas" panose="020B0609020204030204" pitchFamily="49" charset="0"/>
              </a:rPr>
              <a:t>전처리</a:t>
            </a:r>
          </a:p>
        </p:txBody>
      </p:sp>
      <p:sp>
        <p:nvSpPr>
          <p:cNvPr id="35" name="오른쪽 화살표 34"/>
          <p:cNvSpPr/>
          <p:nvPr/>
        </p:nvSpPr>
        <p:spPr>
          <a:xfrm>
            <a:off x="8327073" y="1385672"/>
            <a:ext cx="368969" cy="369588"/>
          </a:xfrm>
          <a:prstGeom prst="rightArrow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8072975" y="960193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mtClean="0">
                <a:latin typeface="Consolas" panose="020B0609020204030204" pitchFamily="49" charset="0"/>
              </a:rPr>
              <a:t>컴파일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904483" y="522624"/>
            <a:ext cx="2563522" cy="1754326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sz="1200" smtClean="0">
                <a:latin typeface="Consolas" panose="020B0609020204030204" pitchFamily="49" charset="0"/>
              </a:rPr>
              <a:t>main:</a:t>
            </a:r>
          </a:p>
          <a:p>
            <a:r>
              <a:rPr lang="en-US" altLang="ko-KR" sz="1200" smtClean="0">
                <a:latin typeface="Consolas" panose="020B0609020204030204" pitchFamily="49" charset="0"/>
              </a:rPr>
              <a:t>    pushq   %rbp</a:t>
            </a:r>
          </a:p>
          <a:p>
            <a:r>
              <a:rPr lang="en-US" altLang="ko-KR" sz="1200" smtClean="0">
                <a:latin typeface="Consolas" panose="020B0609020204030204" pitchFamily="49" charset="0"/>
              </a:rPr>
              <a:t>    movq    %rsp, %rbp</a:t>
            </a:r>
          </a:p>
          <a:p>
            <a:r>
              <a:rPr lang="en-US" altLang="ko-KR" sz="1200" smtClean="0">
                <a:latin typeface="Consolas" panose="020B0609020204030204" pitchFamily="49" charset="0"/>
              </a:rPr>
              <a:t>    leaq    .LC0(%rip), %rax</a:t>
            </a:r>
          </a:p>
          <a:p>
            <a:r>
              <a:rPr lang="en-US" altLang="ko-KR" sz="1200" smtClean="0">
                <a:latin typeface="Consolas" panose="020B0609020204030204" pitchFamily="49" charset="0"/>
              </a:rPr>
              <a:t>    movq    %rax, %rdi</a:t>
            </a:r>
          </a:p>
          <a:p>
            <a:r>
              <a:rPr lang="en-US" altLang="ko-KR" sz="1200" smtClean="0">
                <a:latin typeface="Consolas" panose="020B0609020204030204" pitchFamily="49" charset="0"/>
              </a:rPr>
              <a:t>    call    puts@PLT</a:t>
            </a:r>
          </a:p>
          <a:p>
            <a:r>
              <a:rPr lang="en-US" altLang="ko-KR" sz="1200" smtClean="0">
                <a:latin typeface="Consolas" panose="020B0609020204030204" pitchFamily="49" charset="0"/>
              </a:rPr>
              <a:t>    movl    $0, %eax</a:t>
            </a:r>
          </a:p>
          <a:p>
            <a:r>
              <a:rPr lang="en-US" altLang="ko-KR" sz="1200" smtClean="0">
                <a:latin typeface="Consolas" panose="020B0609020204030204" pitchFamily="49" charset="0"/>
              </a:rPr>
              <a:t>    popq    %rbp</a:t>
            </a:r>
          </a:p>
          <a:p>
            <a:r>
              <a:rPr lang="en-US" altLang="ko-KR" sz="1200">
                <a:latin typeface="Consolas" panose="020B0609020204030204" pitchFamily="49" charset="0"/>
              </a:rPr>
              <a:t> </a:t>
            </a:r>
            <a:r>
              <a:rPr lang="en-US" altLang="ko-KR" sz="1200" smtClean="0">
                <a:latin typeface="Consolas" panose="020B0609020204030204" pitchFamily="49" charset="0"/>
              </a:rPr>
              <a:t>   ....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436498" y="3294611"/>
            <a:ext cx="1713931" cy="461665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sz="1200" smtClean="0">
                <a:latin typeface="Consolas" panose="020B0609020204030204" pitchFamily="49" charset="0"/>
              </a:rPr>
              <a:t>f30f1efa 554889e5 </a:t>
            </a:r>
          </a:p>
          <a:p>
            <a:r>
              <a:rPr lang="en-US" altLang="ko-KR" sz="1200" smtClean="0">
                <a:latin typeface="Consolas" panose="020B0609020204030204" pitchFamily="49" charset="0"/>
              </a:rPr>
              <a:t>488d0500 00000048</a:t>
            </a:r>
          </a:p>
        </p:txBody>
      </p:sp>
      <p:sp>
        <p:nvSpPr>
          <p:cNvPr id="40" name="오른쪽 화살표 39"/>
          <p:cNvSpPr/>
          <p:nvPr/>
        </p:nvSpPr>
        <p:spPr>
          <a:xfrm rot="5400000">
            <a:off x="10001759" y="2831819"/>
            <a:ext cx="368969" cy="369588"/>
          </a:xfrm>
          <a:prstGeom prst="rightArrow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10293463" y="2600706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mtClean="0">
                <a:latin typeface="Consolas" panose="020B0609020204030204" pitchFamily="49" charset="0"/>
              </a:rPr>
              <a:t>어셈블러</a:t>
            </a:r>
          </a:p>
        </p:txBody>
      </p:sp>
      <p:sp>
        <p:nvSpPr>
          <p:cNvPr id="42" name="오른쪽 화살표 41"/>
          <p:cNvSpPr/>
          <p:nvPr/>
        </p:nvSpPr>
        <p:spPr>
          <a:xfrm rot="10800000">
            <a:off x="8326763" y="3192827"/>
            <a:ext cx="368969" cy="369588"/>
          </a:xfrm>
          <a:prstGeom prst="rightArrow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5612643" y="2985926"/>
            <a:ext cx="1713931" cy="1015663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sz="1200" smtClean="0">
                <a:latin typeface="Consolas" panose="020B0609020204030204" pitchFamily="49" charset="0"/>
              </a:rPr>
              <a:t>f30f1efa 31ed4989 </a:t>
            </a:r>
          </a:p>
          <a:p>
            <a:r>
              <a:rPr lang="en-US" altLang="ko-KR" sz="1200" smtClean="0">
                <a:latin typeface="Consolas" panose="020B0609020204030204" pitchFamily="49" charset="0"/>
              </a:rPr>
              <a:t>d15e4889 e24883e4</a:t>
            </a:r>
          </a:p>
          <a:p>
            <a:r>
              <a:rPr lang="en-US" altLang="ko-KR" sz="1200" smtClean="0">
                <a:latin typeface="Consolas" panose="020B0609020204030204" pitchFamily="49" charset="0"/>
              </a:rPr>
              <a:t>f0505445 31c031c9 </a:t>
            </a:r>
          </a:p>
          <a:p>
            <a:r>
              <a:rPr lang="en-US" altLang="ko-KR" sz="1200" smtClean="0">
                <a:latin typeface="Consolas" panose="020B0609020204030204" pitchFamily="49" charset="0"/>
              </a:rPr>
              <a:t>488d3dca 000000ff</a:t>
            </a:r>
          </a:p>
          <a:p>
            <a:r>
              <a:rPr lang="en-US" altLang="ko-KR" sz="1200" smtClean="0">
                <a:latin typeface="Consolas" panose="020B0609020204030204" pitchFamily="49" charset="0"/>
              </a:rPr>
              <a:t>....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76165" y="3748685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mtClean="0">
                <a:latin typeface="Consolas" panose="020B0609020204030204" pitchFamily="49" charset="0"/>
              </a:rPr>
              <a:t>링킹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081297" y="3988181"/>
            <a:ext cx="8178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mtClean="0">
                <a:latin typeface="Consolas" panose="020B0609020204030204" pitchFamily="49" charset="0"/>
              </a:rPr>
              <a:t>hello</a:t>
            </a:r>
            <a:endParaRPr lang="ko-KR" altLang="en-US" smtClean="0">
              <a:latin typeface="Consolas" panose="020B0609020204030204" pitchFamily="49" charset="0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1168476" y="178299"/>
            <a:ext cx="10711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mtClean="0">
                <a:latin typeface="Consolas" panose="020B0609020204030204" pitchFamily="49" charset="0"/>
              </a:rPr>
              <a:t>hello.c</a:t>
            </a:r>
            <a:endParaRPr lang="ko-KR" altLang="en-US" smtClean="0">
              <a:latin typeface="Consolas" panose="020B0609020204030204" pitchFamily="49" charset="0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3396940" y="1857630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mtClean="0">
                <a:latin typeface="Consolas" panose="020B0609020204030204" pitchFamily="49" charset="0"/>
              </a:rPr>
              <a:t>-E</a:t>
            </a:r>
            <a:endParaRPr lang="ko-KR" altLang="en-US" smtClean="0">
              <a:latin typeface="Consolas" panose="020B0609020204030204" pitchFamily="49" charset="0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5419096" y="178299"/>
            <a:ext cx="10711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mtClean="0">
                <a:latin typeface="Consolas" panose="020B0609020204030204" pitchFamily="49" charset="0"/>
              </a:rPr>
              <a:t>hello.i</a:t>
            </a:r>
            <a:endParaRPr lang="ko-KR" altLang="en-US" smtClean="0">
              <a:latin typeface="Consolas" panose="020B0609020204030204" pitchFamily="49" charset="0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8251604" y="1742087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mtClean="0">
                <a:latin typeface="Consolas" panose="020B0609020204030204" pitchFamily="49" charset="0"/>
              </a:rPr>
              <a:t>-S</a:t>
            </a:r>
            <a:endParaRPr lang="ko-KR" altLang="en-US" smtClean="0">
              <a:latin typeface="Consolas" panose="020B0609020204030204" pitchFamily="49" charset="0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9465885" y="165405"/>
            <a:ext cx="10711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mtClean="0">
                <a:latin typeface="Consolas" panose="020B0609020204030204" pitchFamily="49" charset="0"/>
              </a:rPr>
              <a:t>hello.s</a:t>
            </a:r>
            <a:endParaRPr lang="ko-KR" altLang="en-US" smtClean="0">
              <a:latin typeface="Consolas" panose="020B0609020204030204" pitchFamily="49" charset="0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10628491" y="2878523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mtClean="0">
                <a:latin typeface="Consolas" panose="020B0609020204030204" pitchFamily="49" charset="0"/>
              </a:rPr>
              <a:t>-c</a:t>
            </a:r>
            <a:endParaRPr lang="ko-KR" altLang="en-US" smtClean="0">
              <a:latin typeface="Consolas" panose="020B0609020204030204" pitchFamily="49" charset="0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9835474" y="3816923"/>
            <a:ext cx="10711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mtClean="0">
                <a:latin typeface="Consolas" panose="020B0609020204030204" pitchFamily="49" charset="0"/>
              </a:rPr>
              <a:t>hello.o</a:t>
            </a:r>
            <a:endParaRPr lang="ko-KR" altLang="en-US" smtClean="0">
              <a:latin typeface="Consolas" panose="020B0609020204030204" pitchFamily="49" charset="0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96829" y="2451002"/>
            <a:ext cx="5495415" cy="42473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mtClean="0">
                <a:latin typeface="Consolas" panose="020B0609020204030204" pitchFamily="49" charset="0"/>
              </a:rPr>
              <a:t># 1) </a:t>
            </a:r>
            <a:r>
              <a:rPr lang="ko-KR" altLang="en-US" smtClean="0">
                <a:latin typeface="Consolas" panose="020B0609020204030204" pitchFamily="49" charset="0"/>
              </a:rPr>
              <a:t>전처리만 </a:t>
            </a:r>
            <a:r>
              <a:rPr lang="en-US" altLang="ko-KR" smtClean="0">
                <a:latin typeface="Consolas" panose="020B0609020204030204" pitchFamily="49" charset="0"/>
              </a:rPr>
              <a:t>(#include, #define </a:t>
            </a:r>
            <a:r>
              <a:rPr lang="ko-KR" altLang="en-US" smtClean="0">
                <a:latin typeface="Consolas" panose="020B0609020204030204" pitchFamily="49" charset="0"/>
              </a:rPr>
              <a:t>처리</a:t>
            </a:r>
            <a:r>
              <a:rPr lang="en-US" altLang="ko-KR" smtClean="0">
                <a:latin typeface="Consolas" panose="020B0609020204030204" pitchFamily="49" charset="0"/>
              </a:rPr>
              <a:t>) → .i</a:t>
            </a:r>
          </a:p>
          <a:p>
            <a:r>
              <a:rPr lang="en-US" altLang="ko-KR" smtClean="0">
                <a:latin typeface="Consolas" panose="020B0609020204030204" pitchFamily="49" charset="0"/>
              </a:rPr>
              <a:t>$ gcc -E hello.c -o hello.i</a:t>
            </a:r>
          </a:p>
          <a:p>
            <a:endParaRPr lang="en-US" altLang="ko-KR" smtClean="0">
              <a:latin typeface="Consolas" panose="020B0609020204030204" pitchFamily="49" charset="0"/>
            </a:endParaRPr>
          </a:p>
          <a:p>
            <a:r>
              <a:rPr lang="en-US" altLang="ko-KR" smtClean="0">
                <a:latin typeface="Consolas" panose="020B0609020204030204" pitchFamily="49" charset="0"/>
              </a:rPr>
              <a:t># 2) </a:t>
            </a:r>
            <a:r>
              <a:rPr lang="ko-KR" altLang="en-US" smtClean="0">
                <a:latin typeface="Consolas" panose="020B0609020204030204" pitchFamily="49" charset="0"/>
              </a:rPr>
              <a:t>컴파일까지 </a:t>
            </a:r>
            <a:r>
              <a:rPr lang="en-US" altLang="ko-KR" smtClean="0">
                <a:latin typeface="Consolas" panose="020B0609020204030204" pitchFamily="49" charset="0"/>
              </a:rPr>
              <a:t>(</a:t>
            </a:r>
            <a:r>
              <a:rPr lang="ko-KR" altLang="en-US" smtClean="0">
                <a:latin typeface="Consolas" panose="020B0609020204030204" pitchFamily="49" charset="0"/>
              </a:rPr>
              <a:t>어셈블리 생성</a:t>
            </a:r>
            <a:r>
              <a:rPr lang="en-US" altLang="ko-KR" smtClean="0">
                <a:latin typeface="Consolas" panose="020B0609020204030204" pitchFamily="49" charset="0"/>
              </a:rPr>
              <a:t>) → .s</a:t>
            </a:r>
          </a:p>
          <a:p>
            <a:r>
              <a:rPr lang="en-US" altLang="ko-KR" smtClean="0">
                <a:latin typeface="Consolas" panose="020B0609020204030204" pitchFamily="49" charset="0"/>
              </a:rPr>
              <a:t>$ gcc -S hello.i -o hello.s</a:t>
            </a:r>
          </a:p>
          <a:p>
            <a:endParaRPr lang="en-US" altLang="ko-KR" smtClean="0">
              <a:latin typeface="Consolas" panose="020B0609020204030204" pitchFamily="49" charset="0"/>
            </a:endParaRPr>
          </a:p>
          <a:p>
            <a:r>
              <a:rPr lang="en-US" altLang="ko-KR" smtClean="0">
                <a:latin typeface="Consolas" panose="020B0609020204030204" pitchFamily="49" charset="0"/>
              </a:rPr>
              <a:t># 3) </a:t>
            </a:r>
            <a:r>
              <a:rPr lang="ko-KR" altLang="en-US" smtClean="0">
                <a:latin typeface="Consolas" panose="020B0609020204030204" pitchFamily="49" charset="0"/>
              </a:rPr>
              <a:t>어셈블까지 </a:t>
            </a:r>
            <a:r>
              <a:rPr lang="en-US" altLang="ko-KR" smtClean="0">
                <a:latin typeface="Consolas" panose="020B0609020204030204" pitchFamily="49" charset="0"/>
              </a:rPr>
              <a:t>(</a:t>
            </a:r>
            <a:r>
              <a:rPr lang="ko-KR" altLang="en-US" smtClean="0">
                <a:latin typeface="Consolas" panose="020B0609020204030204" pitchFamily="49" charset="0"/>
              </a:rPr>
              <a:t>목적 파일 생성</a:t>
            </a:r>
            <a:r>
              <a:rPr lang="en-US" altLang="ko-KR" smtClean="0">
                <a:latin typeface="Consolas" panose="020B0609020204030204" pitchFamily="49" charset="0"/>
              </a:rPr>
              <a:t>) → .o</a:t>
            </a:r>
          </a:p>
          <a:p>
            <a:r>
              <a:rPr lang="en-US" altLang="ko-KR" smtClean="0">
                <a:latin typeface="Consolas" panose="020B0609020204030204" pitchFamily="49" charset="0"/>
              </a:rPr>
              <a:t>$ gcc -c hello.s -o hello.o</a:t>
            </a:r>
          </a:p>
          <a:p>
            <a:endParaRPr lang="en-US" altLang="ko-KR" smtClean="0">
              <a:latin typeface="Consolas" panose="020B0609020204030204" pitchFamily="49" charset="0"/>
            </a:endParaRPr>
          </a:p>
          <a:p>
            <a:r>
              <a:rPr lang="en-US" altLang="ko-KR" smtClean="0">
                <a:latin typeface="Consolas" panose="020B0609020204030204" pitchFamily="49" charset="0"/>
              </a:rPr>
              <a:t># 4) </a:t>
            </a:r>
            <a:r>
              <a:rPr lang="ko-KR" altLang="en-US" smtClean="0">
                <a:latin typeface="Consolas" panose="020B0609020204030204" pitchFamily="49" charset="0"/>
              </a:rPr>
              <a:t>링크 </a:t>
            </a:r>
            <a:r>
              <a:rPr lang="en-US" altLang="ko-KR" smtClean="0">
                <a:latin typeface="Consolas" panose="020B0609020204030204" pitchFamily="49" charset="0"/>
              </a:rPr>
              <a:t>(</a:t>
            </a:r>
            <a:r>
              <a:rPr lang="ko-KR" altLang="en-US" smtClean="0">
                <a:latin typeface="Consolas" panose="020B0609020204030204" pitchFamily="49" charset="0"/>
              </a:rPr>
              <a:t>목적 파일 → 실행 파일</a:t>
            </a:r>
            <a:r>
              <a:rPr lang="en-US" altLang="ko-KR" smtClean="0">
                <a:latin typeface="Consolas" panose="020B0609020204030204" pitchFamily="49" charset="0"/>
              </a:rPr>
              <a:t>)</a:t>
            </a:r>
          </a:p>
          <a:p>
            <a:r>
              <a:rPr lang="en-US" altLang="ko-KR" smtClean="0">
                <a:latin typeface="Consolas" panose="020B0609020204030204" pitchFamily="49" charset="0"/>
              </a:rPr>
              <a:t>$ gcc hello.o -o hello</a:t>
            </a:r>
          </a:p>
          <a:p>
            <a:endParaRPr lang="en-US" altLang="ko-KR" smtClean="0">
              <a:latin typeface="Consolas" panose="020B0609020204030204" pitchFamily="49" charset="0"/>
            </a:endParaRPr>
          </a:p>
          <a:p>
            <a:r>
              <a:rPr lang="en-US" altLang="ko-KR" smtClean="0">
                <a:latin typeface="Consolas" panose="020B0609020204030204" pitchFamily="49" charset="0"/>
              </a:rPr>
              <a:t># </a:t>
            </a:r>
            <a:r>
              <a:rPr lang="ko-KR" altLang="en-US" smtClean="0">
                <a:latin typeface="Consolas" panose="020B0609020204030204" pitchFamily="49" charset="0"/>
              </a:rPr>
              <a:t>생성된 파일들 확인</a:t>
            </a:r>
          </a:p>
          <a:p>
            <a:r>
              <a:rPr lang="en-US" altLang="ko-KR" smtClean="0">
                <a:latin typeface="Consolas" panose="020B0609020204030204" pitchFamily="49" charset="0"/>
              </a:rPr>
              <a:t>$ ls</a:t>
            </a:r>
          </a:p>
          <a:p>
            <a:r>
              <a:rPr lang="en-US" altLang="ko-KR" smtClean="0">
                <a:latin typeface="Consolas" panose="020B0609020204030204" pitchFamily="49" charset="0"/>
              </a:rPr>
              <a:t>hello  hello.c  hello.i  hello.o  hello.s</a:t>
            </a:r>
            <a:endParaRPr lang="ko-KR" altLang="en-US" smtClean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13329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extBox 49"/>
          <p:cNvSpPr txBox="1"/>
          <p:nvPr/>
        </p:nvSpPr>
        <p:spPr>
          <a:xfrm>
            <a:off x="1468419" y="3970318"/>
            <a:ext cx="944489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mtClean="0">
                <a:latin typeface="Consolas" panose="020B0609020204030204" pitchFamily="49" charset="0"/>
              </a:rPr>
              <a:t>main.c</a:t>
            </a:r>
            <a:endParaRPr lang="ko-KR" altLang="en-US" smtClean="0">
              <a:latin typeface="Consolas" panose="020B0609020204030204" pitchFamily="49" charset="0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279709" y="0"/>
            <a:ext cx="3857146" cy="3970318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smtClean="0">
                <a:latin typeface="Consolas" panose="020B0609020204030204" pitchFamily="49" charset="0"/>
              </a:rPr>
              <a:t>#include &lt;stdio.h&gt;</a:t>
            </a:r>
          </a:p>
          <a:p>
            <a:r>
              <a:rPr lang="en-US" altLang="ko-KR" smtClean="0">
                <a:latin typeface="Consolas" panose="020B0609020204030204" pitchFamily="49" charset="0"/>
              </a:rPr>
              <a:t>int add(int a, int b)</a:t>
            </a:r>
          </a:p>
          <a:p>
            <a:r>
              <a:rPr lang="en-US" altLang="ko-KR" smtClean="0">
                <a:latin typeface="Consolas" panose="020B0609020204030204" pitchFamily="49" charset="0"/>
              </a:rPr>
              <a:t>{</a:t>
            </a:r>
          </a:p>
          <a:p>
            <a:r>
              <a:rPr lang="en-US" altLang="ko-KR" smtClean="0">
                <a:latin typeface="Consolas" panose="020B0609020204030204" pitchFamily="49" charset="0"/>
              </a:rPr>
              <a:t>    return a+b;</a:t>
            </a:r>
          </a:p>
          <a:p>
            <a:r>
              <a:rPr lang="en-US" altLang="ko-KR" smtClean="0">
                <a:latin typeface="Consolas" panose="020B0609020204030204" pitchFamily="49" charset="0"/>
              </a:rPr>
              <a:t>}</a:t>
            </a:r>
          </a:p>
          <a:p>
            <a:endParaRPr lang="en-US" altLang="ko-KR" smtClean="0">
              <a:latin typeface="Consolas" panose="020B0609020204030204" pitchFamily="49" charset="0"/>
            </a:endParaRPr>
          </a:p>
          <a:p>
            <a:r>
              <a:rPr lang="en-US" altLang="ko-KR" smtClean="0">
                <a:latin typeface="Consolas" panose="020B0609020204030204" pitchFamily="49" charset="0"/>
              </a:rPr>
              <a:t>int main()</a:t>
            </a:r>
          </a:p>
          <a:p>
            <a:r>
              <a:rPr lang="en-US" altLang="ko-KR" smtClean="0">
                <a:latin typeface="Consolas" panose="020B0609020204030204" pitchFamily="49" charset="0"/>
              </a:rPr>
              <a:t>{</a:t>
            </a:r>
          </a:p>
          <a:p>
            <a:r>
              <a:rPr lang="en-US" altLang="ko-KR" smtClean="0">
                <a:latin typeface="Consolas" panose="020B0609020204030204" pitchFamily="49" charset="0"/>
              </a:rPr>
              <a:t>    int ret;</a:t>
            </a:r>
          </a:p>
          <a:p>
            <a:endParaRPr lang="en-US" altLang="ko-KR" smtClean="0">
              <a:latin typeface="Consolas" panose="020B0609020204030204" pitchFamily="49" charset="0"/>
            </a:endParaRPr>
          </a:p>
          <a:p>
            <a:r>
              <a:rPr lang="en-US" altLang="ko-KR" smtClean="0">
                <a:latin typeface="Consolas" panose="020B0609020204030204" pitchFamily="49" charset="0"/>
              </a:rPr>
              <a:t>    ret = add(3,4);</a:t>
            </a:r>
          </a:p>
          <a:p>
            <a:r>
              <a:rPr lang="en-US" altLang="ko-KR" smtClean="0">
                <a:latin typeface="Consolas" panose="020B0609020204030204" pitchFamily="49" charset="0"/>
              </a:rPr>
              <a:t>    printf("ret=%d\n", ret );</a:t>
            </a:r>
          </a:p>
          <a:p>
            <a:r>
              <a:rPr lang="en-US" altLang="ko-KR" smtClean="0">
                <a:latin typeface="Consolas" panose="020B0609020204030204" pitchFamily="49" charset="0"/>
              </a:rPr>
              <a:t>    return 0;</a:t>
            </a:r>
          </a:p>
          <a:p>
            <a:r>
              <a:rPr lang="en-US" altLang="ko-KR" smtClean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65604" y="4801314"/>
            <a:ext cx="944489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mtClean="0">
                <a:latin typeface="Consolas" panose="020B0609020204030204" pitchFamily="49" charset="0"/>
              </a:rPr>
              <a:t>main.c</a:t>
            </a:r>
            <a:endParaRPr lang="ko-KR" altLang="en-US" smtClean="0">
              <a:latin typeface="Consolas" panose="020B0609020204030204" pitchFamily="49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901585" y="0"/>
            <a:ext cx="3857146" cy="4801314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smtClean="0">
                <a:latin typeface="Consolas" panose="020B0609020204030204" pitchFamily="49" charset="0"/>
              </a:rPr>
              <a:t>#include &lt;stdio.h&gt;</a:t>
            </a:r>
          </a:p>
          <a:p>
            <a:r>
              <a:rPr lang="en-US" altLang="ko-KR" smtClean="0">
                <a:latin typeface="Consolas" panose="020B0609020204030204" pitchFamily="49" charset="0"/>
              </a:rPr>
              <a:t>int add(int a, int b);</a:t>
            </a:r>
          </a:p>
          <a:p>
            <a:endParaRPr lang="en-US" altLang="ko-KR" smtClean="0">
              <a:latin typeface="Consolas" panose="020B0609020204030204" pitchFamily="49" charset="0"/>
            </a:endParaRPr>
          </a:p>
          <a:p>
            <a:r>
              <a:rPr lang="en-US" altLang="ko-KR" smtClean="0">
                <a:latin typeface="Consolas" panose="020B0609020204030204" pitchFamily="49" charset="0"/>
              </a:rPr>
              <a:t>int main()</a:t>
            </a:r>
          </a:p>
          <a:p>
            <a:r>
              <a:rPr lang="en-US" altLang="ko-KR" smtClean="0">
                <a:latin typeface="Consolas" panose="020B0609020204030204" pitchFamily="49" charset="0"/>
              </a:rPr>
              <a:t>{</a:t>
            </a:r>
          </a:p>
          <a:p>
            <a:r>
              <a:rPr lang="en-US" altLang="ko-KR" smtClean="0">
                <a:latin typeface="Consolas" panose="020B0609020204030204" pitchFamily="49" charset="0"/>
              </a:rPr>
              <a:t>    int ret;</a:t>
            </a:r>
          </a:p>
          <a:p>
            <a:endParaRPr lang="en-US" altLang="ko-KR" smtClean="0">
              <a:latin typeface="Consolas" panose="020B0609020204030204" pitchFamily="49" charset="0"/>
            </a:endParaRPr>
          </a:p>
          <a:p>
            <a:r>
              <a:rPr lang="en-US" altLang="ko-KR" smtClean="0">
                <a:latin typeface="Consolas" panose="020B0609020204030204" pitchFamily="49" charset="0"/>
              </a:rPr>
              <a:t>    ret = add(3,4);</a:t>
            </a:r>
          </a:p>
          <a:p>
            <a:r>
              <a:rPr lang="en-US" altLang="ko-KR" smtClean="0">
                <a:latin typeface="Consolas" panose="020B0609020204030204" pitchFamily="49" charset="0"/>
              </a:rPr>
              <a:t>    printf("ret=%d\n", ret );</a:t>
            </a:r>
          </a:p>
          <a:p>
            <a:r>
              <a:rPr lang="en-US" altLang="ko-KR" smtClean="0">
                <a:latin typeface="Consolas" panose="020B0609020204030204" pitchFamily="49" charset="0"/>
              </a:rPr>
              <a:t>    return 0;</a:t>
            </a:r>
          </a:p>
          <a:p>
            <a:r>
              <a:rPr lang="en-US" altLang="ko-KR" smtClean="0">
                <a:latin typeface="Consolas" panose="020B0609020204030204" pitchFamily="49" charset="0"/>
              </a:rPr>
              <a:t>}</a:t>
            </a:r>
          </a:p>
          <a:p>
            <a:endParaRPr lang="en-US" altLang="ko-KR">
              <a:latin typeface="Consolas" panose="020B0609020204030204" pitchFamily="49" charset="0"/>
            </a:endParaRPr>
          </a:p>
          <a:p>
            <a:r>
              <a:rPr lang="en-US" altLang="ko-KR" smtClean="0">
                <a:latin typeface="Consolas" panose="020B0609020204030204" pitchFamily="49" charset="0"/>
              </a:rPr>
              <a:t>int add(int a, int b)</a:t>
            </a:r>
          </a:p>
          <a:p>
            <a:r>
              <a:rPr lang="en-US" altLang="ko-KR" smtClean="0">
                <a:latin typeface="Consolas" panose="020B0609020204030204" pitchFamily="49" charset="0"/>
              </a:rPr>
              <a:t>{</a:t>
            </a:r>
          </a:p>
          <a:p>
            <a:r>
              <a:rPr lang="en-US" altLang="ko-KR" smtClean="0">
                <a:latin typeface="Consolas" panose="020B0609020204030204" pitchFamily="49" charset="0"/>
              </a:rPr>
              <a:t>    return a+b;</a:t>
            </a:r>
          </a:p>
          <a:p>
            <a:r>
              <a:rPr lang="en-US" altLang="ko-KR" smtClean="0">
                <a:latin typeface="Consolas" panose="020B0609020204030204" pitchFamily="49" charset="0"/>
              </a:rPr>
              <a:t>}</a:t>
            </a:r>
          </a:p>
          <a:p>
            <a:endParaRPr lang="en-US" altLang="ko-KR" smtClean="0">
              <a:latin typeface="Consolas" panose="020B0609020204030204" pitchFamily="49" charset="0"/>
            </a:endParaRPr>
          </a:p>
        </p:txBody>
      </p:sp>
      <p:sp>
        <p:nvSpPr>
          <p:cNvPr id="2" name="오른쪽 화살표 1"/>
          <p:cNvSpPr/>
          <p:nvPr/>
        </p:nvSpPr>
        <p:spPr>
          <a:xfrm>
            <a:off x="4339244" y="2094807"/>
            <a:ext cx="482138" cy="565266"/>
          </a:xfrm>
          <a:prstGeom prst="rightArrow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31232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extBox 49"/>
          <p:cNvSpPr txBox="1"/>
          <p:nvPr/>
        </p:nvSpPr>
        <p:spPr>
          <a:xfrm>
            <a:off x="1276181" y="710154"/>
            <a:ext cx="944489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mtClean="0">
                <a:latin typeface="Consolas" panose="020B0609020204030204" pitchFamily="49" charset="0"/>
              </a:rPr>
              <a:t>main.h</a:t>
            </a:r>
            <a:endParaRPr lang="ko-KR" altLang="en-US" smtClean="0">
              <a:latin typeface="Consolas" panose="020B0609020204030204" pitchFamily="49" charset="0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263084" y="340822"/>
            <a:ext cx="2970685" cy="369332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smtClean="0">
                <a:latin typeface="Consolas" panose="020B0609020204030204" pitchFamily="49" charset="0"/>
              </a:rPr>
              <a:t>int add(int a, int b);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65604" y="4801314"/>
            <a:ext cx="944489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mtClean="0">
                <a:latin typeface="Consolas" panose="020B0609020204030204" pitchFamily="49" charset="0"/>
              </a:rPr>
              <a:t>main.c</a:t>
            </a:r>
            <a:endParaRPr lang="ko-KR" altLang="en-US" smtClean="0">
              <a:latin typeface="Consolas" panose="020B0609020204030204" pitchFamily="49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901585" y="0"/>
            <a:ext cx="3857146" cy="4801314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smtClean="0">
                <a:latin typeface="Consolas" panose="020B0609020204030204" pitchFamily="49" charset="0"/>
              </a:rPr>
              <a:t>#include &lt;stdio.h&gt;</a:t>
            </a:r>
          </a:p>
          <a:p>
            <a:r>
              <a:rPr lang="en-US" altLang="ko-KR" smtClean="0">
                <a:latin typeface="Consolas" panose="020B0609020204030204" pitchFamily="49" charset="0"/>
              </a:rPr>
              <a:t>#include "main.h"</a:t>
            </a:r>
          </a:p>
          <a:p>
            <a:endParaRPr lang="en-US" altLang="ko-KR" smtClean="0">
              <a:latin typeface="Consolas" panose="020B0609020204030204" pitchFamily="49" charset="0"/>
            </a:endParaRPr>
          </a:p>
          <a:p>
            <a:r>
              <a:rPr lang="en-US" altLang="ko-KR" smtClean="0">
                <a:latin typeface="Consolas" panose="020B0609020204030204" pitchFamily="49" charset="0"/>
              </a:rPr>
              <a:t>int main()</a:t>
            </a:r>
          </a:p>
          <a:p>
            <a:r>
              <a:rPr lang="en-US" altLang="ko-KR" smtClean="0">
                <a:latin typeface="Consolas" panose="020B0609020204030204" pitchFamily="49" charset="0"/>
              </a:rPr>
              <a:t>{</a:t>
            </a:r>
          </a:p>
          <a:p>
            <a:r>
              <a:rPr lang="en-US" altLang="ko-KR" smtClean="0">
                <a:latin typeface="Consolas" panose="020B0609020204030204" pitchFamily="49" charset="0"/>
              </a:rPr>
              <a:t>    int ret;</a:t>
            </a:r>
          </a:p>
          <a:p>
            <a:endParaRPr lang="en-US" altLang="ko-KR" smtClean="0">
              <a:latin typeface="Consolas" panose="020B0609020204030204" pitchFamily="49" charset="0"/>
            </a:endParaRPr>
          </a:p>
          <a:p>
            <a:r>
              <a:rPr lang="en-US" altLang="ko-KR" smtClean="0">
                <a:latin typeface="Consolas" panose="020B0609020204030204" pitchFamily="49" charset="0"/>
              </a:rPr>
              <a:t>    ret = add(3,4);</a:t>
            </a:r>
          </a:p>
          <a:p>
            <a:r>
              <a:rPr lang="en-US" altLang="ko-KR" smtClean="0">
                <a:latin typeface="Consolas" panose="020B0609020204030204" pitchFamily="49" charset="0"/>
              </a:rPr>
              <a:t>    printf("ret=%d\n", ret );</a:t>
            </a:r>
          </a:p>
          <a:p>
            <a:r>
              <a:rPr lang="en-US" altLang="ko-KR" smtClean="0">
                <a:latin typeface="Consolas" panose="020B0609020204030204" pitchFamily="49" charset="0"/>
              </a:rPr>
              <a:t>    return 0;</a:t>
            </a:r>
          </a:p>
          <a:p>
            <a:r>
              <a:rPr lang="en-US" altLang="ko-KR" smtClean="0">
                <a:latin typeface="Consolas" panose="020B0609020204030204" pitchFamily="49" charset="0"/>
              </a:rPr>
              <a:t>}</a:t>
            </a:r>
          </a:p>
          <a:p>
            <a:endParaRPr lang="en-US" altLang="ko-KR">
              <a:latin typeface="Consolas" panose="020B0609020204030204" pitchFamily="49" charset="0"/>
            </a:endParaRPr>
          </a:p>
          <a:p>
            <a:r>
              <a:rPr lang="en-US" altLang="ko-KR" smtClean="0">
                <a:latin typeface="Consolas" panose="020B0609020204030204" pitchFamily="49" charset="0"/>
              </a:rPr>
              <a:t>int add(int a, int b)</a:t>
            </a:r>
          </a:p>
          <a:p>
            <a:r>
              <a:rPr lang="en-US" altLang="ko-KR" smtClean="0">
                <a:latin typeface="Consolas" panose="020B0609020204030204" pitchFamily="49" charset="0"/>
              </a:rPr>
              <a:t>{</a:t>
            </a:r>
          </a:p>
          <a:p>
            <a:r>
              <a:rPr lang="en-US" altLang="ko-KR" smtClean="0">
                <a:latin typeface="Consolas" panose="020B0609020204030204" pitchFamily="49" charset="0"/>
              </a:rPr>
              <a:t>    return a+b;</a:t>
            </a:r>
          </a:p>
          <a:p>
            <a:r>
              <a:rPr lang="en-US" altLang="ko-KR" smtClean="0">
                <a:latin typeface="Consolas" panose="020B0609020204030204" pitchFamily="49" charset="0"/>
              </a:rPr>
              <a:t>}</a:t>
            </a:r>
          </a:p>
          <a:p>
            <a:endParaRPr lang="en-US" altLang="ko-KR" smtClean="0">
              <a:latin typeface="Consolas" panose="020B0609020204030204" pitchFamily="49" charset="0"/>
            </a:endParaRPr>
          </a:p>
        </p:txBody>
      </p:sp>
      <p:sp>
        <p:nvSpPr>
          <p:cNvPr id="2" name="오른쪽 화살표 1"/>
          <p:cNvSpPr/>
          <p:nvPr/>
        </p:nvSpPr>
        <p:spPr>
          <a:xfrm>
            <a:off x="4339244" y="2094807"/>
            <a:ext cx="482138" cy="565266"/>
          </a:xfrm>
          <a:prstGeom prst="rightArrow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71903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extBox 49"/>
          <p:cNvSpPr txBox="1"/>
          <p:nvPr/>
        </p:nvSpPr>
        <p:spPr>
          <a:xfrm>
            <a:off x="3394755" y="186250"/>
            <a:ext cx="944489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mtClean="0">
                <a:latin typeface="Consolas" panose="020B0609020204030204" pitchFamily="49" charset="0"/>
              </a:rPr>
              <a:t>main.h</a:t>
            </a:r>
            <a:endParaRPr lang="ko-KR" altLang="en-US" smtClean="0">
              <a:latin typeface="Consolas" panose="020B0609020204030204" pitchFamily="49" charset="0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4339244" y="248570"/>
            <a:ext cx="2970685" cy="369332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smtClean="0">
                <a:latin typeface="Consolas" panose="020B0609020204030204" pitchFamily="49" charset="0"/>
              </a:rPr>
              <a:t>int add(int a, int b);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0761" y="2629570"/>
            <a:ext cx="944489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mtClean="0">
                <a:latin typeface="Consolas" panose="020B0609020204030204" pitchFamily="49" charset="0"/>
              </a:rPr>
              <a:t>main.c</a:t>
            </a:r>
            <a:endParaRPr lang="ko-KR" altLang="en-US" smtClean="0">
              <a:latin typeface="Consolas" panose="020B0609020204030204" pitchFamily="49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705250" y="1244576"/>
            <a:ext cx="3857146" cy="3139321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smtClean="0">
                <a:latin typeface="Consolas" panose="020B0609020204030204" pitchFamily="49" charset="0"/>
              </a:rPr>
              <a:t>#include &lt;stdio.h&gt;</a:t>
            </a:r>
          </a:p>
          <a:p>
            <a:r>
              <a:rPr lang="en-US" altLang="ko-KR" smtClean="0">
                <a:latin typeface="Consolas" panose="020B0609020204030204" pitchFamily="49" charset="0"/>
              </a:rPr>
              <a:t>#include "main.h"</a:t>
            </a:r>
          </a:p>
          <a:p>
            <a:endParaRPr lang="en-US" altLang="ko-KR" smtClean="0">
              <a:latin typeface="Consolas" panose="020B0609020204030204" pitchFamily="49" charset="0"/>
            </a:endParaRPr>
          </a:p>
          <a:p>
            <a:r>
              <a:rPr lang="en-US" altLang="ko-KR" smtClean="0">
                <a:latin typeface="Consolas" panose="020B0609020204030204" pitchFamily="49" charset="0"/>
              </a:rPr>
              <a:t>int main()</a:t>
            </a:r>
          </a:p>
          <a:p>
            <a:r>
              <a:rPr lang="en-US" altLang="ko-KR" smtClean="0">
                <a:latin typeface="Consolas" panose="020B0609020204030204" pitchFamily="49" charset="0"/>
              </a:rPr>
              <a:t>{</a:t>
            </a:r>
          </a:p>
          <a:p>
            <a:r>
              <a:rPr lang="en-US" altLang="ko-KR" smtClean="0">
                <a:latin typeface="Consolas" panose="020B0609020204030204" pitchFamily="49" charset="0"/>
              </a:rPr>
              <a:t>    int ret;</a:t>
            </a:r>
          </a:p>
          <a:p>
            <a:endParaRPr lang="en-US" altLang="ko-KR" smtClean="0">
              <a:latin typeface="Consolas" panose="020B0609020204030204" pitchFamily="49" charset="0"/>
            </a:endParaRPr>
          </a:p>
          <a:p>
            <a:r>
              <a:rPr lang="en-US" altLang="ko-KR" smtClean="0">
                <a:latin typeface="Consolas" panose="020B0609020204030204" pitchFamily="49" charset="0"/>
              </a:rPr>
              <a:t>    ret = add(3,4);</a:t>
            </a:r>
          </a:p>
          <a:p>
            <a:r>
              <a:rPr lang="en-US" altLang="ko-KR" smtClean="0">
                <a:latin typeface="Consolas" panose="020B0609020204030204" pitchFamily="49" charset="0"/>
              </a:rPr>
              <a:t>    printf("ret=%d\n", ret );</a:t>
            </a:r>
          </a:p>
          <a:p>
            <a:r>
              <a:rPr lang="en-US" altLang="ko-KR" smtClean="0">
                <a:latin typeface="Consolas" panose="020B0609020204030204" pitchFamily="49" charset="0"/>
              </a:rPr>
              <a:t>    return 0;</a:t>
            </a:r>
          </a:p>
          <a:p>
            <a:r>
              <a:rPr lang="en-US" altLang="ko-KR" smtClean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47507" y="2075572"/>
            <a:ext cx="817853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mtClean="0">
                <a:latin typeface="Consolas" panose="020B0609020204030204" pitchFamily="49" charset="0"/>
              </a:rPr>
              <a:t>add.c</a:t>
            </a:r>
            <a:endParaRPr lang="ko-KR" altLang="en-US" smtClean="0">
              <a:latin typeface="Consolas" panose="020B0609020204030204" pitchFamily="49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119050" y="1244576"/>
            <a:ext cx="2844048" cy="2031325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smtClean="0">
                <a:latin typeface="Consolas" panose="020B0609020204030204" pitchFamily="49" charset="0"/>
              </a:rPr>
              <a:t>#include "main.h"</a:t>
            </a:r>
          </a:p>
          <a:p>
            <a:endParaRPr lang="en-US" altLang="ko-KR" smtClean="0">
              <a:latin typeface="Consolas" panose="020B0609020204030204" pitchFamily="49" charset="0"/>
            </a:endParaRPr>
          </a:p>
          <a:p>
            <a:r>
              <a:rPr lang="en-US" altLang="ko-KR" smtClean="0">
                <a:latin typeface="Consolas" panose="020B0609020204030204" pitchFamily="49" charset="0"/>
              </a:rPr>
              <a:t>int add(int a, int b)</a:t>
            </a:r>
          </a:p>
          <a:p>
            <a:r>
              <a:rPr lang="en-US" altLang="ko-KR" smtClean="0">
                <a:latin typeface="Consolas" panose="020B0609020204030204" pitchFamily="49" charset="0"/>
              </a:rPr>
              <a:t>{</a:t>
            </a:r>
          </a:p>
          <a:p>
            <a:r>
              <a:rPr lang="en-US" altLang="ko-KR" smtClean="0">
                <a:latin typeface="Consolas" panose="020B0609020204030204" pitchFamily="49" charset="0"/>
              </a:rPr>
              <a:t>    return a+b;</a:t>
            </a:r>
          </a:p>
          <a:p>
            <a:r>
              <a:rPr lang="en-US" altLang="ko-KR" smtClean="0">
                <a:latin typeface="Consolas" panose="020B0609020204030204" pitchFamily="49" charset="0"/>
              </a:rPr>
              <a:t>}</a:t>
            </a:r>
          </a:p>
          <a:p>
            <a:endParaRPr lang="en-US" altLang="ko-KR" smtClean="0">
              <a:latin typeface="Consolas" panose="020B0609020204030204" pitchFamily="49" charset="0"/>
            </a:endParaRPr>
          </a:p>
        </p:txBody>
      </p:sp>
      <p:cxnSp>
        <p:nvCxnSpPr>
          <p:cNvPr id="4" name="직선 화살표 연결선 3"/>
          <p:cNvCxnSpPr>
            <a:stCxn id="25" idx="0"/>
            <a:endCxn id="55" idx="2"/>
          </p:cNvCxnSpPr>
          <p:nvPr/>
        </p:nvCxnSpPr>
        <p:spPr>
          <a:xfrm flipV="1">
            <a:off x="3633823" y="617902"/>
            <a:ext cx="2190764" cy="62667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화살표 연결선 10"/>
          <p:cNvCxnSpPr>
            <a:stCxn id="8" idx="0"/>
            <a:endCxn id="55" idx="2"/>
          </p:cNvCxnSpPr>
          <p:nvPr/>
        </p:nvCxnSpPr>
        <p:spPr>
          <a:xfrm flipH="1" flipV="1">
            <a:off x="5824587" y="617902"/>
            <a:ext cx="1716487" cy="62667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직사각형 11"/>
          <p:cNvSpPr/>
          <p:nvPr/>
        </p:nvSpPr>
        <p:spPr>
          <a:xfrm>
            <a:off x="3164448" y="4806034"/>
            <a:ext cx="938749" cy="409073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919945" y="4803265"/>
            <a:ext cx="944489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mtClean="0">
                <a:latin typeface="Consolas" panose="020B0609020204030204" pitchFamily="49" charset="0"/>
              </a:rPr>
              <a:t>main.o</a:t>
            </a:r>
            <a:endParaRPr lang="ko-KR" altLang="en-US" smtClean="0">
              <a:latin typeface="Consolas" panose="020B0609020204030204" pitchFamily="49" charset="0"/>
            </a:endParaRPr>
          </a:p>
        </p:txBody>
      </p:sp>
      <p:cxnSp>
        <p:nvCxnSpPr>
          <p:cNvPr id="18" name="직선 화살표 연결선 17"/>
          <p:cNvCxnSpPr>
            <a:stCxn id="12" idx="0"/>
            <a:endCxn id="25" idx="2"/>
          </p:cNvCxnSpPr>
          <p:nvPr/>
        </p:nvCxnSpPr>
        <p:spPr>
          <a:xfrm flipV="1">
            <a:off x="3633823" y="4383897"/>
            <a:ext cx="0" cy="42213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직사각형 22"/>
          <p:cNvSpPr/>
          <p:nvPr/>
        </p:nvSpPr>
        <p:spPr>
          <a:xfrm>
            <a:off x="7071699" y="4763524"/>
            <a:ext cx="938749" cy="409073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827196" y="4760755"/>
            <a:ext cx="817853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mtClean="0">
                <a:latin typeface="Consolas" panose="020B0609020204030204" pitchFamily="49" charset="0"/>
              </a:rPr>
              <a:t>add.o</a:t>
            </a:r>
            <a:endParaRPr lang="ko-KR" altLang="en-US" smtClean="0">
              <a:latin typeface="Consolas" panose="020B0609020204030204" pitchFamily="49" charset="0"/>
            </a:endParaRPr>
          </a:p>
        </p:txBody>
      </p:sp>
      <p:cxnSp>
        <p:nvCxnSpPr>
          <p:cNvPr id="27" name="직선 화살표 연결선 26"/>
          <p:cNvCxnSpPr>
            <a:stCxn id="23" idx="0"/>
            <a:endCxn id="8" idx="2"/>
          </p:cNvCxnSpPr>
          <p:nvPr/>
        </p:nvCxnSpPr>
        <p:spPr>
          <a:xfrm flipV="1">
            <a:off x="7541074" y="3275901"/>
            <a:ext cx="0" cy="148762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직사각형 29"/>
          <p:cNvSpPr/>
          <p:nvPr/>
        </p:nvSpPr>
        <p:spPr>
          <a:xfrm>
            <a:off x="4729205" y="6038871"/>
            <a:ext cx="938749" cy="409073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3694270" y="6093672"/>
            <a:ext cx="817853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mtClean="0">
                <a:latin typeface="Consolas" panose="020B0609020204030204" pitchFamily="49" charset="0"/>
              </a:rPr>
              <a:t>hello</a:t>
            </a:r>
            <a:endParaRPr lang="ko-KR" altLang="en-US" smtClean="0">
              <a:latin typeface="Consolas" panose="020B0609020204030204" pitchFamily="49" charset="0"/>
            </a:endParaRPr>
          </a:p>
        </p:txBody>
      </p:sp>
      <p:cxnSp>
        <p:nvCxnSpPr>
          <p:cNvPr id="32" name="직선 화살표 연결선 31"/>
          <p:cNvCxnSpPr>
            <a:stCxn id="30" idx="0"/>
            <a:endCxn id="12" idx="2"/>
          </p:cNvCxnSpPr>
          <p:nvPr/>
        </p:nvCxnSpPr>
        <p:spPr>
          <a:xfrm flipH="1" flipV="1">
            <a:off x="3633823" y="5215107"/>
            <a:ext cx="1564757" cy="82376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화살표 연결선 35"/>
          <p:cNvCxnSpPr>
            <a:stCxn id="30" idx="0"/>
            <a:endCxn id="23" idx="2"/>
          </p:cNvCxnSpPr>
          <p:nvPr/>
        </p:nvCxnSpPr>
        <p:spPr>
          <a:xfrm flipV="1">
            <a:off x="5198580" y="5172597"/>
            <a:ext cx="2342494" cy="86627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406002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/>
          <p:cNvSpPr txBox="1"/>
          <p:nvPr/>
        </p:nvSpPr>
        <p:spPr>
          <a:xfrm>
            <a:off x="591947" y="445095"/>
            <a:ext cx="4432624" cy="2308324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sz="2400" smtClean="0">
                <a:latin typeface="Consolas" panose="020B0609020204030204" pitchFamily="49" charset="0"/>
              </a:rPr>
              <a:t>#!/bin/sh</a:t>
            </a:r>
          </a:p>
          <a:p>
            <a:r>
              <a:rPr lang="en-US" altLang="ko-KR" sz="2400" smtClean="0">
                <a:latin typeface="Consolas" panose="020B0609020204030204" pitchFamily="49" charset="0"/>
              </a:rPr>
              <a:t>set -x</a:t>
            </a:r>
          </a:p>
          <a:p>
            <a:endParaRPr lang="en-US" altLang="ko-KR" sz="2400">
              <a:latin typeface="Consolas" panose="020B0609020204030204" pitchFamily="49" charset="0"/>
            </a:endParaRPr>
          </a:p>
          <a:p>
            <a:r>
              <a:rPr lang="en-US" altLang="ko-KR" sz="2400" smtClean="0">
                <a:latin typeface="Consolas" panose="020B0609020204030204" pitchFamily="49" charset="0"/>
              </a:rPr>
              <a:t>gcc -c main.c -o main.o</a:t>
            </a:r>
          </a:p>
          <a:p>
            <a:r>
              <a:rPr lang="en-US" altLang="ko-KR" sz="2400" smtClean="0">
                <a:latin typeface="Consolas" panose="020B0609020204030204" pitchFamily="49" charset="0"/>
              </a:rPr>
              <a:t>gcc -c add.c -o add.o</a:t>
            </a:r>
          </a:p>
          <a:p>
            <a:r>
              <a:rPr lang="en-US" altLang="ko-KR" sz="2400" smtClean="0">
                <a:latin typeface="Consolas" panose="020B0609020204030204" pitchFamily="49" charset="0"/>
              </a:rPr>
              <a:t>gcc main.o add.o -o hello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62959" y="2889050"/>
            <a:ext cx="10342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smtClean="0">
                <a:latin typeface="Consolas" panose="020B0609020204030204" pitchFamily="49" charset="0"/>
              </a:rPr>
              <a:t>cc.sh</a:t>
            </a:r>
            <a:endParaRPr lang="ko-KR" altLang="en-US" sz="2400" smtClean="0">
              <a:latin typeface="Consolas" panose="020B0609020204030204" pitchFamily="49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15422" y="3955850"/>
            <a:ext cx="4772460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smtClean="0">
                <a:latin typeface="Consolas" panose="020B0609020204030204" pitchFamily="49" charset="0"/>
              </a:rPr>
              <a:t>$ sh cc.sh</a:t>
            </a:r>
          </a:p>
          <a:p>
            <a:r>
              <a:rPr lang="en-US" altLang="ko-KR" sz="2400" smtClean="0">
                <a:latin typeface="Consolas" panose="020B0609020204030204" pitchFamily="49" charset="0"/>
              </a:rPr>
              <a:t>+ gcc -c main.c -o main.o</a:t>
            </a:r>
          </a:p>
          <a:p>
            <a:r>
              <a:rPr lang="en-US" altLang="ko-KR" sz="2400" smtClean="0">
                <a:latin typeface="Consolas" panose="020B0609020204030204" pitchFamily="49" charset="0"/>
              </a:rPr>
              <a:t>+ gcc -c add.c -o add.o</a:t>
            </a:r>
          </a:p>
          <a:p>
            <a:r>
              <a:rPr lang="en-US" altLang="ko-KR" sz="2400" smtClean="0">
                <a:latin typeface="Consolas" panose="020B0609020204030204" pitchFamily="49" charset="0"/>
              </a:rPr>
              <a:t>+ gcc main.o add.o -o hello</a:t>
            </a:r>
          </a:p>
          <a:p>
            <a:endParaRPr lang="ko-KR" altLang="en-US" sz="2400" smtClean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48192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/>
          <p:cNvSpPr txBox="1"/>
          <p:nvPr/>
        </p:nvSpPr>
        <p:spPr>
          <a:xfrm>
            <a:off x="591947" y="445095"/>
            <a:ext cx="4432624" cy="2308324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sz="2400" smtClean="0">
                <a:latin typeface="Consolas" panose="020B0609020204030204" pitchFamily="49" charset="0"/>
              </a:rPr>
              <a:t>#!/bin/sh</a:t>
            </a:r>
          </a:p>
          <a:p>
            <a:r>
              <a:rPr lang="en-US" altLang="ko-KR" sz="2400" smtClean="0">
                <a:latin typeface="Consolas" panose="020B0609020204030204" pitchFamily="49" charset="0"/>
              </a:rPr>
              <a:t>set -x</a:t>
            </a:r>
          </a:p>
          <a:p>
            <a:endParaRPr lang="en-US" altLang="ko-KR" sz="2400">
              <a:latin typeface="Consolas" panose="020B0609020204030204" pitchFamily="49" charset="0"/>
            </a:endParaRPr>
          </a:p>
          <a:p>
            <a:r>
              <a:rPr lang="en-US" altLang="ko-KR" sz="2400" smtClean="0">
                <a:latin typeface="Consolas" panose="020B0609020204030204" pitchFamily="49" charset="0"/>
              </a:rPr>
              <a:t>gcc -c main.c -o main.o</a:t>
            </a:r>
          </a:p>
          <a:p>
            <a:r>
              <a:rPr lang="en-US" altLang="ko-KR" sz="2400" smtClean="0">
                <a:latin typeface="Consolas" panose="020B0609020204030204" pitchFamily="49" charset="0"/>
              </a:rPr>
              <a:t>gcc -c add.c -o add.o</a:t>
            </a:r>
          </a:p>
          <a:p>
            <a:r>
              <a:rPr lang="en-US" altLang="ko-KR" sz="2400" smtClean="0">
                <a:latin typeface="Consolas" panose="020B0609020204030204" pitchFamily="49" charset="0"/>
              </a:rPr>
              <a:t>gcc main.o add.o -o hello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62959" y="2889050"/>
            <a:ext cx="10342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smtClean="0">
                <a:latin typeface="Consolas" panose="020B0609020204030204" pitchFamily="49" charset="0"/>
              </a:rPr>
              <a:t>cc.sh</a:t>
            </a:r>
            <a:endParaRPr lang="ko-KR" altLang="en-US" sz="2400" smtClean="0">
              <a:latin typeface="Consolas" panose="020B0609020204030204" pitchFamily="49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15422" y="3955850"/>
            <a:ext cx="4772460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smtClean="0">
                <a:latin typeface="Consolas" panose="020B0609020204030204" pitchFamily="49" charset="0"/>
              </a:rPr>
              <a:t>$ sh cc.sh</a:t>
            </a:r>
          </a:p>
          <a:p>
            <a:r>
              <a:rPr lang="en-US" altLang="ko-KR" sz="2400" smtClean="0">
                <a:latin typeface="Consolas" panose="020B0609020204030204" pitchFamily="49" charset="0"/>
              </a:rPr>
              <a:t>+ gcc -c main.c -o main.o</a:t>
            </a:r>
          </a:p>
          <a:p>
            <a:r>
              <a:rPr lang="en-US" altLang="ko-KR" sz="2400" smtClean="0">
                <a:latin typeface="Consolas" panose="020B0609020204030204" pitchFamily="49" charset="0"/>
              </a:rPr>
              <a:t>+ gcc -c add.c -o add.o</a:t>
            </a:r>
          </a:p>
          <a:p>
            <a:r>
              <a:rPr lang="en-US" altLang="ko-KR" sz="2400" smtClean="0">
                <a:latin typeface="Consolas" panose="020B0609020204030204" pitchFamily="49" charset="0"/>
              </a:rPr>
              <a:t>+ gcc main.o add.o -o hello</a:t>
            </a:r>
          </a:p>
          <a:p>
            <a:endParaRPr lang="ko-KR" altLang="en-US" sz="2400" smtClean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929324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/>
          <p:cNvSpPr txBox="1"/>
          <p:nvPr/>
        </p:nvSpPr>
        <p:spPr>
          <a:xfrm>
            <a:off x="591947" y="445095"/>
            <a:ext cx="5112297" cy="3046988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sz="2400" smtClean="0">
                <a:latin typeface="Consolas" panose="020B0609020204030204" pitchFamily="49" charset="0"/>
              </a:rPr>
              <a:t>hello : main.o add.o</a:t>
            </a:r>
          </a:p>
          <a:p>
            <a:r>
              <a:rPr lang="en-US" altLang="ko-KR" sz="2400" smtClean="0">
                <a:latin typeface="Consolas" panose="020B0609020204030204" pitchFamily="49" charset="0"/>
              </a:rPr>
              <a:t>    gcc main.o add.o -o hello</a:t>
            </a:r>
          </a:p>
          <a:p>
            <a:endParaRPr lang="en-US" altLang="ko-KR" sz="2400" smtClean="0">
              <a:latin typeface="Consolas" panose="020B0609020204030204" pitchFamily="49" charset="0"/>
            </a:endParaRPr>
          </a:p>
          <a:p>
            <a:r>
              <a:rPr lang="en-US" altLang="ko-KR" sz="2400" smtClean="0">
                <a:latin typeface="Consolas" panose="020B0609020204030204" pitchFamily="49" charset="0"/>
              </a:rPr>
              <a:t>main.o : main.c</a:t>
            </a:r>
          </a:p>
          <a:p>
            <a:r>
              <a:rPr lang="en-US" altLang="ko-KR" sz="2400" smtClean="0">
                <a:latin typeface="Consolas" panose="020B0609020204030204" pitchFamily="49" charset="0"/>
              </a:rPr>
              <a:t>    gcc -c main.c -o main.o</a:t>
            </a:r>
          </a:p>
          <a:p>
            <a:endParaRPr lang="en-US" altLang="ko-KR" sz="2400" smtClean="0">
              <a:latin typeface="Consolas" panose="020B0609020204030204" pitchFamily="49" charset="0"/>
            </a:endParaRPr>
          </a:p>
          <a:p>
            <a:r>
              <a:rPr lang="en-US" altLang="ko-KR" sz="2400" smtClean="0">
                <a:latin typeface="Consolas" panose="020B0609020204030204" pitchFamily="49" charset="0"/>
              </a:rPr>
              <a:t>add.o : add.c</a:t>
            </a:r>
          </a:p>
          <a:p>
            <a:r>
              <a:rPr lang="en-US" altLang="ko-KR" sz="2400" smtClean="0">
                <a:latin typeface="Consolas" panose="020B0609020204030204" pitchFamily="49" charset="0"/>
              </a:rPr>
              <a:t>    gcc -c add.c -o add.o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997242" y="3681663"/>
            <a:ext cx="176202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smtClean="0">
                <a:latin typeface="Consolas" panose="020B0609020204030204" pitchFamily="49" charset="0"/>
              </a:rPr>
              <a:t>Makefile</a:t>
            </a:r>
            <a:endParaRPr lang="ko-KR" altLang="en-US" sz="2800" smtClean="0">
              <a:latin typeface="Consolas" panose="020B0609020204030204" pitchFamily="49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720031" y="445095"/>
            <a:ext cx="5452134" cy="4893647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sz="2400" smtClean="0">
                <a:latin typeface="Consolas" panose="020B0609020204030204" pitchFamily="49" charset="0"/>
              </a:rPr>
              <a:t>TARGET = hello</a:t>
            </a:r>
          </a:p>
          <a:p>
            <a:r>
              <a:rPr lang="en-US" altLang="ko-KR" sz="2400" smtClean="0">
                <a:latin typeface="Consolas" panose="020B0609020204030204" pitchFamily="49" charset="0"/>
              </a:rPr>
              <a:t>OBJS = main.o add.o</a:t>
            </a:r>
          </a:p>
          <a:p>
            <a:r>
              <a:rPr lang="en-US" altLang="ko-KR" sz="2400" smtClean="0">
                <a:latin typeface="Consolas" panose="020B0609020204030204" pitchFamily="49" charset="0"/>
              </a:rPr>
              <a:t>CC = gcc</a:t>
            </a:r>
          </a:p>
          <a:p>
            <a:r>
              <a:rPr lang="en-US" altLang="ko-KR" sz="2400" smtClean="0">
                <a:latin typeface="Consolas" panose="020B0609020204030204" pitchFamily="49" charset="0"/>
              </a:rPr>
              <a:t>CFLAGS = -c</a:t>
            </a:r>
          </a:p>
          <a:p>
            <a:endParaRPr lang="en-US" altLang="ko-KR" sz="2400" smtClean="0">
              <a:latin typeface="Consolas" panose="020B0609020204030204" pitchFamily="49" charset="0"/>
            </a:endParaRPr>
          </a:p>
          <a:p>
            <a:r>
              <a:rPr lang="en-US" altLang="ko-KR" sz="2400" smtClean="0">
                <a:latin typeface="Consolas" panose="020B0609020204030204" pitchFamily="49" charset="0"/>
              </a:rPr>
              <a:t>$(TARGET) : $(OBJS)</a:t>
            </a:r>
          </a:p>
          <a:p>
            <a:r>
              <a:rPr lang="en-US" altLang="ko-KR" sz="2400" smtClean="0">
                <a:latin typeface="Consolas" panose="020B0609020204030204" pitchFamily="49" charset="0"/>
              </a:rPr>
              <a:t>    $(CC)  $(OBJS) -o $(TARGET)</a:t>
            </a:r>
          </a:p>
          <a:p>
            <a:endParaRPr lang="en-US" altLang="ko-KR" sz="2400" smtClean="0">
              <a:latin typeface="Consolas" panose="020B0609020204030204" pitchFamily="49" charset="0"/>
            </a:endParaRPr>
          </a:p>
          <a:p>
            <a:r>
              <a:rPr lang="en-US" altLang="ko-KR" sz="2400" smtClean="0">
                <a:latin typeface="Consolas" panose="020B0609020204030204" pitchFamily="49" charset="0"/>
              </a:rPr>
              <a:t>.c.o :</a:t>
            </a:r>
          </a:p>
          <a:p>
            <a:r>
              <a:rPr lang="en-US" altLang="ko-KR" sz="2400" smtClean="0">
                <a:latin typeface="Consolas" panose="020B0609020204030204" pitchFamily="49" charset="0"/>
              </a:rPr>
              <a:t>    $(CC) $(CFLAGS) $&lt;</a:t>
            </a:r>
          </a:p>
          <a:p>
            <a:endParaRPr lang="en-US" altLang="ko-KR" sz="2400">
              <a:latin typeface="Consolas" panose="020B0609020204030204" pitchFamily="49" charset="0"/>
            </a:endParaRPr>
          </a:p>
          <a:p>
            <a:r>
              <a:rPr lang="en-US" altLang="ko-KR" sz="2400" smtClean="0">
                <a:latin typeface="Consolas" panose="020B0609020204030204" pitchFamily="49" charset="0"/>
              </a:rPr>
              <a:t>clean :</a:t>
            </a:r>
          </a:p>
          <a:p>
            <a:r>
              <a:rPr lang="en-US" altLang="ko-KR" sz="2400" smtClean="0">
                <a:latin typeface="Consolas" panose="020B0609020204030204" pitchFamily="49" charset="0"/>
              </a:rPr>
              <a:t>    rm -f $(OBJS) $(TARGET)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25326" y="5526505"/>
            <a:ext cx="176202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smtClean="0">
                <a:latin typeface="Consolas" panose="020B0609020204030204" pitchFamily="49" charset="0"/>
              </a:rPr>
              <a:t>Makefile</a:t>
            </a:r>
            <a:endParaRPr lang="ko-KR" altLang="en-US" sz="2800" smtClean="0">
              <a:latin typeface="Consolas" panose="020B0609020204030204" pitchFamily="49" charset="0"/>
            </a:endParaRPr>
          </a:p>
        </p:txBody>
      </p:sp>
      <p:sp>
        <p:nvSpPr>
          <p:cNvPr id="4" name="오른쪽 화살표 3"/>
          <p:cNvSpPr/>
          <p:nvPr/>
        </p:nvSpPr>
        <p:spPr>
          <a:xfrm>
            <a:off x="6071937" y="1968589"/>
            <a:ext cx="352926" cy="493874"/>
          </a:xfrm>
          <a:prstGeom prst="rightArrow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57419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86063" y="232611"/>
            <a:ext cx="2710999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smtClean="0">
                <a:solidFill>
                  <a:srgbClr val="FF0000"/>
                </a:solidFill>
                <a:latin typeface="Consolas" panose="020B0609020204030204" pitchFamily="49" charset="0"/>
              </a:rPr>
              <a:t>1. type</a:t>
            </a:r>
          </a:p>
          <a:p>
            <a:r>
              <a:rPr lang="en-US" altLang="ko-KR" sz="2400" smtClean="0">
                <a:solidFill>
                  <a:srgbClr val="FF0000"/>
                </a:solidFill>
                <a:latin typeface="Consolas" panose="020B0609020204030204" pitchFamily="49" charset="0"/>
              </a:rPr>
              <a:t>2. </a:t>
            </a:r>
            <a:r>
              <a:rPr lang="ko-KR" altLang="en-US" sz="2400" smtClean="0">
                <a:solidFill>
                  <a:srgbClr val="FF0000"/>
                </a:solidFill>
                <a:latin typeface="Consolas" panose="020B0609020204030204" pitchFamily="49" charset="0"/>
              </a:rPr>
              <a:t>연산자</a:t>
            </a:r>
            <a:endParaRPr lang="en-US" altLang="ko-KR" sz="2400" smtClean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r>
              <a:rPr lang="en-US" altLang="ko-KR" sz="2400" smtClean="0">
                <a:solidFill>
                  <a:srgbClr val="FF0000"/>
                </a:solidFill>
                <a:latin typeface="Consolas" panose="020B0609020204030204" pitchFamily="49" charset="0"/>
              </a:rPr>
              <a:t>3. </a:t>
            </a:r>
            <a:r>
              <a:rPr lang="ko-KR" altLang="en-US" sz="2400" smtClean="0">
                <a:solidFill>
                  <a:srgbClr val="FF0000"/>
                </a:solidFill>
                <a:latin typeface="Consolas" panose="020B0609020204030204" pitchFamily="49" charset="0"/>
              </a:rPr>
              <a:t>제어문</a:t>
            </a:r>
            <a:endParaRPr lang="en-US" altLang="ko-KR" sz="2400" smtClean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r>
              <a:rPr lang="en-US" altLang="ko-KR" sz="2400" smtClean="0">
                <a:solidFill>
                  <a:srgbClr val="FF0000"/>
                </a:solidFill>
                <a:latin typeface="Consolas" panose="020B0609020204030204" pitchFamily="49" charset="0"/>
              </a:rPr>
              <a:t>4. </a:t>
            </a:r>
            <a:r>
              <a:rPr lang="ko-KR" altLang="en-US" sz="2400" smtClean="0">
                <a:solidFill>
                  <a:srgbClr val="FF0000"/>
                </a:solidFill>
                <a:latin typeface="Consolas" panose="020B0609020204030204" pitchFamily="49" charset="0"/>
              </a:rPr>
              <a:t>배열과 포인터</a:t>
            </a:r>
            <a:endParaRPr lang="en-US" altLang="ko-KR" sz="2400" smtClean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r>
              <a:rPr lang="en-US" altLang="ko-KR" sz="2400" smtClean="0">
                <a:solidFill>
                  <a:srgbClr val="FF0000"/>
                </a:solidFill>
                <a:latin typeface="Consolas" panose="020B0609020204030204" pitchFamily="49" charset="0"/>
              </a:rPr>
              <a:t>5. </a:t>
            </a:r>
            <a:r>
              <a:rPr lang="ko-KR" altLang="en-US" sz="2400" smtClean="0">
                <a:solidFill>
                  <a:srgbClr val="FF0000"/>
                </a:solidFill>
                <a:latin typeface="Consolas" panose="020B0609020204030204" pitchFamily="49" charset="0"/>
              </a:rPr>
              <a:t>함수</a:t>
            </a:r>
            <a:endParaRPr lang="en-US" altLang="ko-KR" sz="2400" smtClean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r>
              <a:rPr lang="en-US" altLang="ko-KR" sz="2400" smtClean="0">
                <a:latin typeface="Consolas" panose="020B0609020204030204" pitchFamily="49" charset="0"/>
              </a:rPr>
              <a:t>6. </a:t>
            </a:r>
            <a:r>
              <a:rPr lang="ko-KR" altLang="en-US" sz="2400" smtClean="0">
                <a:latin typeface="Consolas" panose="020B0609020204030204" pitchFamily="49" charset="0"/>
              </a:rPr>
              <a:t>구조체</a:t>
            </a:r>
            <a:endParaRPr lang="en-US" altLang="ko-KR" sz="2400" smtClean="0">
              <a:latin typeface="Consolas" panose="020B0609020204030204" pitchFamily="49" charset="0"/>
            </a:endParaRPr>
          </a:p>
          <a:p>
            <a:r>
              <a:rPr lang="en-US" altLang="ko-KR" sz="2400" smtClean="0">
                <a:latin typeface="Consolas" panose="020B0609020204030204" pitchFamily="49" charset="0"/>
              </a:rPr>
              <a:t>7. </a:t>
            </a:r>
            <a:r>
              <a:rPr lang="ko-KR" altLang="en-US" sz="2400" smtClean="0">
                <a:latin typeface="Consolas" panose="020B0609020204030204" pitchFamily="49" charset="0"/>
              </a:rPr>
              <a:t>파일입출력</a:t>
            </a:r>
          </a:p>
        </p:txBody>
      </p:sp>
    </p:spTree>
    <p:extLst>
      <p:ext uri="{BB962C8B-B14F-4D97-AF65-F5344CB8AC3E}">
        <p14:creationId xmlns:p14="http://schemas.microsoft.com/office/powerpoint/2010/main" val="24555763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86063" y="232611"/>
            <a:ext cx="1105943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smtClean="0">
                <a:latin typeface="Consolas" panose="020B0609020204030204" pitchFamily="49" charset="0"/>
              </a:rPr>
              <a:t>1. type : </a:t>
            </a:r>
            <a:r>
              <a:rPr lang="en-US" altLang="ko-KR" sz="2400" smtClean="0">
                <a:solidFill>
                  <a:srgbClr val="FF0000"/>
                </a:solidFill>
                <a:latin typeface="Consolas" panose="020B0609020204030204" pitchFamily="49" charset="0"/>
              </a:rPr>
              <a:t>int</a:t>
            </a:r>
            <a:r>
              <a:rPr lang="en-US" altLang="ko-KR" sz="2400" smtClean="0">
                <a:latin typeface="Consolas" panose="020B0609020204030204" pitchFamily="49" charset="0"/>
              </a:rPr>
              <a:t>, </a:t>
            </a:r>
            <a:r>
              <a:rPr lang="en-US" altLang="ko-KR" sz="2400" smtClean="0">
                <a:solidFill>
                  <a:srgbClr val="FF0000"/>
                </a:solidFill>
                <a:latin typeface="Consolas" panose="020B0609020204030204" pitchFamily="49" charset="0"/>
              </a:rPr>
              <a:t>char</a:t>
            </a:r>
            <a:r>
              <a:rPr lang="en-US" altLang="ko-KR" sz="2400" smtClean="0">
                <a:latin typeface="Consolas" panose="020B0609020204030204" pitchFamily="49" charset="0"/>
              </a:rPr>
              <a:t>, short int, long int, </a:t>
            </a:r>
            <a:r>
              <a:rPr lang="en-US" altLang="ko-KR" sz="2400" smtClean="0">
                <a:solidFill>
                  <a:srgbClr val="FF0000"/>
                </a:solidFill>
                <a:latin typeface="Consolas" panose="020B0609020204030204" pitchFamily="49" charset="0"/>
              </a:rPr>
              <a:t>float</a:t>
            </a:r>
            <a:r>
              <a:rPr lang="en-US" altLang="ko-KR" sz="2400" smtClean="0">
                <a:latin typeface="Consolas" panose="020B0609020204030204" pitchFamily="49" charset="0"/>
              </a:rPr>
              <a:t>, unsigned char,</a:t>
            </a:r>
          </a:p>
          <a:p>
            <a:r>
              <a:rPr lang="en-US" altLang="ko-KR" sz="2400" smtClean="0">
                <a:latin typeface="Consolas" panose="020B0609020204030204" pitchFamily="49" charset="0"/>
              </a:rPr>
              <a:t>long long int, signed char, </a:t>
            </a:r>
            <a:r>
              <a:rPr lang="en-US" altLang="ko-KR" sz="2400" smtClean="0">
                <a:solidFill>
                  <a:srgbClr val="FF0000"/>
                </a:solidFill>
                <a:latin typeface="Consolas" panose="020B0609020204030204" pitchFamily="49" charset="0"/>
              </a:rPr>
              <a:t>double</a:t>
            </a:r>
            <a:r>
              <a:rPr lang="en-US" altLang="ko-KR" sz="2400" smtClean="0">
                <a:latin typeface="Consolas" panose="020B0609020204030204" pitchFamily="49" charset="0"/>
              </a:rPr>
              <a:t>, ...</a:t>
            </a:r>
          </a:p>
        </p:txBody>
      </p:sp>
    </p:spTree>
    <p:extLst>
      <p:ext uri="{BB962C8B-B14F-4D97-AF65-F5344CB8AC3E}">
        <p14:creationId xmlns:p14="http://schemas.microsoft.com/office/powerpoint/2010/main" val="18358515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86063" y="232611"/>
            <a:ext cx="17139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smtClean="0">
                <a:latin typeface="Consolas" panose="020B0609020204030204" pitchFamily="49" charset="0"/>
              </a:rPr>
              <a:t>1. type :</a:t>
            </a:r>
          </a:p>
        </p:txBody>
      </p:sp>
      <p:cxnSp>
        <p:nvCxnSpPr>
          <p:cNvPr id="3" name="직선 연결선 2"/>
          <p:cNvCxnSpPr/>
          <p:nvPr/>
        </p:nvCxnSpPr>
        <p:spPr>
          <a:xfrm>
            <a:off x="721895" y="3007895"/>
            <a:ext cx="962526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037347" y="954505"/>
            <a:ext cx="37337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smtClean="0">
                <a:latin typeface="Consolas" panose="020B0609020204030204" pitchFamily="49" charset="0"/>
              </a:rPr>
              <a:t>char  1byte   8bit</a:t>
            </a:r>
            <a:endParaRPr lang="ko-KR" altLang="en-US" sz="2800" smtClean="0">
              <a:latin typeface="Consolas" panose="020B0609020204030204" pitchFamily="49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037347" y="2101515"/>
            <a:ext cx="39308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smtClean="0">
                <a:latin typeface="Consolas" panose="020B0609020204030204" pitchFamily="49" charset="0"/>
              </a:rPr>
              <a:t>int   4byte   32bit</a:t>
            </a:r>
            <a:endParaRPr lang="ko-KR" altLang="en-US" sz="2800" smtClean="0">
              <a:latin typeface="Consolas" panose="020B0609020204030204" pitchFamily="49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037347" y="3651285"/>
            <a:ext cx="452239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smtClean="0">
                <a:latin typeface="Consolas" panose="020B0609020204030204" pitchFamily="49" charset="0"/>
              </a:rPr>
              <a:t>float   4byte    32bit</a:t>
            </a:r>
            <a:endParaRPr lang="ko-KR" altLang="en-US" sz="2800" smtClean="0">
              <a:latin typeface="Consolas" panose="020B0609020204030204" pitchFamily="49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037347" y="4798295"/>
            <a:ext cx="452239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smtClean="0">
                <a:latin typeface="Consolas" panose="020B0609020204030204" pitchFamily="49" charset="0"/>
              </a:rPr>
              <a:t>double  8byte    64bit</a:t>
            </a:r>
            <a:endParaRPr lang="ko-KR" altLang="en-US" sz="2800" smtClean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59738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86063" y="232611"/>
            <a:ext cx="17139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smtClean="0">
                <a:latin typeface="Consolas" panose="020B0609020204030204" pitchFamily="49" charset="0"/>
              </a:rPr>
              <a:t>1. type 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37347" y="954505"/>
            <a:ext cx="37337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smtClean="0">
                <a:latin typeface="Consolas" panose="020B0609020204030204" pitchFamily="49" charset="0"/>
              </a:rPr>
              <a:t>char  1byte   8bit</a:t>
            </a:r>
            <a:endParaRPr lang="ko-KR" altLang="en-US" sz="2800" smtClean="0">
              <a:latin typeface="Consolas" panose="020B0609020204030204" pitchFamily="49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14400" y="1477725"/>
            <a:ext cx="5311069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smtClean="0">
                <a:latin typeface="Consolas" panose="020B0609020204030204" pitchFamily="49" charset="0"/>
              </a:rPr>
              <a:t>char ch = 200;</a:t>
            </a:r>
          </a:p>
          <a:p>
            <a:r>
              <a:rPr lang="en-US" altLang="ko-KR" sz="2800" smtClean="0">
                <a:latin typeface="Consolas" panose="020B0609020204030204" pitchFamily="49" charset="0"/>
              </a:rPr>
              <a:t>printf("%d\n", ch); // -56</a:t>
            </a:r>
            <a:endParaRPr lang="ko-KR" altLang="en-US" sz="2800" smtClean="0">
              <a:latin typeface="Consolas" panose="020B0609020204030204" pitchFamily="49" charset="0"/>
            </a:endParaRPr>
          </a:p>
        </p:txBody>
      </p:sp>
      <p:sp>
        <p:nvSpPr>
          <p:cNvPr id="71" name="직사각형 70"/>
          <p:cNvSpPr/>
          <p:nvPr/>
        </p:nvSpPr>
        <p:spPr>
          <a:xfrm>
            <a:off x="4589258" y="3317367"/>
            <a:ext cx="612656" cy="545432"/>
          </a:xfrm>
          <a:prstGeom prst="rect">
            <a:avLst/>
          </a:prstGeom>
          <a:solidFill>
            <a:srgbClr val="FFC0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2" name="직사각형 71"/>
          <p:cNvSpPr/>
          <p:nvPr/>
        </p:nvSpPr>
        <p:spPr>
          <a:xfrm>
            <a:off x="5201915" y="3317367"/>
            <a:ext cx="612656" cy="545432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3" name="직사각형 72"/>
          <p:cNvSpPr/>
          <p:nvPr/>
        </p:nvSpPr>
        <p:spPr>
          <a:xfrm>
            <a:off x="5814571" y="3317367"/>
            <a:ext cx="612656" cy="545432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4" name="직사각형 73"/>
          <p:cNvSpPr/>
          <p:nvPr/>
        </p:nvSpPr>
        <p:spPr>
          <a:xfrm>
            <a:off x="6427228" y="3317367"/>
            <a:ext cx="612656" cy="545432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5" name="직사각형 74"/>
          <p:cNvSpPr/>
          <p:nvPr/>
        </p:nvSpPr>
        <p:spPr>
          <a:xfrm>
            <a:off x="7039884" y="3317367"/>
            <a:ext cx="612656" cy="545432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6" name="직사각형 75"/>
          <p:cNvSpPr/>
          <p:nvPr/>
        </p:nvSpPr>
        <p:spPr>
          <a:xfrm>
            <a:off x="7652541" y="3317367"/>
            <a:ext cx="612656" cy="545432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7" name="직사각형 76"/>
          <p:cNvSpPr/>
          <p:nvPr/>
        </p:nvSpPr>
        <p:spPr>
          <a:xfrm>
            <a:off x="8265197" y="3317367"/>
            <a:ext cx="612656" cy="545432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18" name="직사각형 117"/>
          <p:cNvSpPr/>
          <p:nvPr/>
        </p:nvSpPr>
        <p:spPr>
          <a:xfrm>
            <a:off x="8877854" y="3317367"/>
            <a:ext cx="612656" cy="545432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21" name="직사각형 120"/>
          <p:cNvSpPr/>
          <p:nvPr/>
        </p:nvSpPr>
        <p:spPr>
          <a:xfrm>
            <a:off x="4589258" y="2868188"/>
            <a:ext cx="612656" cy="5454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128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22" name="직사각형 121"/>
          <p:cNvSpPr/>
          <p:nvPr/>
        </p:nvSpPr>
        <p:spPr>
          <a:xfrm>
            <a:off x="5201915" y="2868188"/>
            <a:ext cx="612656" cy="5454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64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23" name="직사각형 122"/>
          <p:cNvSpPr/>
          <p:nvPr/>
        </p:nvSpPr>
        <p:spPr>
          <a:xfrm>
            <a:off x="5814571" y="2868188"/>
            <a:ext cx="612656" cy="5454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32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24" name="직사각형 123"/>
          <p:cNvSpPr/>
          <p:nvPr/>
        </p:nvSpPr>
        <p:spPr>
          <a:xfrm>
            <a:off x="6427228" y="2868188"/>
            <a:ext cx="612656" cy="5454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16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25" name="직사각형 124"/>
          <p:cNvSpPr/>
          <p:nvPr/>
        </p:nvSpPr>
        <p:spPr>
          <a:xfrm>
            <a:off x="7039884" y="2868188"/>
            <a:ext cx="612656" cy="5454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8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26" name="직사각형 125"/>
          <p:cNvSpPr/>
          <p:nvPr/>
        </p:nvSpPr>
        <p:spPr>
          <a:xfrm>
            <a:off x="7652541" y="2868188"/>
            <a:ext cx="612656" cy="5454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4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27" name="직사각형 126"/>
          <p:cNvSpPr/>
          <p:nvPr/>
        </p:nvSpPr>
        <p:spPr>
          <a:xfrm>
            <a:off x="8265197" y="2868188"/>
            <a:ext cx="612656" cy="5454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2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28" name="직사각형 127"/>
          <p:cNvSpPr/>
          <p:nvPr/>
        </p:nvSpPr>
        <p:spPr>
          <a:xfrm>
            <a:off x="8877854" y="2868188"/>
            <a:ext cx="612656" cy="5454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29" name="직사각형 128"/>
          <p:cNvSpPr/>
          <p:nvPr/>
        </p:nvSpPr>
        <p:spPr>
          <a:xfrm>
            <a:off x="4589258" y="2547346"/>
            <a:ext cx="612656" cy="5454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s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0" name="TextBox 129"/>
              <p:cNvSpPr txBox="1"/>
              <p:nvPr/>
            </p:nvSpPr>
            <p:spPr>
              <a:xfrm>
                <a:off x="621893" y="4586090"/>
                <a:ext cx="2917209" cy="135421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4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ko-KR" sz="4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44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</m:e>
                        <m:sup>
                          <m:r>
                            <a:rPr lang="en-US" altLang="ko-KR" sz="4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p>
                      </m:sSup>
                      <m:r>
                        <a:rPr lang="en-US" altLang="ko-KR" sz="4400" b="0" i="1" smtClean="0">
                          <a:latin typeface="Cambria Math" panose="02040503050406030204" pitchFamily="18" charset="0"/>
                        </a:rPr>
                        <m:t>∗56</m:t>
                      </m:r>
                    </m:oMath>
                  </m:oMathPara>
                </a14:m>
                <a:endParaRPr lang="en-US" altLang="ko-KR" sz="4400" b="0" smtClean="0">
                  <a:latin typeface="Consolas" panose="020B0609020204030204" pitchFamily="49" charset="0"/>
                </a:endParaRPr>
              </a:p>
              <a:p>
                <a:endParaRPr lang="ko-KR" altLang="en-US" sz="4400" smtClean="0">
                  <a:latin typeface="Consolas" panose="020B0609020204030204" pitchFamily="49" charset="0"/>
                </a:endParaRPr>
              </a:p>
            </p:txBody>
          </p:sp>
        </mc:Choice>
        <mc:Fallback xmlns="">
          <p:sp>
            <p:nvSpPr>
              <p:cNvPr id="130" name="TextBox 1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893" y="4586090"/>
                <a:ext cx="2917209" cy="135421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1" name="직사각형 130"/>
          <p:cNvSpPr/>
          <p:nvPr/>
        </p:nvSpPr>
        <p:spPr>
          <a:xfrm>
            <a:off x="4589257" y="4121970"/>
            <a:ext cx="612656" cy="545432"/>
          </a:xfrm>
          <a:prstGeom prst="rect">
            <a:avLst/>
          </a:prstGeom>
          <a:solidFill>
            <a:srgbClr val="FFC0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32" name="직사각형 131"/>
          <p:cNvSpPr/>
          <p:nvPr/>
        </p:nvSpPr>
        <p:spPr>
          <a:xfrm>
            <a:off x="5201914" y="4121970"/>
            <a:ext cx="612656" cy="545432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33" name="직사각형 132"/>
          <p:cNvSpPr/>
          <p:nvPr/>
        </p:nvSpPr>
        <p:spPr>
          <a:xfrm>
            <a:off x="5814570" y="4121970"/>
            <a:ext cx="612656" cy="545432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34" name="직사각형 133"/>
          <p:cNvSpPr/>
          <p:nvPr/>
        </p:nvSpPr>
        <p:spPr>
          <a:xfrm>
            <a:off x="6427227" y="4121970"/>
            <a:ext cx="612656" cy="545432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35" name="직사각형 134"/>
          <p:cNvSpPr/>
          <p:nvPr/>
        </p:nvSpPr>
        <p:spPr>
          <a:xfrm>
            <a:off x="7039883" y="4121970"/>
            <a:ext cx="612656" cy="545432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36" name="직사각형 135"/>
          <p:cNvSpPr/>
          <p:nvPr/>
        </p:nvSpPr>
        <p:spPr>
          <a:xfrm>
            <a:off x="7652540" y="4121970"/>
            <a:ext cx="612656" cy="545432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37" name="직사각형 136"/>
          <p:cNvSpPr/>
          <p:nvPr/>
        </p:nvSpPr>
        <p:spPr>
          <a:xfrm>
            <a:off x="8265196" y="4121970"/>
            <a:ext cx="612656" cy="545432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38" name="직사각형 137"/>
          <p:cNvSpPr/>
          <p:nvPr/>
        </p:nvSpPr>
        <p:spPr>
          <a:xfrm>
            <a:off x="8877853" y="4121970"/>
            <a:ext cx="612656" cy="545432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39" name="직사각형 138"/>
          <p:cNvSpPr/>
          <p:nvPr/>
        </p:nvSpPr>
        <p:spPr>
          <a:xfrm>
            <a:off x="8877853" y="4773420"/>
            <a:ext cx="612656" cy="545432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40" name="TextBox 139"/>
          <p:cNvSpPr txBox="1"/>
          <p:nvPr/>
        </p:nvSpPr>
        <p:spPr>
          <a:xfrm>
            <a:off x="3848793" y="5046136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mtClean="0">
                <a:latin typeface="Consolas" panose="020B0609020204030204" pitchFamily="49" charset="0"/>
              </a:rPr>
              <a:t>+</a:t>
            </a:r>
            <a:endParaRPr lang="ko-KR" altLang="en-US" smtClean="0">
              <a:latin typeface="Consolas" panose="020B0609020204030204" pitchFamily="49" charset="0"/>
            </a:endParaRPr>
          </a:p>
        </p:txBody>
      </p:sp>
      <p:sp>
        <p:nvSpPr>
          <p:cNvPr id="141" name="TextBox 140"/>
          <p:cNvSpPr txBox="1"/>
          <p:nvPr/>
        </p:nvSpPr>
        <p:spPr>
          <a:xfrm>
            <a:off x="9623849" y="4197386"/>
            <a:ext cx="1130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mtClean="0">
                <a:latin typeface="Consolas" panose="020B0609020204030204" pitchFamily="49" charset="0"/>
              </a:rPr>
              <a:t>1</a:t>
            </a:r>
            <a:r>
              <a:rPr lang="ko-KR" altLang="en-US" smtClean="0">
                <a:latin typeface="Consolas" panose="020B0609020204030204" pitchFamily="49" charset="0"/>
              </a:rPr>
              <a:t>의 보수</a:t>
            </a:r>
          </a:p>
        </p:txBody>
      </p:sp>
      <p:cxnSp>
        <p:nvCxnSpPr>
          <p:cNvPr id="143" name="직선 연결선 142"/>
          <p:cNvCxnSpPr/>
          <p:nvPr/>
        </p:nvCxnSpPr>
        <p:spPr>
          <a:xfrm flipH="1">
            <a:off x="4160097" y="5415468"/>
            <a:ext cx="557410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4" name="직사각형 143"/>
          <p:cNvSpPr/>
          <p:nvPr/>
        </p:nvSpPr>
        <p:spPr>
          <a:xfrm>
            <a:off x="4589257" y="5512085"/>
            <a:ext cx="612656" cy="545432"/>
          </a:xfrm>
          <a:prstGeom prst="rect">
            <a:avLst/>
          </a:prstGeom>
          <a:solidFill>
            <a:srgbClr val="FFC0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45" name="직사각형 144"/>
          <p:cNvSpPr/>
          <p:nvPr/>
        </p:nvSpPr>
        <p:spPr>
          <a:xfrm>
            <a:off x="5201914" y="5512085"/>
            <a:ext cx="612656" cy="545432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46" name="직사각형 145"/>
          <p:cNvSpPr/>
          <p:nvPr/>
        </p:nvSpPr>
        <p:spPr>
          <a:xfrm>
            <a:off x="5814570" y="5512085"/>
            <a:ext cx="612656" cy="545432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47" name="직사각형 146"/>
          <p:cNvSpPr/>
          <p:nvPr/>
        </p:nvSpPr>
        <p:spPr>
          <a:xfrm>
            <a:off x="6427227" y="5512085"/>
            <a:ext cx="612656" cy="545432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48" name="직사각형 147"/>
          <p:cNvSpPr/>
          <p:nvPr/>
        </p:nvSpPr>
        <p:spPr>
          <a:xfrm>
            <a:off x="7039883" y="5512085"/>
            <a:ext cx="612656" cy="545432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49" name="직사각형 148"/>
          <p:cNvSpPr/>
          <p:nvPr/>
        </p:nvSpPr>
        <p:spPr>
          <a:xfrm>
            <a:off x="7652540" y="5512085"/>
            <a:ext cx="612656" cy="545432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50" name="직사각형 149"/>
          <p:cNvSpPr/>
          <p:nvPr/>
        </p:nvSpPr>
        <p:spPr>
          <a:xfrm>
            <a:off x="8265196" y="5512085"/>
            <a:ext cx="612656" cy="545432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51" name="직사각형 150"/>
          <p:cNvSpPr/>
          <p:nvPr/>
        </p:nvSpPr>
        <p:spPr>
          <a:xfrm>
            <a:off x="8877853" y="5512085"/>
            <a:ext cx="612656" cy="545432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05988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86063" y="232611"/>
            <a:ext cx="17139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smtClean="0">
                <a:latin typeface="Consolas" panose="020B0609020204030204" pitchFamily="49" charset="0"/>
              </a:rPr>
              <a:t>1. type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69533" y="275683"/>
            <a:ext cx="2945037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smtClean="0">
                <a:latin typeface="Consolas" panose="020B0609020204030204" pitchFamily="49" charset="0"/>
              </a:rPr>
              <a:t>char a=5, b=2;</a:t>
            </a:r>
          </a:p>
          <a:p>
            <a:r>
              <a:rPr lang="en-US" altLang="ko-KR" sz="2800" smtClean="0">
                <a:latin typeface="Consolas" panose="020B0609020204030204" pitchFamily="49" charset="0"/>
              </a:rPr>
              <a:t>a-b</a:t>
            </a:r>
            <a:endParaRPr lang="ko-KR" altLang="en-US" sz="2800" smtClean="0">
              <a:latin typeface="Consolas" panose="020B0609020204030204" pitchFamily="49" charset="0"/>
            </a:endParaRPr>
          </a:p>
        </p:txBody>
      </p:sp>
      <p:sp>
        <p:nvSpPr>
          <p:cNvPr id="71" name="직사각형 70"/>
          <p:cNvSpPr/>
          <p:nvPr/>
        </p:nvSpPr>
        <p:spPr>
          <a:xfrm>
            <a:off x="1733763" y="1999811"/>
            <a:ext cx="612656" cy="545432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2" name="직사각형 71"/>
          <p:cNvSpPr/>
          <p:nvPr/>
        </p:nvSpPr>
        <p:spPr>
          <a:xfrm>
            <a:off x="2346420" y="1999811"/>
            <a:ext cx="612656" cy="545432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3" name="직사각형 72"/>
          <p:cNvSpPr/>
          <p:nvPr/>
        </p:nvSpPr>
        <p:spPr>
          <a:xfrm>
            <a:off x="2959076" y="1999811"/>
            <a:ext cx="612656" cy="545432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4" name="직사각형 73"/>
          <p:cNvSpPr/>
          <p:nvPr/>
        </p:nvSpPr>
        <p:spPr>
          <a:xfrm>
            <a:off x="3571733" y="1999811"/>
            <a:ext cx="612656" cy="545432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5" name="직사각형 74"/>
          <p:cNvSpPr/>
          <p:nvPr/>
        </p:nvSpPr>
        <p:spPr>
          <a:xfrm>
            <a:off x="4184389" y="1999811"/>
            <a:ext cx="612656" cy="545432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6" name="직사각형 75"/>
          <p:cNvSpPr/>
          <p:nvPr/>
        </p:nvSpPr>
        <p:spPr>
          <a:xfrm>
            <a:off x="4797046" y="1999811"/>
            <a:ext cx="612656" cy="545432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7" name="직사각형 76"/>
          <p:cNvSpPr/>
          <p:nvPr/>
        </p:nvSpPr>
        <p:spPr>
          <a:xfrm>
            <a:off x="5409702" y="1999811"/>
            <a:ext cx="612656" cy="545432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18" name="직사각형 117"/>
          <p:cNvSpPr/>
          <p:nvPr/>
        </p:nvSpPr>
        <p:spPr>
          <a:xfrm>
            <a:off x="6022359" y="1999811"/>
            <a:ext cx="612656" cy="545432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21" name="직사각형 120"/>
          <p:cNvSpPr/>
          <p:nvPr/>
        </p:nvSpPr>
        <p:spPr>
          <a:xfrm>
            <a:off x="1733763" y="1550632"/>
            <a:ext cx="612656" cy="5454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128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22" name="직사각형 121"/>
          <p:cNvSpPr/>
          <p:nvPr/>
        </p:nvSpPr>
        <p:spPr>
          <a:xfrm>
            <a:off x="2346420" y="1550632"/>
            <a:ext cx="612656" cy="5454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64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23" name="직사각형 122"/>
          <p:cNvSpPr/>
          <p:nvPr/>
        </p:nvSpPr>
        <p:spPr>
          <a:xfrm>
            <a:off x="2959076" y="1550632"/>
            <a:ext cx="612656" cy="5454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32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24" name="직사각형 123"/>
          <p:cNvSpPr/>
          <p:nvPr/>
        </p:nvSpPr>
        <p:spPr>
          <a:xfrm>
            <a:off x="3571733" y="1550632"/>
            <a:ext cx="612656" cy="5454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16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25" name="직사각형 124"/>
          <p:cNvSpPr/>
          <p:nvPr/>
        </p:nvSpPr>
        <p:spPr>
          <a:xfrm>
            <a:off x="4184389" y="1550632"/>
            <a:ext cx="612656" cy="5454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8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26" name="직사각형 125"/>
          <p:cNvSpPr/>
          <p:nvPr/>
        </p:nvSpPr>
        <p:spPr>
          <a:xfrm>
            <a:off x="4797046" y="1550632"/>
            <a:ext cx="612656" cy="5454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4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27" name="직사각형 126"/>
          <p:cNvSpPr/>
          <p:nvPr/>
        </p:nvSpPr>
        <p:spPr>
          <a:xfrm>
            <a:off x="5409702" y="1550632"/>
            <a:ext cx="612656" cy="5454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2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28" name="직사각형 127"/>
          <p:cNvSpPr/>
          <p:nvPr/>
        </p:nvSpPr>
        <p:spPr>
          <a:xfrm>
            <a:off x="6022359" y="1550632"/>
            <a:ext cx="612656" cy="5454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29" name="직사각형 128"/>
          <p:cNvSpPr/>
          <p:nvPr/>
        </p:nvSpPr>
        <p:spPr>
          <a:xfrm>
            <a:off x="1733763" y="1229790"/>
            <a:ext cx="612656" cy="5454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s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31" name="직사각형 130"/>
          <p:cNvSpPr/>
          <p:nvPr/>
        </p:nvSpPr>
        <p:spPr>
          <a:xfrm>
            <a:off x="1733762" y="2804414"/>
            <a:ext cx="612656" cy="545432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32" name="직사각형 131"/>
          <p:cNvSpPr/>
          <p:nvPr/>
        </p:nvSpPr>
        <p:spPr>
          <a:xfrm>
            <a:off x="2346419" y="2804414"/>
            <a:ext cx="612656" cy="545432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33" name="직사각형 132"/>
          <p:cNvSpPr/>
          <p:nvPr/>
        </p:nvSpPr>
        <p:spPr>
          <a:xfrm>
            <a:off x="2959075" y="2804414"/>
            <a:ext cx="612656" cy="545432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34" name="직사각형 133"/>
          <p:cNvSpPr/>
          <p:nvPr/>
        </p:nvSpPr>
        <p:spPr>
          <a:xfrm>
            <a:off x="3571732" y="2804414"/>
            <a:ext cx="612656" cy="545432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35" name="직사각형 134"/>
          <p:cNvSpPr/>
          <p:nvPr/>
        </p:nvSpPr>
        <p:spPr>
          <a:xfrm>
            <a:off x="4184388" y="2804414"/>
            <a:ext cx="612656" cy="545432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36" name="직사각형 135"/>
          <p:cNvSpPr/>
          <p:nvPr/>
        </p:nvSpPr>
        <p:spPr>
          <a:xfrm>
            <a:off x="4797045" y="2804414"/>
            <a:ext cx="612656" cy="545432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37" name="직사각형 136"/>
          <p:cNvSpPr/>
          <p:nvPr/>
        </p:nvSpPr>
        <p:spPr>
          <a:xfrm>
            <a:off x="5409701" y="2804414"/>
            <a:ext cx="612656" cy="545432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38" name="직사각형 137"/>
          <p:cNvSpPr/>
          <p:nvPr/>
        </p:nvSpPr>
        <p:spPr>
          <a:xfrm>
            <a:off x="6022358" y="2804414"/>
            <a:ext cx="612656" cy="545432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40" name="TextBox 139"/>
          <p:cNvSpPr txBox="1"/>
          <p:nvPr/>
        </p:nvSpPr>
        <p:spPr>
          <a:xfrm>
            <a:off x="1288444" y="2799028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smtClean="0">
                <a:latin typeface="Consolas" panose="020B0609020204030204" pitchFamily="49" charset="0"/>
              </a:rPr>
              <a:t>-</a:t>
            </a:r>
            <a:endParaRPr lang="ko-KR" altLang="en-US" sz="2400" smtClean="0">
              <a:latin typeface="Consolas" panose="020B0609020204030204" pitchFamily="49" charset="0"/>
            </a:endParaRPr>
          </a:p>
        </p:txBody>
      </p:sp>
      <p:cxnSp>
        <p:nvCxnSpPr>
          <p:cNvPr id="43" name="직선 연결선 42"/>
          <p:cNvCxnSpPr/>
          <p:nvPr/>
        </p:nvCxnSpPr>
        <p:spPr>
          <a:xfrm flipH="1">
            <a:off x="1397334" y="3514478"/>
            <a:ext cx="557410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직사각형 43"/>
          <p:cNvSpPr/>
          <p:nvPr/>
        </p:nvSpPr>
        <p:spPr>
          <a:xfrm>
            <a:off x="1733762" y="3616854"/>
            <a:ext cx="612656" cy="545432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5" name="직사각형 44"/>
          <p:cNvSpPr/>
          <p:nvPr/>
        </p:nvSpPr>
        <p:spPr>
          <a:xfrm>
            <a:off x="2346419" y="3616854"/>
            <a:ext cx="612656" cy="545432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6" name="직사각형 45"/>
          <p:cNvSpPr/>
          <p:nvPr/>
        </p:nvSpPr>
        <p:spPr>
          <a:xfrm>
            <a:off x="2959075" y="3616854"/>
            <a:ext cx="612656" cy="545432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7" name="직사각형 46"/>
          <p:cNvSpPr/>
          <p:nvPr/>
        </p:nvSpPr>
        <p:spPr>
          <a:xfrm>
            <a:off x="3571732" y="3616854"/>
            <a:ext cx="612656" cy="545432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8" name="직사각형 47"/>
          <p:cNvSpPr/>
          <p:nvPr/>
        </p:nvSpPr>
        <p:spPr>
          <a:xfrm>
            <a:off x="4184388" y="3616854"/>
            <a:ext cx="612656" cy="545432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4797045" y="3616854"/>
            <a:ext cx="612656" cy="545432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5409701" y="3616854"/>
            <a:ext cx="612656" cy="545432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1" name="직사각형 50"/>
          <p:cNvSpPr/>
          <p:nvPr/>
        </p:nvSpPr>
        <p:spPr>
          <a:xfrm>
            <a:off x="6022358" y="3616854"/>
            <a:ext cx="612656" cy="545432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5409701" y="1021242"/>
            <a:ext cx="612656" cy="545432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2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53592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86063" y="232611"/>
            <a:ext cx="17139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smtClean="0">
                <a:latin typeface="Consolas" panose="020B0609020204030204" pitchFamily="49" charset="0"/>
              </a:rPr>
              <a:t>1. type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69533" y="275683"/>
            <a:ext cx="2945037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smtClean="0">
                <a:latin typeface="Consolas" panose="020B0609020204030204" pitchFamily="49" charset="0"/>
              </a:rPr>
              <a:t>char a=8, b=1;</a:t>
            </a:r>
          </a:p>
          <a:p>
            <a:r>
              <a:rPr lang="en-US" altLang="ko-KR" sz="2800" smtClean="0">
                <a:latin typeface="Consolas" panose="020B0609020204030204" pitchFamily="49" charset="0"/>
              </a:rPr>
              <a:t>a-b</a:t>
            </a:r>
            <a:endParaRPr lang="ko-KR" altLang="en-US" sz="2800" smtClean="0">
              <a:latin typeface="Consolas" panose="020B0609020204030204" pitchFamily="49" charset="0"/>
            </a:endParaRPr>
          </a:p>
        </p:txBody>
      </p:sp>
      <p:sp>
        <p:nvSpPr>
          <p:cNvPr id="71" name="직사각형 70"/>
          <p:cNvSpPr/>
          <p:nvPr/>
        </p:nvSpPr>
        <p:spPr>
          <a:xfrm>
            <a:off x="1733763" y="1999811"/>
            <a:ext cx="612656" cy="545432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2" name="직사각형 71"/>
          <p:cNvSpPr/>
          <p:nvPr/>
        </p:nvSpPr>
        <p:spPr>
          <a:xfrm>
            <a:off x="2346420" y="1999811"/>
            <a:ext cx="612656" cy="545432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3" name="직사각형 72"/>
          <p:cNvSpPr/>
          <p:nvPr/>
        </p:nvSpPr>
        <p:spPr>
          <a:xfrm>
            <a:off x="2959076" y="1999811"/>
            <a:ext cx="612656" cy="545432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4" name="직사각형 73"/>
          <p:cNvSpPr/>
          <p:nvPr/>
        </p:nvSpPr>
        <p:spPr>
          <a:xfrm>
            <a:off x="3571733" y="1999811"/>
            <a:ext cx="612656" cy="545432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5" name="직사각형 74"/>
          <p:cNvSpPr/>
          <p:nvPr/>
        </p:nvSpPr>
        <p:spPr>
          <a:xfrm>
            <a:off x="4184389" y="1999811"/>
            <a:ext cx="612656" cy="545432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6" name="직사각형 75"/>
          <p:cNvSpPr/>
          <p:nvPr/>
        </p:nvSpPr>
        <p:spPr>
          <a:xfrm>
            <a:off x="4797046" y="1999811"/>
            <a:ext cx="612656" cy="545432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7" name="직사각형 76"/>
          <p:cNvSpPr/>
          <p:nvPr/>
        </p:nvSpPr>
        <p:spPr>
          <a:xfrm>
            <a:off x="5409702" y="1999811"/>
            <a:ext cx="612656" cy="545432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18" name="직사각형 117"/>
          <p:cNvSpPr/>
          <p:nvPr/>
        </p:nvSpPr>
        <p:spPr>
          <a:xfrm>
            <a:off x="6022359" y="1999811"/>
            <a:ext cx="612656" cy="545432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21" name="직사각형 120"/>
          <p:cNvSpPr/>
          <p:nvPr/>
        </p:nvSpPr>
        <p:spPr>
          <a:xfrm>
            <a:off x="1733763" y="1550632"/>
            <a:ext cx="612656" cy="5454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128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22" name="직사각형 121"/>
          <p:cNvSpPr/>
          <p:nvPr/>
        </p:nvSpPr>
        <p:spPr>
          <a:xfrm>
            <a:off x="2346420" y="1550632"/>
            <a:ext cx="612656" cy="5454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64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23" name="직사각형 122"/>
          <p:cNvSpPr/>
          <p:nvPr/>
        </p:nvSpPr>
        <p:spPr>
          <a:xfrm>
            <a:off x="2959076" y="1550632"/>
            <a:ext cx="612656" cy="5454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32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24" name="직사각형 123"/>
          <p:cNvSpPr/>
          <p:nvPr/>
        </p:nvSpPr>
        <p:spPr>
          <a:xfrm>
            <a:off x="3571733" y="1550632"/>
            <a:ext cx="612656" cy="5454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16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25" name="직사각형 124"/>
          <p:cNvSpPr/>
          <p:nvPr/>
        </p:nvSpPr>
        <p:spPr>
          <a:xfrm>
            <a:off x="4184389" y="1550632"/>
            <a:ext cx="612656" cy="5454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8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26" name="직사각형 125"/>
          <p:cNvSpPr/>
          <p:nvPr/>
        </p:nvSpPr>
        <p:spPr>
          <a:xfrm>
            <a:off x="4797046" y="1550632"/>
            <a:ext cx="612656" cy="5454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4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27" name="직사각형 126"/>
          <p:cNvSpPr/>
          <p:nvPr/>
        </p:nvSpPr>
        <p:spPr>
          <a:xfrm>
            <a:off x="5409702" y="1550632"/>
            <a:ext cx="612656" cy="5454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2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28" name="직사각형 127"/>
          <p:cNvSpPr/>
          <p:nvPr/>
        </p:nvSpPr>
        <p:spPr>
          <a:xfrm>
            <a:off x="6022359" y="1550632"/>
            <a:ext cx="612656" cy="5454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29" name="직사각형 128"/>
          <p:cNvSpPr/>
          <p:nvPr/>
        </p:nvSpPr>
        <p:spPr>
          <a:xfrm>
            <a:off x="1733763" y="1229790"/>
            <a:ext cx="612656" cy="5454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s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31" name="직사각형 130"/>
          <p:cNvSpPr/>
          <p:nvPr/>
        </p:nvSpPr>
        <p:spPr>
          <a:xfrm>
            <a:off x="1733762" y="2804414"/>
            <a:ext cx="612656" cy="545432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32" name="직사각형 131"/>
          <p:cNvSpPr/>
          <p:nvPr/>
        </p:nvSpPr>
        <p:spPr>
          <a:xfrm>
            <a:off x="2346419" y="2804414"/>
            <a:ext cx="612656" cy="545432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33" name="직사각형 132"/>
          <p:cNvSpPr/>
          <p:nvPr/>
        </p:nvSpPr>
        <p:spPr>
          <a:xfrm>
            <a:off x="2959075" y="2804414"/>
            <a:ext cx="612656" cy="545432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34" name="직사각형 133"/>
          <p:cNvSpPr/>
          <p:nvPr/>
        </p:nvSpPr>
        <p:spPr>
          <a:xfrm>
            <a:off x="3571732" y="2804414"/>
            <a:ext cx="612656" cy="545432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35" name="직사각형 134"/>
          <p:cNvSpPr/>
          <p:nvPr/>
        </p:nvSpPr>
        <p:spPr>
          <a:xfrm>
            <a:off x="4184388" y="2804414"/>
            <a:ext cx="612656" cy="545432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36" name="직사각형 135"/>
          <p:cNvSpPr/>
          <p:nvPr/>
        </p:nvSpPr>
        <p:spPr>
          <a:xfrm>
            <a:off x="4797045" y="2804414"/>
            <a:ext cx="612656" cy="545432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37" name="직사각형 136"/>
          <p:cNvSpPr/>
          <p:nvPr/>
        </p:nvSpPr>
        <p:spPr>
          <a:xfrm>
            <a:off x="5409701" y="2804414"/>
            <a:ext cx="612656" cy="545432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38" name="직사각형 137"/>
          <p:cNvSpPr/>
          <p:nvPr/>
        </p:nvSpPr>
        <p:spPr>
          <a:xfrm>
            <a:off x="6022358" y="2804414"/>
            <a:ext cx="612656" cy="545432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40" name="TextBox 139"/>
          <p:cNvSpPr txBox="1"/>
          <p:nvPr/>
        </p:nvSpPr>
        <p:spPr>
          <a:xfrm>
            <a:off x="1288444" y="2799028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smtClean="0">
                <a:latin typeface="Consolas" panose="020B0609020204030204" pitchFamily="49" charset="0"/>
              </a:rPr>
              <a:t>-</a:t>
            </a:r>
            <a:endParaRPr lang="ko-KR" altLang="en-US" sz="2400" smtClean="0">
              <a:latin typeface="Consolas" panose="020B0609020204030204" pitchFamily="49" charset="0"/>
            </a:endParaRPr>
          </a:p>
        </p:txBody>
      </p:sp>
      <p:cxnSp>
        <p:nvCxnSpPr>
          <p:cNvPr id="43" name="직선 연결선 42"/>
          <p:cNvCxnSpPr/>
          <p:nvPr/>
        </p:nvCxnSpPr>
        <p:spPr>
          <a:xfrm flipH="1">
            <a:off x="1397334" y="3514478"/>
            <a:ext cx="557410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직사각형 43"/>
          <p:cNvSpPr/>
          <p:nvPr/>
        </p:nvSpPr>
        <p:spPr>
          <a:xfrm>
            <a:off x="1733762" y="3616854"/>
            <a:ext cx="612656" cy="545432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5" name="직사각형 44"/>
          <p:cNvSpPr/>
          <p:nvPr/>
        </p:nvSpPr>
        <p:spPr>
          <a:xfrm>
            <a:off x="2346419" y="3616854"/>
            <a:ext cx="612656" cy="545432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6" name="직사각형 45"/>
          <p:cNvSpPr/>
          <p:nvPr/>
        </p:nvSpPr>
        <p:spPr>
          <a:xfrm>
            <a:off x="2959075" y="3616854"/>
            <a:ext cx="612656" cy="545432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7" name="직사각형 46"/>
          <p:cNvSpPr/>
          <p:nvPr/>
        </p:nvSpPr>
        <p:spPr>
          <a:xfrm>
            <a:off x="3571732" y="3616854"/>
            <a:ext cx="612656" cy="545432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8" name="직사각형 47"/>
          <p:cNvSpPr/>
          <p:nvPr/>
        </p:nvSpPr>
        <p:spPr>
          <a:xfrm>
            <a:off x="4184388" y="3616854"/>
            <a:ext cx="612656" cy="545432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4797045" y="3616854"/>
            <a:ext cx="612656" cy="545432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5409701" y="3616854"/>
            <a:ext cx="612656" cy="545432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1" name="직사각형 50"/>
          <p:cNvSpPr/>
          <p:nvPr/>
        </p:nvSpPr>
        <p:spPr>
          <a:xfrm>
            <a:off x="6022358" y="3616854"/>
            <a:ext cx="612656" cy="545432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797045" y="1052078"/>
            <a:ext cx="612656" cy="545432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0" name="직사각형 39"/>
          <p:cNvSpPr/>
          <p:nvPr/>
        </p:nvSpPr>
        <p:spPr>
          <a:xfrm>
            <a:off x="5409701" y="1052078"/>
            <a:ext cx="612656" cy="545432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1" name="직사각형 40"/>
          <p:cNvSpPr/>
          <p:nvPr/>
        </p:nvSpPr>
        <p:spPr>
          <a:xfrm>
            <a:off x="6031356" y="1052078"/>
            <a:ext cx="612656" cy="545432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2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37927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86063" y="232611"/>
            <a:ext cx="17139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smtClean="0">
                <a:latin typeface="Consolas" panose="020B0609020204030204" pitchFamily="49" charset="0"/>
              </a:rPr>
              <a:t>1. type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69533" y="275683"/>
            <a:ext cx="2945037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smtClean="0">
                <a:latin typeface="Consolas" panose="020B0609020204030204" pitchFamily="49" charset="0"/>
              </a:rPr>
              <a:t>char a=5, b=2;</a:t>
            </a:r>
          </a:p>
          <a:p>
            <a:r>
              <a:rPr lang="en-US" altLang="ko-KR" sz="2800" smtClean="0">
                <a:latin typeface="Consolas" panose="020B0609020204030204" pitchFamily="49" charset="0"/>
              </a:rPr>
              <a:t>5+(-2)</a:t>
            </a:r>
            <a:endParaRPr lang="ko-KR" altLang="en-US" sz="2800" smtClean="0">
              <a:latin typeface="Consolas" panose="020B0609020204030204" pitchFamily="49" charset="0"/>
            </a:endParaRPr>
          </a:p>
        </p:txBody>
      </p:sp>
      <p:sp>
        <p:nvSpPr>
          <p:cNvPr id="71" name="직사각형 70"/>
          <p:cNvSpPr/>
          <p:nvPr/>
        </p:nvSpPr>
        <p:spPr>
          <a:xfrm>
            <a:off x="1733763" y="1999811"/>
            <a:ext cx="612656" cy="545432"/>
          </a:xfrm>
          <a:prstGeom prst="rect">
            <a:avLst/>
          </a:prstGeom>
          <a:solidFill>
            <a:srgbClr val="FFC0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2" name="직사각형 71"/>
          <p:cNvSpPr/>
          <p:nvPr/>
        </p:nvSpPr>
        <p:spPr>
          <a:xfrm>
            <a:off x="2346420" y="1999811"/>
            <a:ext cx="612656" cy="545432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3" name="직사각형 72"/>
          <p:cNvSpPr/>
          <p:nvPr/>
        </p:nvSpPr>
        <p:spPr>
          <a:xfrm>
            <a:off x="2959076" y="1999811"/>
            <a:ext cx="612656" cy="545432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4" name="직사각형 73"/>
          <p:cNvSpPr/>
          <p:nvPr/>
        </p:nvSpPr>
        <p:spPr>
          <a:xfrm>
            <a:off x="3571733" y="1999811"/>
            <a:ext cx="612656" cy="545432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5" name="직사각형 74"/>
          <p:cNvSpPr/>
          <p:nvPr/>
        </p:nvSpPr>
        <p:spPr>
          <a:xfrm>
            <a:off x="4184389" y="1999811"/>
            <a:ext cx="612656" cy="545432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6" name="직사각형 75"/>
          <p:cNvSpPr/>
          <p:nvPr/>
        </p:nvSpPr>
        <p:spPr>
          <a:xfrm>
            <a:off x="4797046" y="1999811"/>
            <a:ext cx="612656" cy="545432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7" name="직사각형 76"/>
          <p:cNvSpPr/>
          <p:nvPr/>
        </p:nvSpPr>
        <p:spPr>
          <a:xfrm>
            <a:off x="5409702" y="1999811"/>
            <a:ext cx="612656" cy="545432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18" name="직사각형 117"/>
          <p:cNvSpPr/>
          <p:nvPr/>
        </p:nvSpPr>
        <p:spPr>
          <a:xfrm>
            <a:off x="6022359" y="1999811"/>
            <a:ext cx="612656" cy="545432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21" name="직사각형 120"/>
          <p:cNvSpPr/>
          <p:nvPr/>
        </p:nvSpPr>
        <p:spPr>
          <a:xfrm>
            <a:off x="1733763" y="1550632"/>
            <a:ext cx="612656" cy="5454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128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22" name="직사각형 121"/>
          <p:cNvSpPr/>
          <p:nvPr/>
        </p:nvSpPr>
        <p:spPr>
          <a:xfrm>
            <a:off x="2346420" y="1550632"/>
            <a:ext cx="612656" cy="5454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64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23" name="직사각형 122"/>
          <p:cNvSpPr/>
          <p:nvPr/>
        </p:nvSpPr>
        <p:spPr>
          <a:xfrm>
            <a:off x="2959076" y="1550632"/>
            <a:ext cx="612656" cy="5454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32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24" name="직사각형 123"/>
          <p:cNvSpPr/>
          <p:nvPr/>
        </p:nvSpPr>
        <p:spPr>
          <a:xfrm>
            <a:off x="3571733" y="1550632"/>
            <a:ext cx="612656" cy="5454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16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25" name="직사각형 124"/>
          <p:cNvSpPr/>
          <p:nvPr/>
        </p:nvSpPr>
        <p:spPr>
          <a:xfrm>
            <a:off x="4184389" y="1550632"/>
            <a:ext cx="612656" cy="5454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8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26" name="직사각형 125"/>
          <p:cNvSpPr/>
          <p:nvPr/>
        </p:nvSpPr>
        <p:spPr>
          <a:xfrm>
            <a:off x="4797046" y="1550632"/>
            <a:ext cx="612656" cy="5454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4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27" name="직사각형 126"/>
          <p:cNvSpPr/>
          <p:nvPr/>
        </p:nvSpPr>
        <p:spPr>
          <a:xfrm>
            <a:off x="5409702" y="1550632"/>
            <a:ext cx="612656" cy="5454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2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28" name="직사각형 127"/>
          <p:cNvSpPr/>
          <p:nvPr/>
        </p:nvSpPr>
        <p:spPr>
          <a:xfrm>
            <a:off x="6022359" y="1550632"/>
            <a:ext cx="612656" cy="5454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29" name="직사각형 128"/>
          <p:cNvSpPr/>
          <p:nvPr/>
        </p:nvSpPr>
        <p:spPr>
          <a:xfrm>
            <a:off x="1733763" y="1229790"/>
            <a:ext cx="612656" cy="5454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s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31" name="직사각형 130"/>
          <p:cNvSpPr/>
          <p:nvPr/>
        </p:nvSpPr>
        <p:spPr>
          <a:xfrm>
            <a:off x="1733762" y="2804414"/>
            <a:ext cx="612656" cy="545432"/>
          </a:xfrm>
          <a:prstGeom prst="rect">
            <a:avLst/>
          </a:prstGeom>
          <a:solidFill>
            <a:srgbClr val="FFC0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32" name="직사각형 131"/>
          <p:cNvSpPr/>
          <p:nvPr/>
        </p:nvSpPr>
        <p:spPr>
          <a:xfrm>
            <a:off x="2346419" y="2804414"/>
            <a:ext cx="612656" cy="545432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33" name="직사각형 132"/>
          <p:cNvSpPr/>
          <p:nvPr/>
        </p:nvSpPr>
        <p:spPr>
          <a:xfrm>
            <a:off x="2959075" y="2804414"/>
            <a:ext cx="612656" cy="545432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34" name="직사각형 133"/>
          <p:cNvSpPr/>
          <p:nvPr/>
        </p:nvSpPr>
        <p:spPr>
          <a:xfrm>
            <a:off x="3571732" y="2804414"/>
            <a:ext cx="612656" cy="545432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35" name="직사각형 134"/>
          <p:cNvSpPr/>
          <p:nvPr/>
        </p:nvSpPr>
        <p:spPr>
          <a:xfrm>
            <a:off x="4184388" y="2804414"/>
            <a:ext cx="612656" cy="545432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36" name="직사각형 135"/>
          <p:cNvSpPr/>
          <p:nvPr/>
        </p:nvSpPr>
        <p:spPr>
          <a:xfrm>
            <a:off x="4797045" y="2804414"/>
            <a:ext cx="612656" cy="545432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37" name="직사각형 136"/>
          <p:cNvSpPr/>
          <p:nvPr/>
        </p:nvSpPr>
        <p:spPr>
          <a:xfrm>
            <a:off x="5409701" y="2804414"/>
            <a:ext cx="612656" cy="545432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38" name="직사각형 137"/>
          <p:cNvSpPr/>
          <p:nvPr/>
        </p:nvSpPr>
        <p:spPr>
          <a:xfrm>
            <a:off x="6022358" y="2804414"/>
            <a:ext cx="612656" cy="545432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40" name="TextBox 139"/>
          <p:cNvSpPr txBox="1"/>
          <p:nvPr/>
        </p:nvSpPr>
        <p:spPr>
          <a:xfrm>
            <a:off x="1288444" y="2799028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smtClean="0">
                <a:latin typeface="Consolas" panose="020B0609020204030204" pitchFamily="49" charset="0"/>
              </a:rPr>
              <a:t>+</a:t>
            </a:r>
            <a:endParaRPr lang="ko-KR" altLang="en-US" sz="2400" smtClean="0">
              <a:latin typeface="Consolas" panose="020B0609020204030204" pitchFamily="49" charset="0"/>
            </a:endParaRPr>
          </a:p>
        </p:txBody>
      </p:sp>
      <p:cxnSp>
        <p:nvCxnSpPr>
          <p:cNvPr id="43" name="직선 연결선 42"/>
          <p:cNvCxnSpPr/>
          <p:nvPr/>
        </p:nvCxnSpPr>
        <p:spPr>
          <a:xfrm flipH="1">
            <a:off x="1397334" y="3514478"/>
            <a:ext cx="557410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직사각형 43"/>
          <p:cNvSpPr/>
          <p:nvPr/>
        </p:nvSpPr>
        <p:spPr>
          <a:xfrm>
            <a:off x="1733762" y="3616854"/>
            <a:ext cx="612656" cy="545432"/>
          </a:xfrm>
          <a:prstGeom prst="rect">
            <a:avLst/>
          </a:prstGeom>
          <a:solidFill>
            <a:srgbClr val="FFC0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5" name="직사각형 44"/>
          <p:cNvSpPr/>
          <p:nvPr/>
        </p:nvSpPr>
        <p:spPr>
          <a:xfrm>
            <a:off x="2346419" y="3616854"/>
            <a:ext cx="612656" cy="545432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6" name="직사각형 45"/>
          <p:cNvSpPr/>
          <p:nvPr/>
        </p:nvSpPr>
        <p:spPr>
          <a:xfrm>
            <a:off x="2959075" y="3616854"/>
            <a:ext cx="612656" cy="545432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7" name="직사각형 46"/>
          <p:cNvSpPr/>
          <p:nvPr/>
        </p:nvSpPr>
        <p:spPr>
          <a:xfrm>
            <a:off x="3571732" y="3616854"/>
            <a:ext cx="612656" cy="545432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8" name="직사각형 47"/>
          <p:cNvSpPr/>
          <p:nvPr/>
        </p:nvSpPr>
        <p:spPr>
          <a:xfrm>
            <a:off x="4184388" y="3616854"/>
            <a:ext cx="612656" cy="545432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4797045" y="3616854"/>
            <a:ext cx="612656" cy="545432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5409701" y="3616854"/>
            <a:ext cx="612656" cy="545432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1" name="직사각형 50"/>
          <p:cNvSpPr/>
          <p:nvPr/>
        </p:nvSpPr>
        <p:spPr>
          <a:xfrm>
            <a:off x="6022358" y="3616854"/>
            <a:ext cx="612656" cy="545432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6794149" y="2036962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smtClean="0">
                <a:latin typeface="Consolas" panose="020B0609020204030204" pitchFamily="49" charset="0"/>
              </a:rPr>
              <a:t>5</a:t>
            </a:r>
            <a:endParaRPr lang="ko-KR" altLang="en-US" sz="2400" smtClean="0">
              <a:latin typeface="Consolas" panose="020B0609020204030204" pitchFamily="49" charset="0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6794149" y="2873169"/>
            <a:ext cx="5245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smtClean="0">
                <a:latin typeface="Consolas" panose="020B0609020204030204" pitchFamily="49" charset="0"/>
              </a:rPr>
              <a:t>-2</a:t>
            </a:r>
            <a:endParaRPr lang="ko-KR" altLang="en-US" sz="2400" smtClean="0">
              <a:latin typeface="Consolas" panose="020B0609020204030204" pitchFamily="49" charset="0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6765517" y="3645063"/>
            <a:ext cx="5245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smtClean="0">
                <a:latin typeface="Consolas" panose="020B0609020204030204" pitchFamily="49" charset="0"/>
              </a:rPr>
              <a:t>-7</a:t>
            </a:r>
            <a:endParaRPr lang="ko-KR" altLang="en-US" sz="2400" smtClean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40065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86063" y="232611"/>
            <a:ext cx="17139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smtClean="0">
                <a:latin typeface="Consolas" panose="020B0609020204030204" pitchFamily="49" charset="0"/>
              </a:rPr>
              <a:t>1. type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69533" y="275683"/>
            <a:ext cx="2945037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smtClean="0">
                <a:latin typeface="Consolas" panose="020B0609020204030204" pitchFamily="49" charset="0"/>
              </a:rPr>
              <a:t>char a=5, b=2;</a:t>
            </a:r>
          </a:p>
          <a:p>
            <a:r>
              <a:rPr lang="en-US" altLang="ko-KR" sz="2800" smtClean="0">
                <a:latin typeface="Consolas" panose="020B0609020204030204" pitchFamily="49" charset="0"/>
              </a:rPr>
              <a:t>5+(-2)</a:t>
            </a:r>
            <a:endParaRPr lang="ko-KR" altLang="en-US" sz="2800" smtClean="0">
              <a:latin typeface="Consolas" panose="020B0609020204030204" pitchFamily="49" charset="0"/>
            </a:endParaRPr>
          </a:p>
        </p:txBody>
      </p:sp>
      <p:sp>
        <p:nvSpPr>
          <p:cNvPr id="71" name="직사각형 70"/>
          <p:cNvSpPr/>
          <p:nvPr/>
        </p:nvSpPr>
        <p:spPr>
          <a:xfrm>
            <a:off x="931658" y="1999811"/>
            <a:ext cx="612656" cy="545432"/>
          </a:xfrm>
          <a:prstGeom prst="rect">
            <a:avLst/>
          </a:prstGeom>
          <a:solidFill>
            <a:srgbClr val="FFC0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2" name="직사각형 71"/>
          <p:cNvSpPr/>
          <p:nvPr/>
        </p:nvSpPr>
        <p:spPr>
          <a:xfrm>
            <a:off x="1544315" y="1999811"/>
            <a:ext cx="612656" cy="545432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3" name="직사각형 72"/>
          <p:cNvSpPr/>
          <p:nvPr/>
        </p:nvSpPr>
        <p:spPr>
          <a:xfrm>
            <a:off x="2156971" y="1999811"/>
            <a:ext cx="612656" cy="545432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4" name="직사각형 73"/>
          <p:cNvSpPr/>
          <p:nvPr/>
        </p:nvSpPr>
        <p:spPr>
          <a:xfrm>
            <a:off x="2769628" y="1999811"/>
            <a:ext cx="612656" cy="545432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5" name="직사각형 74"/>
          <p:cNvSpPr/>
          <p:nvPr/>
        </p:nvSpPr>
        <p:spPr>
          <a:xfrm>
            <a:off x="3382284" y="1999811"/>
            <a:ext cx="612656" cy="545432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6" name="직사각형 75"/>
          <p:cNvSpPr/>
          <p:nvPr/>
        </p:nvSpPr>
        <p:spPr>
          <a:xfrm>
            <a:off x="3994941" y="1999811"/>
            <a:ext cx="612656" cy="545432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7" name="직사각형 76"/>
          <p:cNvSpPr/>
          <p:nvPr/>
        </p:nvSpPr>
        <p:spPr>
          <a:xfrm>
            <a:off x="4607597" y="1999811"/>
            <a:ext cx="612656" cy="545432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18" name="직사각형 117"/>
          <p:cNvSpPr/>
          <p:nvPr/>
        </p:nvSpPr>
        <p:spPr>
          <a:xfrm>
            <a:off x="5220254" y="1999811"/>
            <a:ext cx="612656" cy="545432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21" name="직사각형 120"/>
          <p:cNvSpPr/>
          <p:nvPr/>
        </p:nvSpPr>
        <p:spPr>
          <a:xfrm>
            <a:off x="931658" y="1550632"/>
            <a:ext cx="612656" cy="5454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128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22" name="직사각형 121"/>
          <p:cNvSpPr/>
          <p:nvPr/>
        </p:nvSpPr>
        <p:spPr>
          <a:xfrm>
            <a:off x="1544315" y="1550632"/>
            <a:ext cx="612656" cy="5454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64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23" name="직사각형 122"/>
          <p:cNvSpPr/>
          <p:nvPr/>
        </p:nvSpPr>
        <p:spPr>
          <a:xfrm>
            <a:off x="2156971" y="1550632"/>
            <a:ext cx="612656" cy="5454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32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24" name="직사각형 123"/>
          <p:cNvSpPr/>
          <p:nvPr/>
        </p:nvSpPr>
        <p:spPr>
          <a:xfrm>
            <a:off x="2769628" y="1550632"/>
            <a:ext cx="612656" cy="5454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16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25" name="직사각형 124"/>
          <p:cNvSpPr/>
          <p:nvPr/>
        </p:nvSpPr>
        <p:spPr>
          <a:xfrm>
            <a:off x="3382284" y="1550632"/>
            <a:ext cx="612656" cy="5454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8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26" name="직사각형 125"/>
          <p:cNvSpPr/>
          <p:nvPr/>
        </p:nvSpPr>
        <p:spPr>
          <a:xfrm>
            <a:off x="3994941" y="1550632"/>
            <a:ext cx="612656" cy="5454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4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27" name="직사각형 126"/>
          <p:cNvSpPr/>
          <p:nvPr/>
        </p:nvSpPr>
        <p:spPr>
          <a:xfrm>
            <a:off x="4607597" y="1550632"/>
            <a:ext cx="612656" cy="5454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2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28" name="직사각형 127"/>
          <p:cNvSpPr/>
          <p:nvPr/>
        </p:nvSpPr>
        <p:spPr>
          <a:xfrm>
            <a:off x="5220254" y="1550632"/>
            <a:ext cx="612656" cy="5454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29" name="직사각형 128"/>
          <p:cNvSpPr/>
          <p:nvPr/>
        </p:nvSpPr>
        <p:spPr>
          <a:xfrm>
            <a:off x="931658" y="1229790"/>
            <a:ext cx="612656" cy="5454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s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31" name="직사각형 130"/>
          <p:cNvSpPr/>
          <p:nvPr/>
        </p:nvSpPr>
        <p:spPr>
          <a:xfrm>
            <a:off x="931657" y="2804414"/>
            <a:ext cx="612656" cy="545432"/>
          </a:xfrm>
          <a:prstGeom prst="rect">
            <a:avLst/>
          </a:prstGeom>
          <a:solidFill>
            <a:srgbClr val="FFC0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32" name="직사각형 131"/>
          <p:cNvSpPr/>
          <p:nvPr/>
        </p:nvSpPr>
        <p:spPr>
          <a:xfrm>
            <a:off x="1544314" y="2804414"/>
            <a:ext cx="612656" cy="545432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33" name="직사각형 132"/>
          <p:cNvSpPr/>
          <p:nvPr/>
        </p:nvSpPr>
        <p:spPr>
          <a:xfrm>
            <a:off x="2156970" y="2804414"/>
            <a:ext cx="612656" cy="545432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34" name="직사각형 133"/>
          <p:cNvSpPr/>
          <p:nvPr/>
        </p:nvSpPr>
        <p:spPr>
          <a:xfrm>
            <a:off x="2769627" y="2804414"/>
            <a:ext cx="612656" cy="545432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35" name="직사각형 134"/>
          <p:cNvSpPr/>
          <p:nvPr/>
        </p:nvSpPr>
        <p:spPr>
          <a:xfrm>
            <a:off x="3382283" y="2804414"/>
            <a:ext cx="612656" cy="545432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36" name="직사각형 135"/>
          <p:cNvSpPr/>
          <p:nvPr/>
        </p:nvSpPr>
        <p:spPr>
          <a:xfrm>
            <a:off x="3994940" y="2804414"/>
            <a:ext cx="612656" cy="545432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37" name="직사각형 136"/>
          <p:cNvSpPr/>
          <p:nvPr/>
        </p:nvSpPr>
        <p:spPr>
          <a:xfrm>
            <a:off x="4607596" y="2804414"/>
            <a:ext cx="612656" cy="545432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38" name="직사각형 137"/>
          <p:cNvSpPr/>
          <p:nvPr/>
        </p:nvSpPr>
        <p:spPr>
          <a:xfrm>
            <a:off x="5220253" y="2804414"/>
            <a:ext cx="612656" cy="545432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40" name="TextBox 139"/>
          <p:cNvSpPr txBox="1"/>
          <p:nvPr/>
        </p:nvSpPr>
        <p:spPr>
          <a:xfrm>
            <a:off x="486339" y="2799028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smtClean="0">
                <a:latin typeface="Consolas" panose="020B0609020204030204" pitchFamily="49" charset="0"/>
              </a:rPr>
              <a:t>+</a:t>
            </a:r>
            <a:endParaRPr lang="ko-KR" altLang="en-US" sz="2400" smtClean="0">
              <a:latin typeface="Consolas" panose="020B0609020204030204" pitchFamily="49" charset="0"/>
            </a:endParaRPr>
          </a:p>
        </p:txBody>
      </p:sp>
      <p:cxnSp>
        <p:nvCxnSpPr>
          <p:cNvPr id="43" name="직선 연결선 42"/>
          <p:cNvCxnSpPr/>
          <p:nvPr/>
        </p:nvCxnSpPr>
        <p:spPr>
          <a:xfrm flipH="1">
            <a:off x="595229" y="3514478"/>
            <a:ext cx="557410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직사각형 43"/>
          <p:cNvSpPr/>
          <p:nvPr/>
        </p:nvSpPr>
        <p:spPr>
          <a:xfrm>
            <a:off x="931657" y="3616854"/>
            <a:ext cx="612656" cy="545432"/>
          </a:xfrm>
          <a:prstGeom prst="rect">
            <a:avLst/>
          </a:prstGeom>
          <a:solidFill>
            <a:srgbClr val="FFC0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5" name="직사각형 44"/>
          <p:cNvSpPr/>
          <p:nvPr/>
        </p:nvSpPr>
        <p:spPr>
          <a:xfrm>
            <a:off x="1544314" y="3616854"/>
            <a:ext cx="612656" cy="545432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6" name="직사각형 45"/>
          <p:cNvSpPr/>
          <p:nvPr/>
        </p:nvSpPr>
        <p:spPr>
          <a:xfrm>
            <a:off x="2156970" y="3616854"/>
            <a:ext cx="612656" cy="545432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7" name="직사각형 46"/>
          <p:cNvSpPr/>
          <p:nvPr/>
        </p:nvSpPr>
        <p:spPr>
          <a:xfrm>
            <a:off x="2769627" y="3616854"/>
            <a:ext cx="612656" cy="545432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8" name="직사각형 47"/>
          <p:cNvSpPr/>
          <p:nvPr/>
        </p:nvSpPr>
        <p:spPr>
          <a:xfrm>
            <a:off x="3382283" y="3616854"/>
            <a:ext cx="612656" cy="545432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3994940" y="3616854"/>
            <a:ext cx="612656" cy="545432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607596" y="3616854"/>
            <a:ext cx="612656" cy="545432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1" name="직사각형 50"/>
          <p:cNvSpPr/>
          <p:nvPr/>
        </p:nvSpPr>
        <p:spPr>
          <a:xfrm>
            <a:off x="5220253" y="3616854"/>
            <a:ext cx="612656" cy="545432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5992044" y="2036962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smtClean="0">
                <a:latin typeface="Consolas" panose="020B0609020204030204" pitchFamily="49" charset="0"/>
              </a:rPr>
              <a:t>5</a:t>
            </a:r>
            <a:endParaRPr lang="ko-KR" altLang="en-US" sz="2400" smtClean="0">
              <a:latin typeface="Consolas" panose="020B0609020204030204" pitchFamily="49" charset="0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5992044" y="2873169"/>
            <a:ext cx="5245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smtClean="0">
                <a:latin typeface="Consolas" panose="020B0609020204030204" pitchFamily="49" charset="0"/>
              </a:rPr>
              <a:t>-2</a:t>
            </a:r>
            <a:endParaRPr lang="ko-KR" altLang="en-US" sz="2400" smtClean="0">
              <a:latin typeface="Consolas" panose="020B0609020204030204" pitchFamily="49" charset="0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5963412" y="3645063"/>
            <a:ext cx="5245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smtClean="0">
                <a:latin typeface="Consolas" panose="020B0609020204030204" pitchFamily="49" charset="0"/>
              </a:rPr>
              <a:t>-7</a:t>
            </a:r>
            <a:endParaRPr lang="ko-KR" altLang="en-US" sz="2400" smtClean="0">
              <a:latin typeface="Consolas" panose="020B0609020204030204" pitchFamily="49" charset="0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7319321" y="922682"/>
            <a:ext cx="7761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smtClean="0">
                <a:latin typeface="Consolas" panose="020B0609020204030204" pitchFamily="49" charset="0"/>
              </a:rPr>
              <a:t>5-2</a:t>
            </a:r>
            <a:endParaRPr lang="ko-KR" altLang="en-US" sz="2800" smtClean="0">
              <a:latin typeface="Consolas" panose="020B0609020204030204" pitchFamily="49" charset="0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7313070" y="1572844"/>
            <a:ext cx="156485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smtClean="0">
                <a:latin typeface="Consolas" panose="020B0609020204030204" pitchFamily="49" charset="0"/>
              </a:rPr>
              <a:t>9 = 2+x</a:t>
            </a:r>
            <a:endParaRPr lang="ko-KR" altLang="en-US" sz="2800" smtClean="0">
              <a:latin typeface="Consolas" panose="020B0609020204030204" pitchFamily="49" charset="0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7313070" y="2349949"/>
            <a:ext cx="51139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smtClean="0">
                <a:latin typeface="Consolas" panose="020B0609020204030204" pitchFamily="49" charset="0"/>
              </a:rPr>
              <a:t>5+(-2) =&gt; 5+7 =&gt; 1+2 =&gt; 3</a:t>
            </a:r>
            <a:endParaRPr lang="ko-KR" altLang="en-US" sz="2800" smtClean="0">
              <a:latin typeface="Consolas" panose="020B0609020204030204" pitchFamily="49" charset="0"/>
            </a:endParaRPr>
          </a:p>
        </p:txBody>
      </p:sp>
      <p:sp>
        <p:nvSpPr>
          <p:cNvPr id="93" name="직사각형 92"/>
          <p:cNvSpPr/>
          <p:nvPr/>
        </p:nvSpPr>
        <p:spPr>
          <a:xfrm>
            <a:off x="168212" y="3616854"/>
            <a:ext cx="612656" cy="545432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94" name="직사각형 93"/>
          <p:cNvSpPr/>
          <p:nvPr/>
        </p:nvSpPr>
        <p:spPr>
          <a:xfrm>
            <a:off x="5211412" y="4284499"/>
            <a:ext cx="612656" cy="545432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95" name="TextBox 94"/>
          <p:cNvSpPr txBox="1"/>
          <p:nvPr/>
        </p:nvSpPr>
        <p:spPr>
          <a:xfrm>
            <a:off x="463746" y="4206738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smtClean="0">
                <a:latin typeface="Consolas" panose="020B0609020204030204" pitchFamily="49" charset="0"/>
              </a:rPr>
              <a:t>+</a:t>
            </a:r>
            <a:endParaRPr lang="ko-KR" altLang="en-US" sz="2400" smtClean="0">
              <a:latin typeface="Consolas" panose="020B0609020204030204" pitchFamily="49" charset="0"/>
            </a:endParaRPr>
          </a:p>
        </p:txBody>
      </p:sp>
      <p:cxnSp>
        <p:nvCxnSpPr>
          <p:cNvPr id="96" name="직선 연결선 95"/>
          <p:cNvCxnSpPr/>
          <p:nvPr/>
        </p:nvCxnSpPr>
        <p:spPr>
          <a:xfrm flipH="1">
            <a:off x="572636" y="4922188"/>
            <a:ext cx="557410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직사각형 96"/>
          <p:cNvSpPr/>
          <p:nvPr/>
        </p:nvSpPr>
        <p:spPr>
          <a:xfrm>
            <a:off x="909064" y="5024564"/>
            <a:ext cx="612656" cy="545432"/>
          </a:xfrm>
          <a:prstGeom prst="rect">
            <a:avLst/>
          </a:prstGeom>
          <a:solidFill>
            <a:srgbClr val="FFC0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98" name="직사각형 97"/>
          <p:cNvSpPr/>
          <p:nvPr/>
        </p:nvSpPr>
        <p:spPr>
          <a:xfrm>
            <a:off x="1521721" y="5024564"/>
            <a:ext cx="612656" cy="545432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99" name="직사각형 98"/>
          <p:cNvSpPr/>
          <p:nvPr/>
        </p:nvSpPr>
        <p:spPr>
          <a:xfrm>
            <a:off x="2134377" y="5024564"/>
            <a:ext cx="612656" cy="545432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00" name="직사각형 99"/>
          <p:cNvSpPr/>
          <p:nvPr/>
        </p:nvSpPr>
        <p:spPr>
          <a:xfrm>
            <a:off x="2747034" y="5024564"/>
            <a:ext cx="612656" cy="545432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01" name="직사각형 100"/>
          <p:cNvSpPr/>
          <p:nvPr/>
        </p:nvSpPr>
        <p:spPr>
          <a:xfrm>
            <a:off x="3359690" y="5024564"/>
            <a:ext cx="612656" cy="545432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02" name="직사각형 101"/>
          <p:cNvSpPr/>
          <p:nvPr/>
        </p:nvSpPr>
        <p:spPr>
          <a:xfrm>
            <a:off x="3972347" y="5024564"/>
            <a:ext cx="612656" cy="545432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03" name="직사각형 102"/>
          <p:cNvSpPr/>
          <p:nvPr/>
        </p:nvSpPr>
        <p:spPr>
          <a:xfrm>
            <a:off x="4585003" y="5024564"/>
            <a:ext cx="612656" cy="545432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04" name="직사각형 103"/>
          <p:cNvSpPr/>
          <p:nvPr/>
        </p:nvSpPr>
        <p:spPr>
          <a:xfrm>
            <a:off x="5197660" y="5024564"/>
            <a:ext cx="612656" cy="545432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67483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86063" y="232611"/>
            <a:ext cx="17139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smtClean="0">
                <a:latin typeface="Consolas" panose="020B0609020204030204" pitchFamily="49" charset="0"/>
              </a:rPr>
              <a:t>1. type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69533" y="275683"/>
            <a:ext cx="2945037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smtClean="0">
                <a:latin typeface="Consolas" panose="020B0609020204030204" pitchFamily="49" charset="0"/>
              </a:rPr>
              <a:t>char a=5, b=2;</a:t>
            </a:r>
          </a:p>
          <a:p>
            <a:r>
              <a:rPr lang="en-US" altLang="ko-KR" sz="2800" smtClean="0">
                <a:latin typeface="Consolas" panose="020B0609020204030204" pitchFamily="49" charset="0"/>
              </a:rPr>
              <a:t>5+(-2)</a:t>
            </a:r>
            <a:endParaRPr lang="ko-KR" altLang="en-US" sz="2800" smtClean="0">
              <a:latin typeface="Consolas" panose="020B0609020204030204" pitchFamily="49" charset="0"/>
            </a:endParaRPr>
          </a:p>
        </p:txBody>
      </p:sp>
      <p:sp>
        <p:nvSpPr>
          <p:cNvPr id="71" name="직사각형 70"/>
          <p:cNvSpPr/>
          <p:nvPr/>
        </p:nvSpPr>
        <p:spPr>
          <a:xfrm>
            <a:off x="931658" y="1999811"/>
            <a:ext cx="612656" cy="545432"/>
          </a:xfrm>
          <a:prstGeom prst="rect">
            <a:avLst/>
          </a:prstGeom>
          <a:solidFill>
            <a:srgbClr val="FFC0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2" name="직사각형 71"/>
          <p:cNvSpPr/>
          <p:nvPr/>
        </p:nvSpPr>
        <p:spPr>
          <a:xfrm>
            <a:off x="1544315" y="1999811"/>
            <a:ext cx="612656" cy="545432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3" name="직사각형 72"/>
          <p:cNvSpPr/>
          <p:nvPr/>
        </p:nvSpPr>
        <p:spPr>
          <a:xfrm>
            <a:off x="2156971" y="1999811"/>
            <a:ext cx="612656" cy="545432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4" name="직사각형 73"/>
          <p:cNvSpPr/>
          <p:nvPr/>
        </p:nvSpPr>
        <p:spPr>
          <a:xfrm>
            <a:off x="2769628" y="1999811"/>
            <a:ext cx="612656" cy="545432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5" name="직사각형 74"/>
          <p:cNvSpPr/>
          <p:nvPr/>
        </p:nvSpPr>
        <p:spPr>
          <a:xfrm>
            <a:off x="3382284" y="1999811"/>
            <a:ext cx="612656" cy="545432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6" name="직사각형 75"/>
          <p:cNvSpPr/>
          <p:nvPr/>
        </p:nvSpPr>
        <p:spPr>
          <a:xfrm>
            <a:off x="3994941" y="1999811"/>
            <a:ext cx="612656" cy="545432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7" name="직사각형 76"/>
          <p:cNvSpPr/>
          <p:nvPr/>
        </p:nvSpPr>
        <p:spPr>
          <a:xfrm>
            <a:off x="4607597" y="1999811"/>
            <a:ext cx="612656" cy="545432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18" name="직사각형 117"/>
          <p:cNvSpPr/>
          <p:nvPr/>
        </p:nvSpPr>
        <p:spPr>
          <a:xfrm>
            <a:off x="5220254" y="1999811"/>
            <a:ext cx="612656" cy="545432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21" name="직사각형 120"/>
          <p:cNvSpPr/>
          <p:nvPr/>
        </p:nvSpPr>
        <p:spPr>
          <a:xfrm>
            <a:off x="931658" y="1550632"/>
            <a:ext cx="612656" cy="5454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128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22" name="직사각형 121"/>
          <p:cNvSpPr/>
          <p:nvPr/>
        </p:nvSpPr>
        <p:spPr>
          <a:xfrm>
            <a:off x="1544315" y="1550632"/>
            <a:ext cx="612656" cy="5454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64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23" name="직사각형 122"/>
          <p:cNvSpPr/>
          <p:nvPr/>
        </p:nvSpPr>
        <p:spPr>
          <a:xfrm>
            <a:off x="2156971" y="1550632"/>
            <a:ext cx="612656" cy="5454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32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24" name="직사각형 123"/>
          <p:cNvSpPr/>
          <p:nvPr/>
        </p:nvSpPr>
        <p:spPr>
          <a:xfrm>
            <a:off x="2769628" y="1550632"/>
            <a:ext cx="612656" cy="5454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16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25" name="직사각형 124"/>
          <p:cNvSpPr/>
          <p:nvPr/>
        </p:nvSpPr>
        <p:spPr>
          <a:xfrm>
            <a:off x="3382284" y="1550632"/>
            <a:ext cx="612656" cy="5454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8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26" name="직사각형 125"/>
          <p:cNvSpPr/>
          <p:nvPr/>
        </p:nvSpPr>
        <p:spPr>
          <a:xfrm>
            <a:off x="3994941" y="1550632"/>
            <a:ext cx="612656" cy="5454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4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27" name="직사각형 126"/>
          <p:cNvSpPr/>
          <p:nvPr/>
        </p:nvSpPr>
        <p:spPr>
          <a:xfrm>
            <a:off x="4607597" y="1550632"/>
            <a:ext cx="612656" cy="5454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2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28" name="직사각형 127"/>
          <p:cNvSpPr/>
          <p:nvPr/>
        </p:nvSpPr>
        <p:spPr>
          <a:xfrm>
            <a:off x="5220254" y="1550632"/>
            <a:ext cx="612656" cy="5454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29" name="직사각형 128"/>
          <p:cNvSpPr/>
          <p:nvPr/>
        </p:nvSpPr>
        <p:spPr>
          <a:xfrm>
            <a:off x="931658" y="1229790"/>
            <a:ext cx="612656" cy="5454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s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31" name="직사각형 130"/>
          <p:cNvSpPr/>
          <p:nvPr/>
        </p:nvSpPr>
        <p:spPr>
          <a:xfrm>
            <a:off x="931657" y="2804414"/>
            <a:ext cx="612656" cy="545432"/>
          </a:xfrm>
          <a:prstGeom prst="rect">
            <a:avLst/>
          </a:prstGeom>
          <a:solidFill>
            <a:srgbClr val="FFC0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32" name="직사각형 131"/>
          <p:cNvSpPr/>
          <p:nvPr/>
        </p:nvSpPr>
        <p:spPr>
          <a:xfrm>
            <a:off x="1544314" y="2804414"/>
            <a:ext cx="612656" cy="545432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33" name="직사각형 132"/>
          <p:cNvSpPr/>
          <p:nvPr/>
        </p:nvSpPr>
        <p:spPr>
          <a:xfrm>
            <a:off x="2156970" y="2804414"/>
            <a:ext cx="612656" cy="545432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34" name="직사각형 133"/>
          <p:cNvSpPr/>
          <p:nvPr/>
        </p:nvSpPr>
        <p:spPr>
          <a:xfrm>
            <a:off x="2769627" y="2804414"/>
            <a:ext cx="612656" cy="545432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35" name="직사각형 134"/>
          <p:cNvSpPr/>
          <p:nvPr/>
        </p:nvSpPr>
        <p:spPr>
          <a:xfrm>
            <a:off x="3382283" y="2804414"/>
            <a:ext cx="612656" cy="545432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36" name="직사각형 135"/>
          <p:cNvSpPr/>
          <p:nvPr/>
        </p:nvSpPr>
        <p:spPr>
          <a:xfrm>
            <a:off x="3994940" y="2804414"/>
            <a:ext cx="612656" cy="545432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37" name="직사각형 136"/>
          <p:cNvSpPr/>
          <p:nvPr/>
        </p:nvSpPr>
        <p:spPr>
          <a:xfrm>
            <a:off x="4607596" y="2804414"/>
            <a:ext cx="612656" cy="545432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38" name="직사각형 137"/>
          <p:cNvSpPr/>
          <p:nvPr/>
        </p:nvSpPr>
        <p:spPr>
          <a:xfrm>
            <a:off x="5220253" y="2804414"/>
            <a:ext cx="612656" cy="545432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40" name="TextBox 139"/>
          <p:cNvSpPr txBox="1"/>
          <p:nvPr/>
        </p:nvSpPr>
        <p:spPr>
          <a:xfrm>
            <a:off x="486339" y="2799028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smtClean="0">
                <a:latin typeface="Consolas" panose="020B0609020204030204" pitchFamily="49" charset="0"/>
              </a:rPr>
              <a:t>+</a:t>
            </a:r>
            <a:endParaRPr lang="ko-KR" altLang="en-US" sz="2400" smtClean="0">
              <a:latin typeface="Consolas" panose="020B0609020204030204" pitchFamily="49" charset="0"/>
            </a:endParaRPr>
          </a:p>
        </p:txBody>
      </p:sp>
      <p:cxnSp>
        <p:nvCxnSpPr>
          <p:cNvPr id="43" name="직선 연결선 42"/>
          <p:cNvCxnSpPr/>
          <p:nvPr/>
        </p:nvCxnSpPr>
        <p:spPr>
          <a:xfrm flipH="1">
            <a:off x="595229" y="3514478"/>
            <a:ext cx="557410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직사각형 43"/>
          <p:cNvSpPr/>
          <p:nvPr/>
        </p:nvSpPr>
        <p:spPr>
          <a:xfrm>
            <a:off x="931657" y="3616854"/>
            <a:ext cx="612656" cy="545432"/>
          </a:xfrm>
          <a:prstGeom prst="rect">
            <a:avLst/>
          </a:prstGeom>
          <a:solidFill>
            <a:srgbClr val="FFC0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5" name="직사각형 44"/>
          <p:cNvSpPr/>
          <p:nvPr/>
        </p:nvSpPr>
        <p:spPr>
          <a:xfrm>
            <a:off x="1544314" y="3616854"/>
            <a:ext cx="612656" cy="545432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6" name="직사각형 45"/>
          <p:cNvSpPr/>
          <p:nvPr/>
        </p:nvSpPr>
        <p:spPr>
          <a:xfrm>
            <a:off x="2156970" y="3616854"/>
            <a:ext cx="612656" cy="545432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7" name="직사각형 46"/>
          <p:cNvSpPr/>
          <p:nvPr/>
        </p:nvSpPr>
        <p:spPr>
          <a:xfrm>
            <a:off x="2769627" y="3616854"/>
            <a:ext cx="612656" cy="545432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8" name="직사각형 47"/>
          <p:cNvSpPr/>
          <p:nvPr/>
        </p:nvSpPr>
        <p:spPr>
          <a:xfrm>
            <a:off x="3382283" y="3616854"/>
            <a:ext cx="612656" cy="545432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3994940" y="3616854"/>
            <a:ext cx="612656" cy="545432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607596" y="3616854"/>
            <a:ext cx="612656" cy="545432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1" name="직사각형 50"/>
          <p:cNvSpPr/>
          <p:nvPr/>
        </p:nvSpPr>
        <p:spPr>
          <a:xfrm>
            <a:off x="5220253" y="3616854"/>
            <a:ext cx="612656" cy="545432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5992044" y="2036962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smtClean="0">
                <a:latin typeface="Consolas" panose="020B0609020204030204" pitchFamily="49" charset="0"/>
              </a:rPr>
              <a:t>5</a:t>
            </a:r>
            <a:endParaRPr lang="ko-KR" altLang="en-US" sz="2400" smtClean="0">
              <a:latin typeface="Consolas" panose="020B0609020204030204" pitchFamily="49" charset="0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5992044" y="2873169"/>
            <a:ext cx="5245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smtClean="0">
                <a:latin typeface="Consolas" panose="020B0609020204030204" pitchFamily="49" charset="0"/>
              </a:rPr>
              <a:t>-2</a:t>
            </a:r>
            <a:endParaRPr lang="ko-KR" altLang="en-US" sz="2400" smtClean="0">
              <a:latin typeface="Consolas" panose="020B0609020204030204" pitchFamily="49" charset="0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7319321" y="922682"/>
            <a:ext cx="7761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smtClean="0">
                <a:latin typeface="Consolas" panose="020B0609020204030204" pitchFamily="49" charset="0"/>
              </a:rPr>
              <a:t>5-2</a:t>
            </a:r>
            <a:endParaRPr lang="ko-KR" altLang="en-US" sz="2800" smtClean="0">
              <a:latin typeface="Consolas" panose="020B0609020204030204" pitchFamily="49" charset="0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7313070" y="1572844"/>
            <a:ext cx="176202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smtClean="0">
                <a:latin typeface="Consolas" panose="020B0609020204030204" pitchFamily="49" charset="0"/>
              </a:rPr>
              <a:t>10 = 2+x</a:t>
            </a:r>
            <a:endParaRPr lang="ko-KR" altLang="en-US" sz="2800" smtClean="0">
              <a:latin typeface="Consolas" panose="020B0609020204030204" pitchFamily="49" charset="0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7313070" y="2349949"/>
            <a:ext cx="49167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smtClean="0">
                <a:latin typeface="Consolas" panose="020B0609020204030204" pitchFamily="49" charset="0"/>
              </a:rPr>
              <a:t>5+(-2) =&gt; 5+8 =&gt; </a:t>
            </a:r>
            <a:r>
              <a:rPr lang="en-US" altLang="ko-KR" sz="2800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1</a:t>
            </a:r>
            <a:r>
              <a:rPr lang="en-US" altLang="ko-KR" sz="2800" smtClean="0">
                <a:latin typeface="Consolas" panose="020B0609020204030204" pitchFamily="49" charset="0"/>
              </a:rPr>
              <a:t>3 =&gt; 3</a:t>
            </a:r>
            <a:endParaRPr lang="ko-KR" altLang="en-US" sz="2800" smtClean="0">
              <a:latin typeface="Consolas" panose="020B0609020204030204" pitchFamily="49" charset="0"/>
            </a:endParaRPr>
          </a:p>
        </p:txBody>
      </p:sp>
      <p:sp>
        <p:nvSpPr>
          <p:cNvPr id="93" name="직사각형 92"/>
          <p:cNvSpPr/>
          <p:nvPr/>
        </p:nvSpPr>
        <p:spPr>
          <a:xfrm>
            <a:off x="168212" y="3616854"/>
            <a:ext cx="612656" cy="545432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38485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86063" y="232611"/>
            <a:ext cx="17139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smtClean="0">
                <a:latin typeface="Consolas" panose="020B0609020204030204" pitchFamily="49" charset="0"/>
              </a:rPr>
              <a:t>1. type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69533" y="275683"/>
            <a:ext cx="2945037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smtClean="0">
                <a:latin typeface="Consolas" panose="020B0609020204030204" pitchFamily="49" charset="0"/>
              </a:rPr>
              <a:t>char a=5, b=2;</a:t>
            </a:r>
          </a:p>
          <a:p>
            <a:r>
              <a:rPr lang="en-US" altLang="ko-KR" sz="2800" smtClean="0">
                <a:latin typeface="Consolas" panose="020B0609020204030204" pitchFamily="49" charset="0"/>
              </a:rPr>
              <a:t>5+(-2)</a:t>
            </a:r>
            <a:endParaRPr lang="ko-KR" altLang="en-US" sz="2800" smtClean="0">
              <a:latin typeface="Consolas" panose="020B0609020204030204" pitchFamily="49" charset="0"/>
            </a:endParaRPr>
          </a:p>
        </p:txBody>
      </p:sp>
      <p:sp>
        <p:nvSpPr>
          <p:cNvPr id="71" name="직사각형 70"/>
          <p:cNvSpPr/>
          <p:nvPr/>
        </p:nvSpPr>
        <p:spPr>
          <a:xfrm>
            <a:off x="931658" y="1999811"/>
            <a:ext cx="612656" cy="545432"/>
          </a:xfrm>
          <a:prstGeom prst="rect">
            <a:avLst/>
          </a:prstGeom>
          <a:solidFill>
            <a:srgbClr val="FFC0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2" name="직사각형 71"/>
          <p:cNvSpPr/>
          <p:nvPr/>
        </p:nvSpPr>
        <p:spPr>
          <a:xfrm>
            <a:off x="1544315" y="1999811"/>
            <a:ext cx="612656" cy="545432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3" name="직사각형 72"/>
          <p:cNvSpPr/>
          <p:nvPr/>
        </p:nvSpPr>
        <p:spPr>
          <a:xfrm>
            <a:off x="2156971" y="1999811"/>
            <a:ext cx="612656" cy="545432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4" name="직사각형 73"/>
          <p:cNvSpPr/>
          <p:nvPr/>
        </p:nvSpPr>
        <p:spPr>
          <a:xfrm>
            <a:off x="2769628" y="1999811"/>
            <a:ext cx="612656" cy="545432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5" name="직사각형 74"/>
          <p:cNvSpPr/>
          <p:nvPr/>
        </p:nvSpPr>
        <p:spPr>
          <a:xfrm>
            <a:off x="3382284" y="1999811"/>
            <a:ext cx="612656" cy="545432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6" name="직사각형 75"/>
          <p:cNvSpPr/>
          <p:nvPr/>
        </p:nvSpPr>
        <p:spPr>
          <a:xfrm>
            <a:off x="3994941" y="1999811"/>
            <a:ext cx="612656" cy="545432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7" name="직사각형 76"/>
          <p:cNvSpPr/>
          <p:nvPr/>
        </p:nvSpPr>
        <p:spPr>
          <a:xfrm>
            <a:off x="4607597" y="1999811"/>
            <a:ext cx="612656" cy="545432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18" name="직사각형 117"/>
          <p:cNvSpPr/>
          <p:nvPr/>
        </p:nvSpPr>
        <p:spPr>
          <a:xfrm>
            <a:off x="5220254" y="1999811"/>
            <a:ext cx="612656" cy="545432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21" name="직사각형 120"/>
          <p:cNvSpPr/>
          <p:nvPr/>
        </p:nvSpPr>
        <p:spPr>
          <a:xfrm>
            <a:off x="931658" y="1550632"/>
            <a:ext cx="612656" cy="5454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128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22" name="직사각형 121"/>
          <p:cNvSpPr/>
          <p:nvPr/>
        </p:nvSpPr>
        <p:spPr>
          <a:xfrm>
            <a:off x="1544315" y="1550632"/>
            <a:ext cx="612656" cy="5454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64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23" name="직사각형 122"/>
          <p:cNvSpPr/>
          <p:nvPr/>
        </p:nvSpPr>
        <p:spPr>
          <a:xfrm>
            <a:off x="2156971" y="1550632"/>
            <a:ext cx="612656" cy="5454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32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24" name="직사각형 123"/>
          <p:cNvSpPr/>
          <p:nvPr/>
        </p:nvSpPr>
        <p:spPr>
          <a:xfrm>
            <a:off x="2769628" y="1550632"/>
            <a:ext cx="612656" cy="5454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16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25" name="직사각형 124"/>
          <p:cNvSpPr/>
          <p:nvPr/>
        </p:nvSpPr>
        <p:spPr>
          <a:xfrm>
            <a:off x="3382284" y="1550632"/>
            <a:ext cx="612656" cy="5454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8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26" name="직사각형 125"/>
          <p:cNvSpPr/>
          <p:nvPr/>
        </p:nvSpPr>
        <p:spPr>
          <a:xfrm>
            <a:off x="3994941" y="1550632"/>
            <a:ext cx="612656" cy="5454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4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27" name="직사각형 126"/>
          <p:cNvSpPr/>
          <p:nvPr/>
        </p:nvSpPr>
        <p:spPr>
          <a:xfrm>
            <a:off x="4607597" y="1550632"/>
            <a:ext cx="612656" cy="5454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2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28" name="직사각형 127"/>
          <p:cNvSpPr/>
          <p:nvPr/>
        </p:nvSpPr>
        <p:spPr>
          <a:xfrm>
            <a:off x="5220254" y="1550632"/>
            <a:ext cx="612656" cy="5454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29" name="직사각형 128"/>
          <p:cNvSpPr/>
          <p:nvPr/>
        </p:nvSpPr>
        <p:spPr>
          <a:xfrm>
            <a:off x="931658" y="1229790"/>
            <a:ext cx="612656" cy="5454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s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5992044" y="2036962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smtClean="0">
                <a:latin typeface="Consolas" panose="020B0609020204030204" pitchFamily="49" charset="0"/>
              </a:rPr>
              <a:t>8</a:t>
            </a:r>
            <a:endParaRPr lang="ko-KR" altLang="en-US" sz="2400" smtClean="0">
              <a:latin typeface="Consolas" panose="020B0609020204030204" pitchFamily="49" charset="0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931657" y="3578062"/>
            <a:ext cx="612656" cy="545432"/>
          </a:xfrm>
          <a:prstGeom prst="rect">
            <a:avLst/>
          </a:prstGeom>
          <a:solidFill>
            <a:srgbClr val="FFC0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1544314" y="3578062"/>
            <a:ext cx="612656" cy="545432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8" name="직사각형 57"/>
          <p:cNvSpPr/>
          <p:nvPr/>
        </p:nvSpPr>
        <p:spPr>
          <a:xfrm>
            <a:off x="2156970" y="3578062"/>
            <a:ext cx="612656" cy="545432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9" name="직사각형 58"/>
          <p:cNvSpPr/>
          <p:nvPr/>
        </p:nvSpPr>
        <p:spPr>
          <a:xfrm>
            <a:off x="2769627" y="3578062"/>
            <a:ext cx="612656" cy="545432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0" name="직사각형 59"/>
          <p:cNvSpPr/>
          <p:nvPr/>
        </p:nvSpPr>
        <p:spPr>
          <a:xfrm>
            <a:off x="3382283" y="3578062"/>
            <a:ext cx="612656" cy="545432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1" name="직사각형 60"/>
          <p:cNvSpPr/>
          <p:nvPr/>
        </p:nvSpPr>
        <p:spPr>
          <a:xfrm>
            <a:off x="3994940" y="3578062"/>
            <a:ext cx="612656" cy="545432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2" name="직사각형 61"/>
          <p:cNvSpPr/>
          <p:nvPr/>
        </p:nvSpPr>
        <p:spPr>
          <a:xfrm>
            <a:off x="4607596" y="3578062"/>
            <a:ext cx="612656" cy="545432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3" name="직사각형 62"/>
          <p:cNvSpPr/>
          <p:nvPr/>
        </p:nvSpPr>
        <p:spPr>
          <a:xfrm>
            <a:off x="5220253" y="3578062"/>
            <a:ext cx="612656" cy="545432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" name="오른쪽 화살표 1"/>
          <p:cNvSpPr/>
          <p:nvPr/>
        </p:nvSpPr>
        <p:spPr>
          <a:xfrm flipH="1">
            <a:off x="3994938" y="1291389"/>
            <a:ext cx="1708029" cy="259243"/>
          </a:xfrm>
          <a:prstGeom prst="rightArrow">
            <a:avLst/>
          </a:prstGeom>
          <a:solidFill>
            <a:srgbClr val="FF00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grpSp>
        <p:nvGrpSpPr>
          <p:cNvPr id="8" name="그룹 7"/>
          <p:cNvGrpSpPr/>
          <p:nvPr/>
        </p:nvGrpSpPr>
        <p:grpSpPr>
          <a:xfrm>
            <a:off x="1083390" y="2528185"/>
            <a:ext cx="309192" cy="1049877"/>
            <a:chOff x="6938211" y="2545243"/>
            <a:chExt cx="433136" cy="1470735"/>
          </a:xfrm>
        </p:grpSpPr>
        <p:sp>
          <p:nvSpPr>
            <p:cNvPr id="3" name="이등변 삼각형 2"/>
            <p:cNvSpPr/>
            <p:nvPr/>
          </p:nvSpPr>
          <p:spPr>
            <a:xfrm rot="10800000">
              <a:off x="6938211" y="3056021"/>
              <a:ext cx="433136" cy="320842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mtClean="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5" name="타원 4"/>
            <p:cNvSpPr/>
            <p:nvPr/>
          </p:nvSpPr>
          <p:spPr>
            <a:xfrm>
              <a:off x="7090610" y="3376863"/>
              <a:ext cx="128337" cy="12833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mtClean="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cxnSp>
          <p:nvCxnSpPr>
            <p:cNvPr id="7" name="직선 연결선 6"/>
            <p:cNvCxnSpPr>
              <a:endCxn id="3" idx="3"/>
            </p:cNvCxnSpPr>
            <p:nvPr/>
          </p:nvCxnSpPr>
          <p:spPr>
            <a:xfrm>
              <a:off x="7154778" y="2545243"/>
              <a:ext cx="1" cy="51077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직선 연결선 63"/>
            <p:cNvCxnSpPr/>
            <p:nvPr/>
          </p:nvCxnSpPr>
          <p:spPr>
            <a:xfrm>
              <a:off x="7154778" y="3505200"/>
              <a:ext cx="1" cy="51077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5" name="그룹 64"/>
          <p:cNvGrpSpPr/>
          <p:nvPr/>
        </p:nvGrpSpPr>
        <p:grpSpPr>
          <a:xfrm>
            <a:off x="1703448" y="2528185"/>
            <a:ext cx="309192" cy="1049877"/>
            <a:chOff x="6938211" y="2545243"/>
            <a:chExt cx="433136" cy="1470735"/>
          </a:xfrm>
        </p:grpSpPr>
        <p:sp>
          <p:nvSpPr>
            <p:cNvPr id="66" name="이등변 삼각형 65"/>
            <p:cNvSpPr/>
            <p:nvPr/>
          </p:nvSpPr>
          <p:spPr>
            <a:xfrm rot="10800000">
              <a:off x="6938211" y="3056021"/>
              <a:ext cx="433136" cy="320842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mtClean="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67" name="타원 66"/>
            <p:cNvSpPr/>
            <p:nvPr/>
          </p:nvSpPr>
          <p:spPr>
            <a:xfrm>
              <a:off x="7090610" y="3376863"/>
              <a:ext cx="128337" cy="12833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mtClean="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cxnSp>
          <p:nvCxnSpPr>
            <p:cNvPr id="68" name="직선 연결선 67"/>
            <p:cNvCxnSpPr>
              <a:endCxn id="66" idx="3"/>
            </p:cNvCxnSpPr>
            <p:nvPr/>
          </p:nvCxnSpPr>
          <p:spPr>
            <a:xfrm>
              <a:off x="7154778" y="2545243"/>
              <a:ext cx="1" cy="51077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직선 연결선 68"/>
            <p:cNvCxnSpPr/>
            <p:nvPr/>
          </p:nvCxnSpPr>
          <p:spPr>
            <a:xfrm>
              <a:off x="7154778" y="3505200"/>
              <a:ext cx="1" cy="51077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0" name="그룹 69"/>
          <p:cNvGrpSpPr/>
          <p:nvPr/>
        </p:nvGrpSpPr>
        <p:grpSpPr>
          <a:xfrm>
            <a:off x="2323506" y="2528185"/>
            <a:ext cx="309192" cy="1049877"/>
            <a:chOff x="6938211" y="2545243"/>
            <a:chExt cx="433136" cy="1470735"/>
          </a:xfrm>
        </p:grpSpPr>
        <p:sp>
          <p:nvSpPr>
            <p:cNvPr id="78" name="이등변 삼각형 77"/>
            <p:cNvSpPr/>
            <p:nvPr/>
          </p:nvSpPr>
          <p:spPr>
            <a:xfrm rot="10800000">
              <a:off x="6938211" y="3056021"/>
              <a:ext cx="433136" cy="320842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mtClean="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79" name="타원 78"/>
            <p:cNvSpPr/>
            <p:nvPr/>
          </p:nvSpPr>
          <p:spPr>
            <a:xfrm>
              <a:off x="7090610" y="3376863"/>
              <a:ext cx="128337" cy="12833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mtClean="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cxnSp>
          <p:nvCxnSpPr>
            <p:cNvPr id="80" name="직선 연결선 79"/>
            <p:cNvCxnSpPr>
              <a:endCxn id="78" idx="3"/>
            </p:cNvCxnSpPr>
            <p:nvPr/>
          </p:nvCxnSpPr>
          <p:spPr>
            <a:xfrm>
              <a:off x="7154778" y="2545243"/>
              <a:ext cx="1" cy="51077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직선 연결선 80"/>
            <p:cNvCxnSpPr/>
            <p:nvPr/>
          </p:nvCxnSpPr>
          <p:spPr>
            <a:xfrm>
              <a:off x="7154778" y="3505200"/>
              <a:ext cx="1" cy="51077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2" name="그룹 81"/>
          <p:cNvGrpSpPr/>
          <p:nvPr/>
        </p:nvGrpSpPr>
        <p:grpSpPr>
          <a:xfrm>
            <a:off x="2943564" y="2528185"/>
            <a:ext cx="309192" cy="1049877"/>
            <a:chOff x="6938211" y="2545243"/>
            <a:chExt cx="433136" cy="1470735"/>
          </a:xfrm>
        </p:grpSpPr>
        <p:sp>
          <p:nvSpPr>
            <p:cNvPr id="83" name="이등변 삼각형 82"/>
            <p:cNvSpPr/>
            <p:nvPr/>
          </p:nvSpPr>
          <p:spPr>
            <a:xfrm rot="10800000">
              <a:off x="6938211" y="3056021"/>
              <a:ext cx="433136" cy="320842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mtClean="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84" name="타원 83"/>
            <p:cNvSpPr/>
            <p:nvPr/>
          </p:nvSpPr>
          <p:spPr>
            <a:xfrm>
              <a:off x="7090610" y="3376863"/>
              <a:ext cx="128337" cy="12833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mtClean="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cxnSp>
          <p:nvCxnSpPr>
            <p:cNvPr id="85" name="직선 연결선 84"/>
            <p:cNvCxnSpPr>
              <a:endCxn id="83" idx="3"/>
            </p:cNvCxnSpPr>
            <p:nvPr/>
          </p:nvCxnSpPr>
          <p:spPr>
            <a:xfrm>
              <a:off x="7154778" y="2545243"/>
              <a:ext cx="1" cy="51077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직선 연결선 85"/>
            <p:cNvCxnSpPr/>
            <p:nvPr/>
          </p:nvCxnSpPr>
          <p:spPr>
            <a:xfrm>
              <a:off x="7154778" y="3505200"/>
              <a:ext cx="1" cy="51077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1" name="직선 연결선 10"/>
          <p:cNvCxnSpPr>
            <a:stCxn id="75" idx="2"/>
            <a:endCxn id="60" idx="0"/>
          </p:cNvCxnSpPr>
          <p:nvPr/>
        </p:nvCxnSpPr>
        <p:spPr>
          <a:xfrm flipH="1">
            <a:off x="3688611" y="2545243"/>
            <a:ext cx="1" cy="103281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직선 연결선 86"/>
          <p:cNvCxnSpPr>
            <a:stCxn id="76" idx="2"/>
            <a:endCxn id="61" idx="0"/>
          </p:cNvCxnSpPr>
          <p:nvPr/>
        </p:nvCxnSpPr>
        <p:spPr>
          <a:xfrm flipH="1">
            <a:off x="4301268" y="2545243"/>
            <a:ext cx="1" cy="103281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직선 연결선 87"/>
          <p:cNvCxnSpPr>
            <a:stCxn id="77" idx="2"/>
            <a:endCxn id="62" idx="0"/>
          </p:cNvCxnSpPr>
          <p:nvPr/>
        </p:nvCxnSpPr>
        <p:spPr>
          <a:xfrm flipH="1">
            <a:off x="4913924" y="2545243"/>
            <a:ext cx="1" cy="103281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직선 연결선 88"/>
          <p:cNvCxnSpPr>
            <a:stCxn id="118" idx="2"/>
            <a:endCxn id="63" idx="0"/>
          </p:cNvCxnSpPr>
          <p:nvPr/>
        </p:nvCxnSpPr>
        <p:spPr>
          <a:xfrm flipH="1">
            <a:off x="5526581" y="2545243"/>
            <a:ext cx="1" cy="103281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32200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4886037" y="1344188"/>
            <a:ext cx="612656" cy="545432"/>
          </a:xfrm>
          <a:prstGeom prst="rect">
            <a:avLst/>
          </a:prstGeom>
          <a:solidFill>
            <a:srgbClr val="FFC0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5498694" y="1344188"/>
            <a:ext cx="612656" cy="545432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6111350" y="1344188"/>
            <a:ext cx="612656" cy="545432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6724007" y="1344188"/>
            <a:ext cx="612656" cy="545432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7336663" y="1344188"/>
            <a:ext cx="612656" cy="545432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7949320" y="1344188"/>
            <a:ext cx="612656" cy="545432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8561976" y="1344188"/>
            <a:ext cx="612656" cy="545432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9174633" y="1344188"/>
            <a:ext cx="612656" cy="545432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4886037" y="895009"/>
            <a:ext cx="612656" cy="5454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128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5498694" y="895009"/>
            <a:ext cx="612656" cy="5454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64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6111350" y="895009"/>
            <a:ext cx="612656" cy="5454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32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6724007" y="895009"/>
            <a:ext cx="612656" cy="5454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16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7336663" y="895009"/>
            <a:ext cx="612656" cy="5454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8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7" name="직사각형 16"/>
          <p:cNvSpPr/>
          <p:nvPr/>
        </p:nvSpPr>
        <p:spPr>
          <a:xfrm>
            <a:off x="7949320" y="895009"/>
            <a:ext cx="612656" cy="5454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4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8561976" y="895009"/>
            <a:ext cx="612656" cy="5454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2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9" name="직사각형 18"/>
          <p:cNvSpPr/>
          <p:nvPr/>
        </p:nvSpPr>
        <p:spPr>
          <a:xfrm>
            <a:off x="9174633" y="895009"/>
            <a:ext cx="612656" cy="5454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0" name="직사각형 19"/>
          <p:cNvSpPr/>
          <p:nvPr/>
        </p:nvSpPr>
        <p:spPr>
          <a:xfrm>
            <a:off x="4886037" y="574167"/>
            <a:ext cx="612656" cy="5454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s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918672" y="2612911"/>
                <a:ext cx="2917209" cy="135421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4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ko-KR" sz="4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44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</m:e>
                        <m:sup>
                          <m:r>
                            <a:rPr lang="en-US" altLang="ko-KR" sz="4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p>
                      </m:sSup>
                      <m:r>
                        <a:rPr lang="en-US" altLang="ko-KR" sz="4400" b="0" i="1" smtClean="0">
                          <a:latin typeface="Cambria Math" panose="02040503050406030204" pitchFamily="18" charset="0"/>
                        </a:rPr>
                        <m:t>∗56</m:t>
                      </m:r>
                    </m:oMath>
                  </m:oMathPara>
                </a14:m>
                <a:endParaRPr lang="en-US" altLang="ko-KR" sz="4400" b="0" smtClean="0">
                  <a:latin typeface="Consolas" panose="020B0609020204030204" pitchFamily="49" charset="0"/>
                </a:endParaRPr>
              </a:p>
              <a:p>
                <a:endParaRPr lang="ko-KR" altLang="en-US" sz="4400" smtClean="0">
                  <a:latin typeface="Consolas" panose="020B0609020204030204" pitchFamily="49" charset="0"/>
                </a:endParaRPr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8672" y="2612911"/>
                <a:ext cx="2917209" cy="135421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직사각형 33"/>
          <p:cNvSpPr/>
          <p:nvPr/>
        </p:nvSpPr>
        <p:spPr>
          <a:xfrm>
            <a:off x="4899479" y="2114209"/>
            <a:ext cx="612656" cy="545432"/>
          </a:xfrm>
          <a:prstGeom prst="rect">
            <a:avLst/>
          </a:prstGeom>
          <a:solidFill>
            <a:srgbClr val="FFC0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5" name="직사각형 34"/>
          <p:cNvSpPr/>
          <p:nvPr/>
        </p:nvSpPr>
        <p:spPr>
          <a:xfrm>
            <a:off x="5512136" y="2114209"/>
            <a:ext cx="612656" cy="545432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6124792" y="2114209"/>
            <a:ext cx="612656" cy="545432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6737449" y="2114209"/>
            <a:ext cx="612656" cy="545432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7350105" y="2114209"/>
            <a:ext cx="612656" cy="545432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9" name="직사각형 38"/>
          <p:cNvSpPr/>
          <p:nvPr/>
        </p:nvSpPr>
        <p:spPr>
          <a:xfrm>
            <a:off x="7962762" y="2114209"/>
            <a:ext cx="612656" cy="545432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0" name="직사각형 39"/>
          <p:cNvSpPr/>
          <p:nvPr/>
        </p:nvSpPr>
        <p:spPr>
          <a:xfrm>
            <a:off x="8575418" y="2114209"/>
            <a:ext cx="612656" cy="545432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1" name="직사각형 40"/>
          <p:cNvSpPr/>
          <p:nvPr/>
        </p:nvSpPr>
        <p:spPr>
          <a:xfrm>
            <a:off x="9188075" y="2114209"/>
            <a:ext cx="612656" cy="545432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2" name="오른쪽 화살표 41"/>
          <p:cNvSpPr/>
          <p:nvPr/>
        </p:nvSpPr>
        <p:spPr>
          <a:xfrm flipH="1">
            <a:off x="7603958" y="434460"/>
            <a:ext cx="1781129" cy="401053"/>
          </a:xfrm>
          <a:prstGeom prst="rightArrow">
            <a:avLst/>
          </a:prstGeom>
          <a:solidFill>
            <a:srgbClr val="FF00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07397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97306" y="473242"/>
            <a:ext cx="1158201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600" smtClean="0">
                <a:latin typeface="Consolas" panose="020B0609020204030204" pitchFamily="49" charset="0"/>
              </a:rPr>
              <a:t>short s = 0xfffc;      // </a:t>
            </a:r>
            <a:r>
              <a:rPr lang="en-US" altLang="ko-KR" sz="3600" smtClean="0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  <a:r>
              <a:rPr lang="en-US" altLang="ko-KR" sz="3600" smtClean="0">
                <a:latin typeface="Consolas" panose="020B0609020204030204" pitchFamily="49" charset="0"/>
              </a:rPr>
              <a:t>111 1111 1111 1100</a:t>
            </a:r>
          </a:p>
          <a:p>
            <a:r>
              <a:rPr lang="en-US" altLang="ko-KR" sz="3600" smtClean="0">
                <a:latin typeface="Consolas" panose="020B0609020204030204" pitchFamily="49" charset="0"/>
              </a:rPr>
              <a:t>printf("s=%d\n", s );  // 0000 0000 0000 0100</a:t>
            </a:r>
            <a:endParaRPr lang="ko-KR" altLang="en-US" sz="3600" smtClean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034309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990600" y="472440"/>
            <a:ext cx="4110421" cy="42473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Consolas" panose="020B0609020204030204" pitchFamily="49" charset="0"/>
              </a:rPr>
              <a:t>#include &lt;stdio.h&gt;</a:t>
            </a:r>
          </a:p>
          <a:p>
            <a:endParaRPr lang="en-US" altLang="ko-KR">
              <a:latin typeface="Consolas" panose="020B0609020204030204" pitchFamily="49" charset="0"/>
            </a:endParaRPr>
          </a:p>
          <a:p>
            <a:r>
              <a:rPr lang="en-US" altLang="ko-KR">
                <a:latin typeface="Consolas" panose="020B0609020204030204" pitchFamily="49" charset="0"/>
              </a:rPr>
              <a:t>typedef struct</a:t>
            </a:r>
          </a:p>
          <a:p>
            <a:r>
              <a:rPr lang="en-US" altLang="ko-KR">
                <a:latin typeface="Consolas" panose="020B0609020204030204" pitchFamily="49" charset="0"/>
              </a:rPr>
              <a:t>{</a:t>
            </a:r>
          </a:p>
          <a:p>
            <a:r>
              <a:rPr lang="en-US" altLang="ko-KR">
                <a:latin typeface="Consolas" panose="020B0609020204030204" pitchFamily="49" charset="0"/>
              </a:rPr>
              <a:t>    char ch : 2;</a:t>
            </a:r>
          </a:p>
          <a:p>
            <a:r>
              <a:rPr lang="en-US" altLang="ko-KR">
                <a:latin typeface="Consolas" panose="020B0609020204030204" pitchFamily="49" charset="0"/>
              </a:rPr>
              <a:t>} BIT;</a:t>
            </a:r>
          </a:p>
          <a:p>
            <a:endParaRPr lang="en-US" altLang="ko-KR">
              <a:latin typeface="Consolas" panose="020B0609020204030204" pitchFamily="49" charset="0"/>
            </a:endParaRPr>
          </a:p>
          <a:p>
            <a:r>
              <a:rPr lang="en-US" altLang="ko-KR">
                <a:latin typeface="Consolas" panose="020B0609020204030204" pitchFamily="49" charset="0"/>
              </a:rPr>
              <a:t>int main()</a:t>
            </a:r>
          </a:p>
          <a:p>
            <a:r>
              <a:rPr lang="en-US" altLang="ko-KR">
                <a:latin typeface="Consolas" panose="020B0609020204030204" pitchFamily="49" charset="0"/>
              </a:rPr>
              <a:t>{</a:t>
            </a:r>
          </a:p>
          <a:p>
            <a:r>
              <a:rPr lang="en-US" altLang="ko-KR">
                <a:latin typeface="Consolas" panose="020B0609020204030204" pitchFamily="49" charset="0"/>
              </a:rPr>
              <a:t>    BIT b;</a:t>
            </a:r>
          </a:p>
          <a:p>
            <a:endParaRPr lang="en-US" altLang="ko-KR">
              <a:latin typeface="Consolas" panose="020B0609020204030204" pitchFamily="49" charset="0"/>
            </a:endParaRPr>
          </a:p>
          <a:p>
            <a:r>
              <a:rPr lang="en-US" altLang="ko-KR">
                <a:latin typeface="Consolas" panose="020B0609020204030204" pitchFamily="49" charset="0"/>
              </a:rPr>
              <a:t>    b.ch = 2;</a:t>
            </a:r>
          </a:p>
          <a:p>
            <a:r>
              <a:rPr lang="en-US" altLang="ko-KR">
                <a:latin typeface="Consolas" panose="020B0609020204030204" pitchFamily="49" charset="0"/>
              </a:rPr>
              <a:t>    printf("b.ch=%d\n", b.ch );</a:t>
            </a:r>
          </a:p>
          <a:p>
            <a:r>
              <a:rPr lang="en-US" altLang="ko-KR">
                <a:latin typeface="Consolas" panose="020B0609020204030204" pitchFamily="49" charset="0"/>
              </a:rPr>
              <a:t>    return 0;</a:t>
            </a:r>
          </a:p>
          <a:p>
            <a:r>
              <a:rPr lang="en-US" altLang="ko-KR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7" name="직사각형 6"/>
          <p:cNvSpPr/>
          <p:nvPr/>
        </p:nvSpPr>
        <p:spPr>
          <a:xfrm>
            <a:off x="6614652" y="1106129"/>
            <a:ext cx="553064" cy="582561"/>
          </a:xfrm>
          <a:prstGeom prst="rect">
            <a:avLst/>
          </a:prstGeom>
          <a:solidFill>
            <a:srgbClr val="FFC0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7167716" y="1106128"/>
            <a:ext cx="553064" cy="582561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6614652" y="523566"/>
            <a:ext cx="553064" cy="58256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2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7167716" y="523565"/>
            <a:ext cx="553064" cy="58256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061588" y="3480620"/>
            <a:ext cx="57900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smtClean="0">
                <a:latin typeface="Consolas" panose="020B0609020204030204" pitchFamily="49" charset="0"/>
              </a:rPr>
              <a:t>-2</a:t>
            </a:r>
            <a:endParaRPr lang="ko-KR" altLang="en-US" sz="2800" smtClean="0">
              <a:latin typeface="Consolas" panose="020B0609020204030204" pitchFamily="49" charset="0"/>
            </a:endParaRPr>
          </a:p>
        </p:txBody>
      </p:sp>
      <p:cxnSp>
        <p:nvCxnSpPr>
          <p:cNvPr id="13" name="직선 화살표 연결선 12"/>
          <p:cNvCxnSpPr/>
          <p:nvPr/>
        </p:nvCxnSpPr>
        <p:spPr>
          <a:xfrm flipH="1" flipV="1">
            <a:off x="6614652" y="398206"/>
            <a:ext cx="1032387" cy="1474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/>
          <p:cNvSpPr/>
          <p:nvPr/>
        </p:nvSpPr>
        <p:spPr>
          <a:xfrm>
            <a:off x="6614652" y="2086897"/>
            <a:ext cx="553064" cy="582561"/>
          </a:xfrm>
          <a:prstGeom prst="rect">
            <a:avLst/>
          </a:prstGeom>
          <a:solidFill>
            <a:srgbClr val="FFC0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7167716" y="2086896"/>
            <a:ext cx="553064" cy="582561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395381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990600" y="472440"/>
            <a:ext cx="2717411" cy="48013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Consolas" panose="020B0609020204030204" pitchFamily="49" charset="0"/>
              </a:rPr>
              <a:t>#include &lt;stdio.h&gt;</a:t>
            </a:r>
          </a:p>
          <a:p>
            <a:endParaRPr lang="en-US" altLang="ko-KR">
              <a:latin typeface="Consolas" panose="020B0609020204030204" pitchFamily="49" charset="0"/>
            </a:endParaRPr>
          </a:p>
          <a:p>
            <a:r>
              <a:rPr lang="en-US" altLang="ko-KR">
                <a:latin typeface="Consolas" panose="020B0609020204030204" pitchFamily="49" charset="0"/>
              </a:rPr>
              <a:t>typedef struct</a:t>
            </a:r>
          </a:p>
          <a:p>
            <a:r>
              <a:rPr lang="en-US" altLang="ko-KR">
                <a:latin typeface="Consolas" panose="020B0609020204030204" pitchFamily="49" charset="0"/>
              </a:rPr>
              <a:t>{</a:t>
            </a:r>
          </a:p>
          <a:p>
            <a:r>
              <a:rPr lang="en-US" altLang="ko-KR">
                <a:latin typeface="Consolas" panose="020B0609020204030204" pitchFamily="49" charset="0"/>
              </a:rPr>
              <a:t>    char ch </a:t>
            </a:r>
            <a:r>
              <a:rPr lang="en-US" altLang="ko-KR">
                <a:latin typeface="Consolas" panose="020B0609020204030204" pitchFamily="49" charset="0"/>
              </a:rPr>
              <a:t>: </a:t>
            </a:r>
            <a:r>
              <a:rPr lang="en-US" altLang="ko-KR" smtClean="0">
                <a:latin typeface="Consolas" panose="020B0609020204030204" pitchFamily="49" charset="0"/>
              </a:rPr>
              <a:t>1;</a:t>
            </a:r>
            <a:endParaRPr lang="en-US" altLang="ko-KR">
              <a:latin typeface="Consolas" panose="020B0609020204030204" pitchFamily="49" charset="0"/>
            </a:endParaRPr>
          </a:p>
          <a:p>
            <a:r>
              <a:rPr lang="en-US" altLang="ko-KR">
                <a:latin typeface="Consolas" panose="020B0609020204030204" pitchFamily="49" charset="0"/>
              </a:rPr>
              <a:t>} BIT;</a:t>
            </a:r>
          </a:p>
          <a:p>
            <a:endParaRPr lang="en-US" altLang="ko-KR">
              <a:latin typeface="Consolas" panose="020B0609020204030204" pitchFamily="49" charset="0"/>
            </a:endParaRPr>
          </a:p>
          <a:p>
            <a:r>
              <a:rPr lang="en-US" altLang="ko-KR">
                <a:latin typeface="Consolas" panose="020B0609020204030204" pitchFamily="49" charset="0"/>
              </a:rPr>
              <a:t>int main()</a:t>
            </a:r>
          </a:p>
          <a:p>
            <a:r>
              <a:rPr lang="en-US" altLang="ko-KR">
                <a:latin typeface="Consolas" panose="020B0609020204030204" pitchFamily="49" charset="0"/>
              </a:rPr>
              <a:t>{</a:t>
            </a:r>
          </a:p>
          <a:p>
            <a:r>
              <a:rPr lang="en-US" altLang="ko-KR">
                <a:latin typeface="Consolas" panose="020B0609020204030204" pitchFamily="49" charset="0"/>
              </a:rPr>
              <a:t>    BIT b;</a:t>
            </a:r>
          </a:p>
          <a:p>
            <a:endParaRPr lang="en-US" altLang="ko-KR">
              <a:latin typeface="Consolas" panose="020B0609020204030204" pitchFamily="49" charset="0"/>
            </a:endParaRPr>
          </a:p>
          <a:p>
            <a:r>
              <a:rPr lang="en-US" altLang="ko-KR">
                <a:latin typeface="Consolas" panose="020B0609020204030204" pitchFamily="49" charset="0"/>
              </a:rPr>
              <a:t>    b.ch </a:t>
            </a:r>
            <a:r>
              <a:rPr lang="en-US" altLang="ko-KR">
                <a:latin typeface="Consolas" panose="020B0609020204030204" pitchFamily="49" charset="0"/>
              </a:rPr>
              <a:t>= </a:t>
            </a:r>
            <a:r>
              <a:rPr lang="en-US" altLang="ko-KR" smtClean="0">
                <a:latin typeface="Consolas" panose="020B0609020204030204" pitchFamily="49" charset="0"/>
              </a:rPr>
              <a:t>1;</a:t>
            </a:r>
            <a:endParaRPr lang="en-US" altLang="ko-KR">
              <a:latin typeface="Consolas" panose="020B0609020204030204" pitchFamily="49" charset="0"/>
            </a:endParaRPr>
          </a:p>
          <a:p>
            <a:endParaRPr lang="en-US" altLang="ko-KR" smtClean="0">
              <a:latin typeface="Consolas" panose="020B0609020204030204" pitchFamily="49" charset="0"/>
            </a:endParaRPr>
          </a:p>
          <a:p>
            <a:r>
              <a:rPr lang="en-US" altLang="ko-KR">
                <a:latin typeface="Consolas" panose="020B0609020204030204" pitchFamily="49" charset="0"/>
              </a:rPr>
              <a:t> </a:t>
            </a:r>
            <a:r>
              <a:rPr lang="en-US" altLang="ko-KR" smtClean="0">
                <a:latin typeface="Consolas" panose="020B0609020204030204" pitchFamily="49" charset="0"/>
              </a:rPr>
              <a:t>   if( b.ch == 1)</a:t>
            </a:r>
          </a:p>
          <a:p>
            <a:r>
              <a:rPr lang="en-US" altLang="ko-KR">
                <a:latin typeface="Consolas" panose="020B0609020204030204" pitchFamily="49" charset="0"/>
              </a:rPr>
              <a:t> </a:t>
            </a:r>
            <a:r>
              <a:rPr lang="en-US" altLang="ko-KR" smtClean="0">
                <a:latin typeface="Consolas" panose="020B0609020204030204" pitchFamily="49" charset="0"/>
              </a:rPr>
              <a:t>      led_on();    </a:t>
            </a:r>
          </a:p>
          <a:p>
            <a:r>
              <a:rPr lang="en-US" altLang="ko-KR" smtClean="0">
                <a:latin typeface="Consolas" panose="020B0609020204030204" pitchFamily="49" charset="0"/>
              </a:rPr>
              <a:t>    </a:t>
            </a:r>
            <a:r>
              <a:rPr lang="en-US" altLang="ko-KR">
                <a:latin typeface="Consolas" panose="020B0609020204030204" pitchFamily="49" charset="0"/>
              </a:rPr>
              <a:t>return 0;</a:t>
            </a:r>
          </a:p>
          <a:p>
            <a:r>
              <a:rPr lang="en-US" altLang="ko-KR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7" name="직사각형 6"/>
          <p:cNvSpPr/>
          <p:nvPr/>
        </p:nvSpPr>
        <p:spPr>
          <a:xfrm>
            <a:off x="8104239" y="1106129"/>
            <a:ext cx="553064" cy="582561"/>
          </a:xfrm>
          <a:prstGeom prst="rect">
            <a:avLst/>
          </a:prstGeom>
          <a:solidFill>
            <a:srgbClr val="FFC0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8104239" y="523566"/>
            <a:ext cx="553064" cy="58256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551175" y="3480620"/>
            <a:ext cx="57900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smtClean="0">
                <a:latin typeface="Consolas" panose="020B0609020204030204" pitchFamily="49" charset="0"/>
              </a:rPr>
              <a:t>-1</a:t>
            </a:r>
            <a:endParaRPr lang="ko-KR" altLang="en-US" sz="2800" smtClean="0">
              <a:latin typeface="Consolas" panose="020B0609020204030204" pitchFamily="49" charset="0"/>
            </a:endParaRPr>
          </a:p>
        </p:txBody>
      </p:sp>
      <p:cxnSp>
        <p:nvCxnSpPr>
          <p:cNvPr id="13" name="직선 화살표 연결선 12"/>
          <p:cNvCxnSpPr/>
          <p:nvPr/>
        </p:nvCxnSpPr>
        <p:spPr>
          <a:xfrm flipH="1" flipV="1">
            <a:off x="8878529" y="472440"/>
            <a:ext cx="744795" cy="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/>
          <p:cNvSpPr/>
          <p:nvPr/>
        </p:nvSpPr>
        <p:spPr>
          <a:xfrm>
            <a:off x="8104239" y="2086897"/>
            <a:ext cx="553064" cy="582561"/>
          </a:xfrm>
          <a:prstGeom prst="rect">
            <a:avLst/>
          </a:prstGeom>
          <a:solidFill>
            <a:srgbClr val="FFC0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137310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26806" y="213851"/>
            <a:ext cx="353654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smtClean="0">
                <a:latin typeface="Consolas" panose="020B0609020204030204" pitchFamily="49" charset="0"/>
              </a:rPr>
              <a:t>float f = 10.25f;</a:t>
            </a:r>
            <a:endParaRPr lang="ko-KR" altLang="en-US" sz="2800" smtClean="0">
              <a:latin typeface="Consolas" panose="020B0609020204030204" pitchFamily="49" charset="0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626806" y="2676832"/>
            <a:ext cx="331839" cy="464575"/>
          </a:xfrm>
          <a:prstGeom prst="rect">
            <a:avLst/>
          </a:prstGeom>
          <a:solidFill>
            <a:srgbClr val="FFC0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958645" y="2676832"/>
            <a:ext cx="331839" cy="464575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1290484" y="2676832"/>
            <a:ext cx="331839" cy="464575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1622323" y="2676832"/>
            <a:ext cx="331839" cy="464575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1954162" y="2676832"/>
            <a:ext cx="331839" cy="464575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2286001" y="2676832"/>
            <a:ext cx="331839" cy="464575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2617840" y="2676832"/>
            <a:ext cx="331839" cy="464575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2949679" y="2676832"/>
            <a:ext cx="331839" cy="464575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3311016" y="2676832"/>
            <a:ext cx="331839" cy="464575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642855" y="2676832"/>
            <a:ext cx="331839" cy="464575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974694" y="2676832"/>
            <a:ext cx="331839" cy="464575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4306533" y="2676832"/>
            <a:ext cx="331839" cy="464575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7" name="직사각형 16"/>
          <p:cNvSpPr/>
          <p:nvPr/>
        </p:nvSpPr>
        <p:spPr>
          <a:xfrm>
            <a:off x="4638372" y="2676832"/>
            <a:ext cx="331839" cy="464575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4970211" y="2676832"/>
            <a:ext cx="331839" cy="464575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9" name="직사각형 18"/>
          <p:cNvSpPr/>
          <p:nvPr/>
        </p:nvSpPr>
        <p:spPr>
          <a:xfrm>
            <a:off x="5302050" y="2676832"/>
            <a:ext cx="331839" cy="464575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0" name="직사각형 19"/>
          <p:cNvSpPr/>
          <p:nvPr/>
        </p:nvSpPr>
        <p:spPr>
          <a:xfrm>
            <a:off x="5633889" y="2676832"/>
            <a:ext cx="331839" cy="464575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6172207" y="2676832"/>
            <a:ext cx="331839" cy="464575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6504046" y="2676832"/>
            <a:ext cx="331839" cy="464575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6835885" y="2676832"/>
            <a:ext cx="331839" cy="464575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7167724" y="2676832"/>
            <a:ext cx="331839" cy="464575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7499563" y="2676832"/>
            <a:ext cx="331839" cy="464575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7831402" y="2676832"/>
            <a:ext cx="331839" cy="464575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8163241" y="2676832"/>
            <a:ext cx="331839" cy="464575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8495080" y="2676832"/>
            <a:ext cx="331839" cy="464575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8856417" y="2676832"/>
            <a:ext cx="331839" cy="464575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0" name="직사각형 29"/>
          <p:cNvSpPr/>
          <p:nvPr/>
        </p:nvSpPr>
        <p:spPr>
          <a:xfrm>
            <a:off x="9188256" y="2676832"/>
            <a:ext cx="331839" cy="464575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9520095" y="2676832"/>
            <a:ext cx="331839" cy="464575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2" name="직사각형 31"/>
          <p:cNvSpPr/>
          <p:nvPr/>
        </p:nvSpPr>
        <p:spPr>
          <a:xfrm>
            <a:off x="9851934" y="2676832"/>
            <a:ext cx="331839" cy="464575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3" name="직사각형 32"/>
          <p:cNvSpPr/>
          <p:nvPr/>
        </p:nvSpPr>
        <p:spPr>
          <a:xfrm>
            <a:off x="10183773" y="2676832"/>
            <a:ext cx="331839" cy="464575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4" name="직사각형 33"/>
          <p:cNvSpPr/>
          <p:nvPr/>
        </p:nvSpPr>
        <p:spPr>
          <a:xfrm>
            <a:off x="10515612" y="2676832"/>
            <a:ext cx="331839" cy="464575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5" name="직사각형 34"/>
          <p:cNvSpPr/>
          <p:nvPr/>
        </p:nvSpPr>
        <p:spPr>
          <a:xfrm>
            <a:off x="10847451" y="2676832"/>
            <a:ext cx="331839" cy="464575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11179290" y="2676832"/>
            <a:ext cx="331839" cy="464575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647341" y="2307500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mtClean="0">
                <a:latin typeface="Consolas" panose="020B0609020204030204" pitchFamily="49" charset="0"/>
              </a:rPr>
              <a:t>s</a:t>
            </a:r>
            <a:endParaRPr lang="ko-KR" altLang="en-US" smtClean="0">
              <a:latin typeface="Consolas" panose="020B0609020204030204" pitchFamily="49" charset="0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5878050" y="2765321"/>
            <a:ext cx="3818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smtClean="0">
                <a:latin typeface="Consolas" panose="020B0609020204030204" pitchFamily="49" charset="0"/>
              </a:rPr>
              <a:t>.</a:t>
            </a:r>
            <a:endParaRPr lang="ko-KR" altLang="en-US" sz="2800" smtClean="0">
              <a:latin typeface="Consolas" panose="020B0609020204030204" pitchFamily="49" charset="0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6504046" y="88490"/>
            <a:ext cx="119776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mtClean="0">
                <a:latin typeface="Consolas" panose="020B0609020204030204" pitchFamily="49" charset="0"/>
              </a:rPr>
              <a:t>0.25</a:t>
            </a:r>
          </a:p>
          <a:p>
            <a:r>
              <a:rPr lang="en-US" altLang="ko-KR" smtClean="0">
                <a:latin typeface="Consolas" panose="020B0609020204030204" pitchFamily="49" charset="0"/>
              </a:rPr>
              <a:t>--------</a:t>
            </a:r>
          </a:p>
          <a:p>
            <a:r>
              <a:rPr lang="en-US" altLang="ko-KR" smtClean="0">
                <a:solidFill>
                  <a:srgbClr val="FF0000"/>
                </a:solidFill>
                <a:latin typeface="Consolas" panose="020B0609020204030204" pitchFamily="49" charset="0"/>
              </a:rPr>
              <a:t>0</a:t>
            </a:r>
            <a:r>
              <a:rPr lang="en-US" altLang="ko-KR" smtClean="0">
                <a:latin typeface="Consolas" panose="020B0609020204030204" pitchFamily="49" charset="0"/>
              </a:rPr>
              <a:t>.5</a:t>
            </a:r>
          </a:p>
          <a:p>
            <a:r>
              <a:rPr lang="en-US" altLang="ko-KR" smtClean="0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  <a:r>
              <a:rPr lang="en-US" altLang="ko-KR" smtClean="0">
                <a:latin typeface="Consolas" panose="020B0609020204030204" pitchFamily="49" charset="0"/>
              </a:rPr>
              <a:t>.0</a:t>
            </a:r>
            <a:endParaRPr lang="ko-KR" altLang="en-US" smtClean="0">
              <a:latin typeface="Consolas" panose="020B0609020204030204" pitchFamily="49" charset="0"/>
            </a:endParaRPr>
          </a:p>
        </p:txBody>
      </p:sp>
      <p:cxnSp>
        <p:nvCxnSpPr>
          <p:cNvPr id="41" name="직선 화살표 연결선 40"/>
          <p:cNvCxnSpPr/>
          <p:nvPr/>
        </p:nvCxnSpPr>
        <p:spPr>
          <a:xfrm>
            <a:off x="6259886" y="737071"/>
            <a:ext cx="0" cy="45754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438148" y="1091306"/>
            <a:ext cx="333937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smtClean="0">
                <a:latin typeface="Consolas" panose="020B0609020204030204" pitchFamily="49" charset="0"/>
              </a:rPr>
              <a:t>10.25 =&gt; 1010.01</a:t>
            </a:r>
            <a:endParaRPr lang="ko-KR" altLang="en-US" sz="2800" smtClean="0">
              <a:latin typeface="Consolas" panose="020B0609020204030204" pitchFamily="49" charset="0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1290484" y="1884069"/>
            <a:ext cx="30925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smtClean="0">
                <a:latin typeface="Consolas" panose="020B0609020204030204" pitchFamily="49" charset="0"/>
              </a:rPr>
              <a:t>고정 소수점 방식</a:t>
            </a:r>
            <a:endParaRPr lang="ko-KR" altLang="en-US" sz="2800" smtClean="0">
              <a:latin typeface="Consolas" panose="020B0609020204030204" pitchFamily="49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1854632" y="3554287"/>
            <a:ext cx="7810151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smtClean="0">
                <a:latin typeface="Consolas" panose="020B0609020204030204" pitchFamily="49" charset="0"/>
              </a:rPr>
              <a:t>문제점 </a:t>
            </a:r>
            <a:r>
              <a:rPr lang="en-US" altLang="ko-KR" sz="2800" smtClean="0">
                <a:latin typeface="Consolas" panose="020B0609020204030204" pitchFamily="49" charset="0"/>
              </a:rPr>
              <a:t>: </a:t>
            </a:r>
          </a:p>
          <a:p>
            <a:endParaRPr lang="en-US" altLang="ko-KR" sz="2800">
              <a:latin typeface="Consolas" panose="020B0609020204030204" pitchFamily="49" charset="0"/>
            </a:endParaRPr>
          </a:p>
          <a:p>
            <a:r>
              <a:rPr lang="en-US" altLang="ko-KR" sz="2800" smtClean="0">
                <a:latin typeface="Consolas" panose="020B0609020204030204" pitchFamily="49" charset="0"/>
              </a:rPr>
              <a:t>     1. </a:t>
            </a:r>
            <a:r>
              <a:rPr lang="ko-KR" altLang="en-US" sz="2800" smtClean="0">
                <a:latin typeface="Consolas" panose="020B0609020204030204" pitchFamily="49" charset="0"/>
              </a:rPr>
              <a:t>매우 큰수를 표현 할 수 없다</a:t>
            </a:r>
            <a:r>
              <a:rPr lang="en-US" altLang="ko-KR" sz="2800" smtClean="0">
                <a:latin typeface="Consolas" panose="020B0609020204030204" pitchFamily="49" charset="0"/>
              </a:rPr>
              <a:t>.</a:t>
            </a:r>
          </a:p>
          <a:p>
            <a:r>
              <a:rPr lang="en-US" altLang="ko-KR" sz="2800">
                <a:latin typeface="Consolas" panose="020B0609020204030204" pitchFamily="49" charset="0"/>
              </a:rPr>
              <a:t> </a:t>
            </a:r>
            <a:r>
              <a:rPr lang="en-US" altLang="ko-KR" sz="2800" smtClean="0">
                <a:latin typeface="Consolas" panose="020B0609020204030204" pitchFamily="49" charset="0"/>
              </a:rPr>
              <a:t>    2. </a:t>
            </a:r>
            <a:r>
              <a:rPr lang="ko-KR" altLang="en-US" sz="2800" smtClean="0">
                <a:latin typeface="Consolas" panose="020B0609020204030204" pitchFamily="49" charset="0"/>
              </a:rPr>
              <a:t>매우 정밀한 수를 표현 할 수 없다</a:t>
            </a:r>
            <a:r>
              <a:rPr lang="en-US" altLang="ko-KR" sz="2800" smtClean="0">
                <a:latin typeface="Consolas" panose="020B0609020204030204" pitchFamily="49" charset="0"/>
              </a:rPr>
              <a:t>.</a:t>
            </a:r>
            <a:endParaRPr lang="ko-KR" altLang="en-US" sz="2800" smtClean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980299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26806" y="213851"/>
            <a:ext cx="353654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smtClean="0">
                <a:latin typeface="Consolas" panose="020B0609020204030204" pitchFamily="49" charset="0"/>
              </a:rPr>
              <a:t>float f = 10.25f;</a:t>
            </a:r>
            <a:endParaRPr lang="ko-KR" altLang="en-US" sz="2800" smtClean="0">
              <a:latin typeface="Consolas" panose="020B0609020204030204" pitchFamily="49" charset="0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626806" y="2938659"/>
            <a:ext cx="331839" cy="464575"/>
          </a:xfrm>
          <a:prstGeom prst="rect">
            <a:avLst/>
          </a:prstGeom>
          <a:solidFill>
            <a:srgbClr val="FFC0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958645" y="2938659"/>
            <a:ext cx="331839" cy="464575"/>
          </a:xfrm>
          <a:prstGeom prst="rect">
            <a:avLst/>
          </a:prstGeom>
          <a:solidFill>
            <a:srgbClr val="92D05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1290484" y="2938659"/>
            <a:ext cx="331839" cy="464575"/>
          </a:xfrm>
          <a:prstGeom prst="rect">
            <a:avLst/>
          </a:prstGeom>
          <a:solidFill>
            <a:srgbClr val="92D05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1622323" y="2938659"/>
            <a:ext cx="331839" cy="464575"/>
          </a:xfrm>
          <a:prstGeom prst="rect">
            <a:avLst/>
          </a:prstGeom>
          <a:solidFill>
            <a:srgbClr val="92D05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1954162" y="2938659"/>
            <a:ext cx="331839" cy="464575"/>
          </a:xfrm>
          <a:prstGeom prst="rect">
            <a:avLst/>
          </a:prstGeom>
          <a:solidFill>
            <a:srgbClr val="92D05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2286001" y="2938659"/>
            <a:ext cx="331839" cy="464575"/>
          </a:xfrm>
          <a:prstGeom prst="rect">
            <a:avLst/>
          </a:prstGeom>
          <a:solidFill>
            <a:srgbClr val="92D05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2617840" y="2938659"/>
            <a:ext cx="331839" cy="464575"/>
          </a:xfrm>
          <a:prstGeom prst="rect">
            <a:avLst/>
          </a:prstGeom>
          <a:solidFill>
            <a:srgbClr val="92D05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2949679" y="2938659"/>
            <a:ext cx="331839" cy="464575"/>
          </a:xfrm>
          <a:prstGeom prst="rect">
            <a:avLst/>
          </a:prstGeom>
          <a:solidFill>
            <a:srgbClr val="92D05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3311016" y="2938659"/>
            <a:ext cx="331839" cy="464575"/>
          </a:xfrm>
          <a:prstGeom prst="rect">
            <a:avLst/>
          </a:prstGeom>
          <a:solidFill>
            <a:srgbClr val="92D05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642855" y="2938659"/>
            <a:ext cx="331839" cy="464575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974694" y="2938659"/>
            <a:ext cx="331839" cy="464575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4306533" y="2938659"/>
            <a:ext cx="331839" cy="464575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7" name="직사각형 16"/>
          <p:cNvSpPr/>
          <p:nvPr/>
        </p:nvSpPr>
        <p:spPr>
          <a:xfrm>
            <a:off x="4638372" y="2938659"/>
            <a:ext cx="331839" cy="464575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4970211" y="2938659"/>
            <a:ext cx="331839" cy="464575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9" name="직사각형 18"/>
          <p:cNvSpPr/>
          <p:nvPr/>
        </p:nvSpPr>
        <p:spPr>
          <a:xfrm>
            <a:off x="5302050" y="2938659"/>
            <a:ext cx="331839" cy="464575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0" name="직사각형 19"/>
          <p:cNvSpPr/>
          <p:nvPr/>
        </p:nvSpPr>
        <p:spPr>
          <a:xfrm>
            <a:off x="5633889" y="2938659"/>
            <a:ext cx="331839" cy="464575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5995227" y="2938659"/>
            <a:ext cx="331839" cy="464575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6327066" y="2938659"/>
            <a:ext cx="331839" cy="464575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6658905" y="2938659"/>
            <a:ext cx="331839" cy="464575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6990744" y="2938659"/>
            <a:ext cx="331839" cy="464575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7322583" y="2938659"/>
            <a:ext cx="331839" cy="464575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7654422" y="2938659"/>
            <a:ext cx="331839" cy="464575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7986261" y="2938659"/>
            <a:ext cx="331839" cy="464575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8318100" y="2938659"/>
            <a:ext cx="331839" cy="464575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8679437" y="2938659"/>
            <a:ext cx="331839" cy="464575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0" name="직사각형 29"/>
          <p:cNvSpPr/>
          <p:nvPr/>
        </p:nvSpPr>
        <p:spPr>
          <a:xfrm>
            <a:off x="9011276" y="2938659"/>
            <a:ext cx="331839" cy="464575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9343115" y="2938659"/>
            <a:ext cx="331839" cy="464575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2" name="직사각형 31"/>
          <p:cNvSpPr/>
          <p:nvPr/>
        </p:nvSpPr>
        <p:spPr>
          <a:xfrm>
            <a:off x="9674954" y="2938659"/>
            <a:ext cx="331839" cy="464575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3" name="직사각형 32"/>
          <p:cNvSpPr/>
          <p:nvPr/>
        </p:nvSpPr>
        <p:spPr>
          <a:xfrm>
            <a:off x="10006793" y="2938659"/>
            <a:ext cx="331839" cy="464575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4" name="직사각형 33"/>
          <p:cNvSpPr/>
          <p:nvPr/>
        </p:nvSpPr>
        <p:spPr>
          <a:xfrm>
            <a:off x="10338632" y="2938659"/>
            <a:ext cx="331839" cy="464575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5" name="직사각형 34"/>
          <p:cNvSpPr/>
          <p:nvPr/>
        </p:nvSpPr>
        <p:spPr>
          <a:xfrm>
            <a:off x="10670471" y="2938659"/>
            <a:ext cx="331839" cy="464575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11002310" y="2938659"/>
            <a:ext cx="331839" cy="464575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647341" y="2569327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mtClean="0">
                <a:latin typeface="Consolas" panose="020B0609020204030204" pitchFamily="49" charset="0"/>
              </a:rPr>
              <a:t>s</a:t>
            </a:r>
            <a:endParaRPr lang="ko-KR" altLang="en-US" smtClean="0">
              <a:latin typeface="Consolas" panose="020B0609020204030204" pitchFamily="49" charset="0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438148" y="1091306"/>
            <a:ext cx="649408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smtClean="0">
                <a:latin typeface="Consolas" panose="020B0609020204030204" pitchFamily="49" charset="0"/>
              </a:rPr>
              <a:t>10.25 =&gt; 1010.01 =&gt; 0.101001*2^4</a:t>
            </a:r>
            <a:endParaRPr lang="ko-KR" altLang="en-US" sz="2800" smtClean="0">
              <a:latin typeface="Consolas" panose="020B0609020204030204" pitchFamily="49" charset="0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1290484" y="1884069"/>
            <a:ext cx="30925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smtClean="0">
                <a:latin typeface="Consolas" panose="020B0609020204030204" pitchFamily="49" charset="0"/>
              </a:rPr>
              <a:t>浮動</a:t>
            </a:r>
            <a:r>
              <a:rPr lang="ko-KR" altLang="en-US" sz="2800" smtClean="0">
                <a:latin typeface="Consolas" panose="020B0609020204030204" pitchFamily="49" charset="0"/>
              </a:rPr>
              <a:t> 소수점 방식</a:t>
            </a:r>
            <a:endParaRPr lang="ko-KR" altLang="en-US" sz="2800" smtClean="0">
              <a:latin typeface="Consolas" panose="020B0609020204030204" pitchFamily="49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1831623" y="4195997"/>
            <a:ext cx="7810151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smtClean="0">
                <a:latin typeface="Consolas" panose="020B0609020204030204" pitchFamily="49" charset="0"/>
              </a:rPr>
              <a:t>문제점 </a:t>
            </a:r>
            <a:r>
              <a:rPr lang="en-US" altLang="ko-KR" sz="2800" smtClean="0">
                <a:latin typeface="Consolas" panose="020B0609020204030204" pitchFamily="49" charset="0"/>
              </a:rPr>
              <a:t>: </a:t>
            </a:r>
          </a:p>
          <a:p>
            <a:endParaRPr lang="en-US" altLang="ko-KR" sz="2800">
              <a:latin typeface="Consolas" panose="020B0609020204030204" pitchFamily="49" charset="0"/>
            </a:endParaRPr>
          </a:p>
          <a:p>
            <a:r>
              <a:rPr lang="en-US" altLang="ko-KR" sz="2800" smtClean="0">
                <a:latin typeface="Consolas" panose="020B0609020204030204" pitchFamily="49" charset="0"/>
              </a:rPr>
              <a:t>     1. </a:t>
            </a:r>
            <a:r>
              <a:rPr lang="ko-KR" altLang="en-US" sz="2800" smtClean="0">
                <a:solidFill>
                  <a:schemeClr val="bg1">
                    <a:lumMod val="85000"/>
                  </a:schemeClr>
                </a:solidFill>
                <a:latin typeface="Consolas" panose="020B0609020204030204" pitchFamily="49" charset="0"/>
              </a:rPr>
              <a:t>매우 큰수를 표현 할 수 없다</a:t>
            </a:r>
            <a:r>
              <a:rPr lang="en-US" altLang="ko-KR" sz="2800" smtClean="0">
                <a:solidFill>
                  <a:schemeClr val="bg1">
                    <a:lumMod val="85000"/>
                  </a:schemeClr>
                </a:solidFill>
                <a:latin typeface="Consolas" panose="020B0609020204030204" pitchFamily="49" charset="0"/>
              </a:rPr>
              <a:t>.</a:t>
            </a:r>
          </a:p>
          <a:p>
            <a:r>
              <a:rPr lang="en-US" altLang="ko-KR" sz="2800">
                <a:latin typeface="Consolas" panose="020B0609020204030204" pitchFamily="49" charset="0"/>
              </a:rPr>
              <a:t> </a:t>
            </a:r>
            <a:r>
              <a:rPr lang="en-US" altLang="ko-KR" sz="2800" smtClean="0">
                <a:latin typeface="Consolas" panose="020B0609020204030204" pitchFamily="49" charset="0"/>
              </a:rPr>
              <a:t>    2. </a:t>
            </a:r>
            <a:r>
              <a:rPr lang="ko-KR" altLang="en-US" sz="2800" smtClean="0">
                <a:solidFill>
                  <a:schemeClr val="bg1">
                    <a:lumMod val="85000"/>
                  </a:schemeClr>
                </a:solidFill>
                <a:latin typeface="Consolas" panose="020B0609020204030204" pitchFamily="49" charset="0"/>
              </a:rPr>
              <a:t>매우 정밀한 수를 표현 할 수 없다</a:t>
            </a:r>
            <a:r>
              <a:rPr lang="en-US" altLang="ko-KR" sz="2800" smtClean="0">
                <a:solidFill>
                  <a:schemeClr val="bg1">
                    <a:lumMod val="85000"/>
                  </a:schemeClr>
                </a:solidFill>
                <a:latin typeface="Consolas" panose="020B0609020204030204" pitchFamily="49" charset="0"/>
              </a:rPr>
              <a:t>.</a:t>
            </a:r>
            <a:endParaRPr lang="ko-KR" altLang="en-US" sz="2800" smtClean="0">
              <a:solidFill>
                <a:schemeClr val="bg1">
                  <a:lumMod val="8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6633103" y="411636"/>
            <a:ext cx="40927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smtClean="0">
                <a:latin typeface="Consolas" panose="020B0609020204030204" pitchFamily="49" charset="0"/>
              </a:rPr>
              <a:t>1000000000 =&gt; 0.1*10^10</a:t>
            </a:r>
            <a:endParaRPr lang="ko-KR" altLang="en-US" sz="2400" smtClean="0">
              <a:latin typeface="Consolas" panose="020B0609020204030204" pitchFamily="49" charset="0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2165633" y="2576858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mtClean="0">
                <a:latin typeface="Consolas" panose="020B0609020204030204" pitchFamily="49" charset="0"/>
              </a:rPr>
              <a:t>e</a:t>
            </a:r>
            <a:endParaRPr lang="ko-KR" altLang="en-US" smtClean="0">
              <a:latin typeface="Consolas" panose="020B0609020204030204" pitchFamily="49" charset="0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5004704" y="2576858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mtClean="0">
                <a:latin typeface="Consolas" panose="020B0609020204030204" pitchFamily="49" charset="0"/>
              </a:rPr>
              <a:t>m</a:t>
            </a:r>
            <a:endParaRPr lang="ko-KR" altLang="en-US" smtClean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151568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26806" y="213851"/>
            <a:ext cx="353654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smtClean="0">
                <a:latin typeface="Consolas" panose="020B0609020204030204" pitchFamily="49" charset="0"/>
              </a:rPr>
              <a:t>float f = 10.25f;</a:t>
            </a:r>
            <a:endParaRPr lang="ko-KR" altLang="en-US" sz="2800" smtClean="0">
              <a:latin typeface="Consolas" panose="020B0609020204030204" pitchFamily="49" charset="0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626806" y="2938659"/>
            <a:ext cx="331839" cy="464575"/>
          </a:xfrm>
          <a:prstGeom prst="rect">
            <a:avLst/>
          </a:prstGeom>
          <a:solidFill>
            <a:srgbClr val="FFC0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958645" y="2938659"/>
            <a:ext cx="331839" cy="464575"/>
          </a:xfrm>
          <a:prstGeom prst="rect">
            <a:avLst/>
          </a:prstGeom>
          <a:solidFill>
            <a:srgbClr val="92D05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1290484" y="2938659"/>
            <a:ext cx="331839" cy="464575"/>
          </a:xfrm>
          <a:prstGeom prst="rect">
            <a:avLst/>
          </a:prstGeom>
          <a:solidFill>
            <a:srgbClr val="92D05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1622323" y="2938659"/>
            <a:ext cx="331839" cy="464575"/>
          </a:xfrm>
          <a:prstGeom prst="rect">
            <a:avLst/>
          </a:prstGeom>
          <a:solidFill>
            <a:srgbClr val="92D05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1954162" y="2938659"/>
            <a:ext cx="331839" cy="464575"/>
          </a:xfrm>
          <a:prstGeom prst="rect">
            <a:avLst/>
          </a:prstGeom>
          <a:solidFill>
            <a:srgbClr val="92D05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2286001" y="2938659"/>
            <a:ext cx="331839" cy="464575"/>
          </a:xfrm>
          <a:prstGeom prst="rect">
            <a:avLst/>
          </a:prstGeom>
          <a:solidFill>
            <a:srgbClr val="92D05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2617840" y="2938659"/>
            <a:ext cx="331839" cy="464575"/>
          </a:xfrm>
          <a:prstGeom prst="rect">
            <a:avLst/>
          </a:prstGeom>
          <a:solidFill>
            <a:srgbClr val="92D05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2949679" y="2938659"/>
            <a:ext cx="331839" cy="464575"/>
          </a:xfrm>
          <a:prstGeom prst="rect">
            <a:avLst/>
          </a:prstGeom>
          <a:solidFill>
            <a:srgbClr val="92D05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3311016" y="2938659"/>
            <a:ext cx="331839" cy="464575"/>
          </a:xfrm>
          <a:prstGeom prst="rect">
            <a:avLst/>
          </a:prstGeom>
          <a:solidFill>
            <a:srgbClr val="92D05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642855" y="2938659"/>
            <a:ext cx="331839" cy="464575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974694" y="2938659"/>
            <a:ext cx="331839" cy="464575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4306533" y="2938659"/>
            <a:ext cx="331839" cy="464575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7" name="직사각형 16"/>
          <p:cNvSpPr/>
          <p:nvPr/>
        </p:nvSpPr>
        <p:spPr>
          <a:xfrm>
            <a:off x="4638372" y="2938659"/>
            <a:ext cx="331839" cy="464575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4970211" y="2938659"/>
            <a:ext cx="331839" cy="464575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9" name="직사각형 18"/>
          <p:cNvSpPr/>
          <p:nvPr/>
        </p:nvSpPr>
        <p:spPr>
          <a:xfrm>
            <a:off x="5302050" y="2938659"/>
            <a:ext cx="331839" cy="464575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0" name="직사각형 19"/>
          <p:cNvSpPr/>
          <p:nvPr/>
        </p:nvSpPr>
        <p:spPr>
          <a:xfrm>
            <a:off x="5633889" y="2938659"/>
            <a:ext cx="331839" cy="464575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5995227" y="2938659"/>
            <a:ext cx="331839" cy="464575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6327066" y="2938659"/>
            <a:ext cx="331839" cy="464575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6658905" y="2938659"/>
            <a:ext cx="331839" cy="464575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6990744" y="2938659"/>
            <a:ext cx="331839" cy="464575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7322583" y="2938659"/>
            <a:ext cx="331839" cy="464575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7654422" y="2938659"/>
            <a:ext cx="331839" cy="464575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7986261" y="2938659"/>
            <a:ext cx="331839" cy="464575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8318100" y="2938659"/>
            <a:ext cx="331839" cy="464575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8679437" y="2938659"/>
            <a:ext cx="331839" cy="464575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0" name="직사각형 29"/>
          <p:cNvSpPr/>
          <p:nvPr/>
        </p:nvSpPr>
        <p:spPr>
          <a:xfrm>
            <a:off x="9011276" y="2938659"/>
            <a:ext cx="331839" cy="464575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9343115" y="2938659"/>
            <a:ext cx="331839" cy="464575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2" name="직사각형 31"/>
          <p:cNvSpPr/>
          <p:nvPr/>
        </p:nvSpPr>
        <p:spPr>
          <a:xfrm>
            <a:off x="9674954" y="2938659"/>
            <a:ext cx="331839" cy="464575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3" name="직사각형 32"/>
          <p:cNvSpPr/>
          <p:nvPr/>
        </p:nvSpPr>
        <p:spPr>
          <a:xfrm>
            <a:off x="10006793" y="2938659"/>
            <a:ext cx="331839" cy="464575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4" name="직사각형 33"/>
          <p:cNvSpPr/>
          <p:nvPr/>
        </p:nvSpPr>
        <p:spPr>
          <a:xfrm>
            <a:off x="10338632" y="2938659"/>
            <a:ext cx="331839" cy="464575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5" name="직사각형 34"/>
          <p:cNvSpPr/>
          <p:nvPr/>
        </p:nvSpPr>
        <p:spPr>
          <a:xfrm>
            <a:off x="10670471" y="2938659"/>
            <a:ext cx="331839" cy="464575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11002310" y="2938659"/>
            <a:ext cx="331839" cy="464575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647341" y="2569327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mtClean="0">
                <a:latin typeface="Consolas" panose="020B0609020204030204" pitchFamily="49" charset="0"/>
              </a:rPr>
              <a:t>s</a:t>
            </a:r>
            <a:endParaRPr lang="ko-KR" altLang="en-US" smtClean="0">
              <a:latin typeface="Consolas" panose="020B0609020204030204" pitchFamily="49" charset="0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438148" y="1091306"/>
            <a:ext cx="669125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smtClean="0">
                <a:latin typeface="Consolas" panose="020B0609020204030204" pitchFamily="49" charset="0"/>
              </a:rPr>
              <a:t>10.25 =&gt; 1010.01 =&gt; 0.101001*2^4</a:t>
            </a:r>
            <a:endParaRPr lang="ko-KR" altLang="en-US" sz="2800" smtClean="0">
              <a:latin typeface="Consolas" panose="020B0609020204030204" pitchFamily="49" charset="0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1290484" y="1884069"/>
            <a:ext cx="30925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smtClean="0">
                <a:latin typeface="Consolas" panose="020B0609020204030204" pitchFamily="49" charset="0"/>
              </a:rPr>
              <a:t>浮動</a:t>
            </a:r>
            <a:r>
              <a:rPr lang="ko-KR" altLang="en-US" sz="2800" smtClean="0">
                <a:latin typeface="Consolas" panose="020B0609020204030204" pitchFamily="49" charset="0"/>
              </a:rPr>
              <a:t> 소수점 방식</a:t>
            </a:r>
            <a:endParaRPr lang="ko-KR" altLang="en-US" sz="2800" smtClean="0">
              <a:latin typeface="Consolas" panose="020B0609020204030204" pitchFamily="49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1831623" y="4195997"/>
            <a:ext cx="8169224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smtClean="0">
                <a:latin typeface="Consolas" panose="020B0609020204030204" pitchFamily="49" charset="0"/>
              </a:rPr>
              <a:t>문제점 </a:t>
            </a:r>
            <a:r>
              <a:rPr lang="en-US" altLang="ko-KR" sz="2800" smtClean="0">
                <a:latin typeface="Consolas" panose="020B0609020204030204" pitchFamily="49" charset="0"/>
              </a:rPr>
              <a:t>: </a:t>
            </a:r>
          </a:p>
          <a:p>
            <a:endParaRPr lang="en-US" altLang="ko-KR" sz="2800">
              <a:latin typeface="Consolas" panose="020B0609020204030204" pitchFamily="49" charset="0"/>
            </a:endParaRPr>
          </a:p>
          <a:p>
            <a:r>
              <a:rPr lang="en-US" altLang="ko-KR" sz="2800" smtClean="0">
                <a:latin typeface="Consolas" panose="020B0609020204030204" pitchFamily="49" charset="0"/>
              </a:rPr>
              <a:t>     1. </a:t>
            </a:r>
            <a:r>
              <a:rPr lang="ko-KR" altLang="en-US" sz="2800" smtClean="0">
                <a:latin typeface="Consolas" panose="020B0609020204030204" pitchFamily="49" charset="0"/>
              </a:rPr>
              <a:t>지수에도 음수가 들어갈 수 있다</a:t>
            </a:r>
            <a:r>
              <a:rPr lang="en-US" altLang="ko-KR" sz="2800" smtClean="0">
                <a:latin typeface="Consolas" panose="020B0609020204030204" pitchFamily="49" charset="0"/>
              </a:rPr>
              <a:t>.</a:t>
            </a:r>
          </a:p>
          <a:p>
            <a:r>
              <a:rPr lang="en-US" altLang="ko-KR" sz="2800" smtClean="0">
                <a:latin typeface="Consolas" panose="020B0609020204030204" pitchFamily="49" charset="0"/>
              </a:rPr>
              <a:t>     2. </a:t>
            </a:r>
            <a:r>
              <a:rPr lang="ko-KR" altLang="en-US" sz="2800" smtClean="0">
                <a:latin typeface="Consolas" panose="020B0609020204030204" pitchFamily="49" charset="0"/>
              </a:rPr>
              <a:t>가수부의 첫번째 숫자는 항상 </a:t>
            </a:r>
            <a:r>
              <a:rPr lang="en-US" altLang="ko-KR" sz="2800" smtClean="0">
                <a:latin typeface="Consolas" panose="020B0609020204030204" pitchFamily="49" charset="0"/>
              </a:rPr>
              <a:t>1 </a:t>
            </a:r>
            <a:r>
              <a:rPr lang="ko-KR" altLang="en-US" sz="2800" smtClean="0">
                <a:latin typeface="Consolas" panose="020B0609020204030204" pitchFamily="49" charset="0"/>
              </a:rPr>
              <a:t>이다</a:t>
            </a:r>
            <a:r>
              <a:rPr lang="en-US" altLang="ko-KR" sz="2800" smtClean="0">
                <a:latin typeface="Consolas" panose="020B0609020204030204" pitchFamily="49" charset="0"/>
              </a:rPr>
              <a:t>.</a:t>
            </a:r>
            <a:endParaRPr lang="ko-KR" altLang="en-US" sz="2800" smtClean="0">
              <a:latin typeface="Consolas" panose="020B0609020204030204" pitchFamily="49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6633103" y="411636"/>
            <a:ext cx="47724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smtClean="0">
                <a:latin typeface="Consolas" panose="020B0609020204030204" pitchFamily="49" charset="0"/>
              </a:rPr>
              <a:t>0.00000000001 =&gt; 0.1*10^-10</a:t>
            </a:r>
            <a:endParaRPr lang="ko-KR" altLang="en-US" sz="2400" smtClean="0">
              <a:latin typeface="Consolas" panose="020B0609020204030204" pitchFamily="49" charset="0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2165633" y="2576858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mtClean="0">
                <a:latin typeface="Consolas" panose="020B0609020204030204" pitchFamily="49" charset="0"/>
              </a:rPr>
              <a:t>e</a:t>
            </a:r>
            <a:endParaRPr lang="ko-KR" altLang="en-US" smtClean="0">
              <a:latin typeface="Consolas" panose="020B0609020204030204" pitchFamily="49" charset="0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5004704" y="2576858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mtClean="0">
                <a:latin typeface="Consolas" panose="020B0609020204030204" pitchFamily="49" charset="0"/>
              </a:rPr>
              <a:t>m</a:t>
            </a:r>
            <a:endParaRPr lang="ko-KR" altLang="en-US" smtClean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583943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26806" y="213851"/>
            <a:ext cx="353654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smtClean="0">
                <a:latin typeface="Consolas" panose="020B0609020204030204" pitchFamily="49" charset="0"/>
              </a:rPr>
              <a:t>float f = 10.25f;</a:t>
            </a:r>
            <a:endParaRPr lang="ko-KR" altLang="en-US" sz="2800" smtClean="0">
              <a:latin typeface="Consolas" panose="020B0609020204030204" pitchFamily="49" charset="0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626806" y="2938659"/>
            <a:ext cx="331839" cy="464575"/>
          </a:xfrm>
          <a:prstGeom prst="rect">
            <a:avLst/>
          </a:prstGeom>
          <a:solidFill>
            <a:srgbClr val="FFC0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958645" y="2938659"/>
            <a:ext cx="331839" cy="464575"/>
          </a:xfrm>
          <a:prstGeom prst="rect">
            <a:avLst/>
          </a:prstGeom>
          <a:solidFill>
            <a:srgbClr val="92D05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1290484" y="2938659"/>
            <a:ext cx="331839" cy="464575"/>
          </a:xfrm>
          <a:prstGeom prst="rect">
            <a:avLst/>
          </a:prstGeom>
          <a:solidFill>
            <a:srgbClr val="92D05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1622323" y="2938659"/>
            <a:ext cx="331839" cy="464575"/>
          </a:xfrm>
          <a:prstGeom prst="rect">
            <a:avLst/>
          </a:prstGeom>
          <a:solidFill>
            <a:srgbClr val="92D05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1954162" y="2938659"/>
            <a:ext cx="331839" cy="464575"/>
          </a:xfrm>
          <a:prstGeom prst="rect">
            <a:avLst/>
          </a:prstGeom>
          <a:solidFill>
            <a:srgbClr val="92D05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2286001" y="2938659"/>
            <a:ext cx="331839" cy="464575"/>
          </a:xfrm>
          <a:prstGeom prst="rect">
            <a:avLst/>
          </a:prstGeom>
          <a:solidFill>
            <a:srgbClr val="92D05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2617840" y="2938659"/>
            <a:ext cx="331839" cy="464575"/>
          </a:xfrm>
          <a:prstGeom prst="rect">
            <a:avLst/>
          </a:prstGeom>
          <a:solidFill>
            <a:srgbClr val="92D05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2949679" y="2938659"/>
            <a:ext cx="331839" cy="464575"/>
          </a:xfrm>
          <a:prstGeom prst="rect">
            <a:avLst/>
          </a:prstGeom>
          <a:solidFill>
            <a:srgbClr val="92D05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3311016" y="2938659"/>
            <a:ext cx="331839" cy="464575"/>
          </a:xfrm>
          <a:prstGeom prst="rect">
            <a:avLst/>
          </a:prstGeom>
          <a:solidFill>
            <a:srgbClr val="92D05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642855" y="2938659"/>
            <a:ext cx="331839" cy="464575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974694" y="2938659"/>
            <a:ext cx="331839" cy="464575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4306533" y="2938659"/>
            <a:ext cx="331839" cy="464575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7" name="직사각형 16"/>
          <p:cNvSpPr/>
          <p:nvPr/>
        </p:nvSpPr>
        <p:spPr>
          <a:xfrm>
            <a:off x="4638372" y="2938659"/>
            <a:ext cx="331839" cy="464575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4970211" y="2938659"/>
            <a:ext cx="331839" cy="464575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9" name="직사각형 18"/>
          <p:cNvSpPr/>
          <p:nvPr/>
        </p:nvSpPr>
        <p:spPr>
          <a:xfrm>
            <a:off x="5302050" y="2938659"/>
            <a:ext cx="331839" cy="464575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0" name="직사각형 19"/>
          <p:cNvSpPr/>
          <p:nvPr/>
        </p:nvSpPr>
        <p:spPr>
          <a:xfrm>
            <a:off x="5633889" y="2938659"/>
            <a:ext cx="331839" cy="464575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5995227" y="2938659"/>
            <a:ext cx="331839" cy="464575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6327066" y="2938659"/>
            <a:ext cx="331839" cy="464575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6658905" y="2938659"/>
            <a:ext cx="331839" cy="464575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6990744" y="2938659"/>
            <a:ext cx="331839" cy="464575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7322583" y="2938659"/>
            <a:ext cx="331839" cy="464575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7654422" y="2938659"/>
            <a:ext cx="331839" cy="464575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7986261" y="2938659"/>
            <a:ext cx="331839" cy="464575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8318100" y="2938659"/>
            <a:ext cx="331839" cy="464575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8679437" y="2938659"/>
            <a:ext cx="331839" cy="464575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0" name="직사각형 29"/>
          <p:cNvSpPr/>
          <p:nvPr/>
        </p:nvSpPr>
        <p:spPr>
          <a:xfrm>
            <a:off x="9011276" y="2938659"/>
            <a:ext cx="331839" cy="464575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9343115" y="2938659"/>
            <a:ext cx="331839" cy="464575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2" name="직사각형 31"/>
          <p:cNvSpPr/>
          <p:nvPr/>
        </p:nvSpPr>
        <p:spPr>
          <a:xfrm>
            <a:off x="9674954" y="2938659"/>
            <a:ext cx="331839" cy="464575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3" name="직사각형 32"/>
          <p:cNvSpPr/>
          <p:nvPr/>
        </p:nvSpPr>
        <p:spPr>
          <a:xfrm>
            <a:off x="10006793" y="2938659"/>
            <a:ext cx="331839" cy="464575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4" name="직사각형 33"/>
          <p:cNvSpPr/>
          <p:nvPr/>
        </p:nvSpPr>
        <p:spPr>
          <a:xfrm>
            <a:off x="10338632" y="2938659"/>
            <a:ext cx="331839" cy="464575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5" name="직사각형 34"/>
          <p:cNvSpPr/>
          <p:nvPr/>
        </p:nvSpPr>
        <p:spPr>
          <a:xfrm>
            <a:off x="10670471" y="2938659"/>
            <a:ext cx="331839" cy="464575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11002310" y="2938659"/>
            <a:ext cx="331839" cy="464575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647341" y="2569327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mtClean="0">
                <a:latin typeface="Consolas" panose="020B0609020204030204" pitchFamily="49" charset="0"/>
              </a:rPr>
              <a:t>s</a:t>
            </a:r>
            <a:endParaRPr lang="ko-KR" altLang="en-US" smtClean="0">
              <a:latin typeface="Consolas" panose="020B0609020204030204" pitchFamily="49" charset="0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438148" y="1091306"/>
            <a:ext cx="62969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smtClean="0">
                <a:latin typeface="Consolas" panose="020B0609020204030204" pitchFamily="49" charset="0"/>
              </a:rPr>
              <a:t>10.25 =&gt; 1010.01 =&gt; 1.01001*2^3</a:t>
            </a:r>
            <a:endParaRPr lang="ko-KR" altLang="en-US" sz="2800" smtClean="0">
              <a:latin typeface="Consolas" panose="020B0609020204030204" pitchFamily="49" charset="0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1290484" y="1884069"/>
            <a:ext cx="30925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smtClean="0">
                <a:latin typeface="Consolas" panose="020B0609020204030204" pitchFamily="49" charset="0"/>
              </a:rPr>
              <a:t>浮動</a:t>
            </a:r>
            <a:r>
              <a:rPr lang="ko-KR" altLang="en-US" sz="2800" smtClean="0">
                <a:latin typeface="Consolas" panose="020B0609020204030204" pitchFamily="49" charset="0"/>
              </a:rPr>
              <a:t> 소수점 방식</a:t>
            </a:r>
            <a:endParaRPr lang="ko-KR" altLang="en-US" sz="2800" smtClean="0">
              <a:latin typeface="Consolas" panose="020B0609020204030204" pitchFamily="49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314795" y="4560651"/>
            <a:ext cx="10950434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smtClean="0">
                <a:latin typeface="Consolas" panose="020B0609020204030204" pitchFamily="49" charset="0"/>
              </a:rPr>
              <a:t>문제점 </a:t>
            </a:r>
            <a:r>
              <a:rPr lang="en-US" altLang="ko-KR" sz="2800" smtClean="0">
                <a:latin typeface="Consolas" panose="020B0609020204030204" pitchFamily="49" charset="0"/>
              </a:rPr>
              <a:t>: </a:t>
            </a:r>
          </a:p>
          <a:p>
            <a:endParaRPr lang="en-US" altLang="ko-KR" sz="2800">
              <a:latin typeface="Consolas" panose="020B0609020204030204" pitchFamily="49" charset="0"/>
            </a:endParaRPr>
          </a:p>
          <a:p>
            <a:r>
              <a:rPr lang="en-US" altLang="ko-KR" sz="2800" smtClean="0">
                <a:latin typeface="Consolas" panose="020B0609020204030204" pitchFamily="49" charset="0"/>
              </a:rPr>
              <a:t>     1. </a:t>
            </a:r>
            <a:r>
              <a:rPr lang="ko-KR" altLang="en-US" sz="2800" smtClean="0">
                <a:latin typeface="Consolas" panose="020B0609020204030204" pitchFamily="49" charset="0"/>
              </a:rPr>
              <a:t>지수에도 음수가 들어갈 수 있다</a:t>
            </a:r>
            <a:r>
              <a:rPr lang="en-US" altLang="ko-KR" sz="2800" smtClean="0">
                <a:latin typeface="Consolas" panose="020B0609020204030204" pitchFamily="49" charset="0"/>
              </a:rPr>
              <a:t>. =&gt; 127 bias code</a:t>
            </a:r>
          </a:p>
          <a:p>
            <a:r>
              <a:rPr lang="en-US" altLang="ko-KR" sz="2800" smtClean="0">
                <a:latin typeface="Consolas" panose="020B0609020204030204" pitchFamily="49" charset="0"/>
              </a:rPr>
              <a:t>     2. </a:t>
            </a:r>
            <a:r>
              <a:rPr lang="ko-KR" altLang="en-US" sz="2800" smtClean="0">
                <a:latin typeface="Consolas" panose="020B0609020204030204" pitchFamily="49" charset="0"/>
              </a:rPr>
              <a:t>가수부의 첫번째 숫자는 항상 </a:t>
            </a:r>
            <a:r>
              <a:rPr lang="en-US" altLang="ko-KR" sz="2800" smtClean="0">
                <a:latin typeface="Consolas" panose="020B0609020204030204" pitchFamily="49" charset="0"/>
              </a:rPr>
              <a:t>1 </a:t>
            </a:r>
            <a:r>
              <a:rPr lang="ko-KR" altLang="en-US" sz="2800" smtClean="0">
                <a:latin typeface="Consolas" panose="020B0609020204030204" pitchFamily="49" charset="0"/>
              </a:rPr>
              <a:t>이다</a:t>
            </a:r>
            <a:r>
              <a:rPr lang="en-US" altLang="ko-KR" sz="2800" smtClean="0">
                <a:latin typeface="Consolas" panose="020B0609020204030204" pitchFamily="49" charset="0"/>
              </a:rPr>
              <a:t>. =&gt; </a:t>
            </a:r>
            <a:r>
              <a:rPr lang="ko-KR" altLang="en-US" sz="2800" smtClean="0">
                <a:latin typeface="Consolas" panose="020B0609020204030204" pitchFamily="49" charset="0"/>
              </a:rPr>
              <a:t>한칸 덜가기</a:t>
            </a:r>
            <a:endParaRPr lang="ko-KR" altLang="en-US" sz="2800" smtClean="0">
              <a:latin typeface="Consolas" panose="020B0609020204030204" pitchFamily="49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6633103" y="411636"/>
            <a:ext cx="47724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smtClean="0">
                <a:latin typeface="Consolas" panose="020B0609020204030204" pitchFamily="49" charset="0"/>
              </a:rPr>
              <a:t>0.00000000001 =&gt; 0.1*10^-10</a:t>
            </a:r>
            <a:endParaRPr lang="ko-KR" altLang="en-US" sz="2400" smtClean="0">
              <a:latin typeface="Consolas" panose="020B0609020204030204" pitchFamily="49" charset="0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2165633" y="2576858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mtClean="0">
                <a:latin typeface="Consolas" panose="020B0609020204030204" pitchFamily="49" charset="0"/>
              </a:rPr>
              <a:t>e</a:t>
            </a:r>
            <a:endParaRPr lang="ko-KR" altLang="en-US" smtClean="0">
              <a:latin typeface="Consolas" panose="020B0609020204030204" pitchFamily="49" charset="0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5004704" y="2576858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mtClean="0">
                <a:latin typeface="Consolas" panose="020B0609020204030204" pitchFamily="49" charset="0"/>
              </a:rPr>
              <a:t>m</a:t>
            </a:r>
            <a:endParaRPr lang="ko-KR" altLang="en-US" smtClean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585016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26806" y="213851"/>
            <a:ext cx="353654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smtClean="0">
                <a:latin typeface="Consolas" panose="020B0609020204030204" pitchFamily="49" charset="0"/>
              </a:rPr>
              <a:t>float f = 10.25f;</a:t>
            </a:r>
            <a:endParaRPr lang="ko-KR" altLang="en-US" sz="2800" smtClean="0">
              <a:latin typeface="Consolas" panose="020B0609020204030204" pitchFamily="49" charset="0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626806" y="2938659"/>
            <a:ext cx="331839" cy="464575"/>
          </a:xfrm>
          <a:prstGeom prst="rect">
            <a:avLst/>
          </a:prstGeom>
          <a:solidFill>
            <a:srgbClr val="FFC0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958645" y="2938659"/>
            <a:ext cx="331839" cy="464575"/>
          </a:xfrm>
          <a:prstGeom prst="rect">
            <a:avLst/>
          </a:prstGeom>
          <a:solidFill>
            <a:srgbClr val="92D05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1290484" y="2938659"/>
            <a:ext cx="331839" cy="464575"/>
          </a:xfrm>
          <a:prstGeom prst="rect">
            <a:avLst/>
          </a:prstGeom>
          <a:solidFill>
            <a:srgbClr val="92D05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1622323" y="2938659"/>
            <a:ext cx="331839" cy="464575"/>
          </a:xfrm>
          <a:prstGeom prst="rect">
            <a:avLst/>
          </a:prstGeom>
          <a:solidFill>
            <a:srgbClr val="92D05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1954162" y="2938659"/>
            <a:ext cx="331839" cy="464575"/>
          </a:xfrm>
          <a:prstGeom prst="rect">
            <a:avLst/>
          </a:prstGeom>
          <a:solidFill>
            <a:srgbClr val="92D05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2286001" y="2938659"/>
            <a:ext cx="331839" cy="464575"/>
          </a:xfrm>
          <a:prstGeom prst="rect">
            <a:avLst/>
          </a:prstGeom>
          <a:solidFill>
            <a:srgbClr val="92D05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2617840" y="2938659"/>
            <a:ext cx="331839" cy="464575"/>
          </a:xfrm>
          <a:prstGeom prst="rect">
            <a:avLst/>
          </a:prstGeom>
          <a:solidFill>
            <a:srgbClr val="92D05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2949679" y="2938659"/>
            <a:ext cx="331839" cy="464575"/>
          </a:xfrm>
          <a:prstGeom prst="rect">
            <a:avLst/>
          </a:prstGeom>
          <a:solidFill>
            <a:srgbClr val="92D05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3311016" y="2938659"/>
            <a:ext cx="331839" cy="464575"/>
          </a:xfrm>
          <a:prstGeom prst="rect">
            <a:avLst/>
          </a:prstGeom>
          <a:solidFill>
            <a:srgbClr val="92D05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642855" y="2938659"/>
            <a:ext cx="331839" cy="464575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974694" y="2938659"/>
            <a:ext cx="331839" cy="464575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4306533" y="2938659"/>
            <a:ext cx="331839" cy="464575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7" name="직사각형 16"/>
          <p:cNvSpPr/>
          <p:nvPr/>
        </p:nvSpPr>
        <p:spPr>
          <a:xfrm>
            <a:off x="4638372" y="2938659"/>
            <a:ext cx="331839" cy="464575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4970211" y="2938659"/>
            <a:ext cx="331839" cy="464575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9" name="직사각형 18"/>
          <p:cNvSpPr/>
          <p:nvPr/>
        </p:nvSpPr>
        <p:spPr>
          <a:xfrm>
            <a:off x="5302050" y="2938659"/>
            <a:ext cx="331839" cy="464575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0" name="직사각형 19"/>
          <p:cNvSpPr/>
          <p:nvPr/>
        </p:nvSpPr>
        <p:spPr>
          <a:xfrm>
            <a:off x="5633889" y="2938659"/>
            <a:ext cx="331839" cy="464575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5995227" y="2938659"/>
            <a:ext cx="331839" cy="464575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6327066" y="2938659"/>
            <a:ext cx="331839" cy="464575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6658905" y="2938659"/>
            <a:ext cx="331839" cy="464575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6990744" y="2938659"/>
            <a:ext cx="331839" cy="464575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7322583" y="2938659"/>
            <a:ext cx="331839" cy="464575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7654422" y="2938659"/>
            <a:ext cx="331839" cy="464575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7986261" y="2938659"/>
            <a:ext cx="331839" cy="464575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8318100" y="2938659"/>
            <a:ext cx="331839" cy="464575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8679437" y="2938659"/>
            <a:ext cx="331839" cy="464575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0" name="직사각형 29"/>
          <p:cNvSpPr/>
          <p:nvPr/>
        </p:nvSpPr>
        <p:spPr>
          <a:xfrm>
            <a:off x="9011276" y="2938659"/>
            <a:ext cx="331839" cy="464575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9343115" y="2938659"/>
            <a:ext cx="331839" cy="464575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2" name="직사각형 31"/>
          <p:cNvSpPr/>
          <p:nvPr/>
        </p:nvSpPr>
        <p:spPr>
          <a:xfrm>
            <a:off x="9674954" y="2938659"/>
            <a:ext cx="331839" cy="464575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3" name="직사각형 32"/>
          <p:cNvSpPr/>
          <p:nvPr/>
        </p:nvSpPr>
        <p:spPr>
          <a:xfrm>
            <a:off x="10006793" y="2938659"/>
            <a:ext cx="331839" cy="464575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4" name="직사각형 33"/>
          <p:cNvSpPr/>
          <p:nvPr/>
        </p:nvSpPr>
        <p:spPr>
          <a:xfrm>
            <a:off x="10338632" y="2938659"/>
            <a:ext cx="331839" cy="464575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5" name="직사각형 34"/>
          <p:cNvSpPr/>
          <p:nvPr/>
        </p:nvSpPr>
        <p:spPr>
          <a:xfrm>
            <a:off x="10670471" y="2938659"/>
            <a:ext cx="331839" cy="464575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11002310" y="2938659"/>
            <a:ext cx="331839" cy="464575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647341" y="2569327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mtClean="0">
                <a:latin typeface="Consolas" panose="020B0609020204030204" pitchFamily="49" charset="0"/>
              </a:rPr>
              <a:t>s</a:t>
            </a:r>
            <a:endParaRPr lang="ko-KR" altLang="en-US" smtClean="0">
              <a:latin typeface="Consolas" panose="020B0609020204030204" pitchFamily="49" charset="0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438148" y="1091306"/>
            <a:ext cx="62969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smtClean="0">
                <a:latin typeface="Consolas" panose="020B0609020204030204" pitchFamily="49" charset="0"/>
              </a:rPr>
              <a:t>10.25 =&gt; 1010.01 =&gt; 1.01001*2^3</a:t>
            </a:r>
            <a:endParaRPr lang="ko-KR" altLang="en-US" sz="2800" smtClean="0">
              <a:latin typeface="Consolas" panose="020B0609020204030204" pitchFamily="49" charset="0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1290484" y="1884069"/>
            <a:ext cx="30925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smtClean="0">
                <a:latin typeface="Consolas" panose="020B0609020204030204" pitchFamily="49" charset="0"/>
              </a:rPr>
              <a:t>浮動</a:t>
            </a:r>
            <a:r>
              <a:rPr lang="ko-KR" altLang="en-US" sz="2800" smtClean="0">
                <a:latin typeface="Consolas" panose="020B0609020204030204" pitchFamily="49" charset="0"/>
              </a:rPr>
              <a:t> 소수점 방식</a:t>
            </a:r>
            <a:endParaRPr lang="ko-KR" altLang="en-US" sz="2800" smtClean="0">
              <a:latin typeface="Consolas" panose="020B0609020204030204" pitchFamily="49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1019986" y="5445555"/>
            <a:ext cx="19591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smtClean="0">
                <a:latin typeface="Consolas" panose="020B0609020204030204" pitchFamily="49" charset="0"/>
              </a:rPr>
              <a:t>IEEE 754 </a:t>
            </a:r>
            <a:endParaRPr lang="ko-KR" altLang="en-US" sz="2800" smtClean="0">
              <a:latin typeface="Consolas" panose="020B0609020204030204" pitchFamily="49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6633103" y="411636"/>
            <a:ext cx="47724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smtClean="0">
                <a:latin typeface="Consolas" panose="020B0609020204030204" pitchFamily="49" charset="0"/>
              </a:rPr>
              <a:t>0.00000000001 =&gt; 0.1*10^-10</a:t>
            </a:r>
            <a:endParaRPr lang="ko-KR" altLang="en-US" sz="2400" smtClean="0">
              <a:latin typeface="Consolas" panose="020B0609020204030204" pitchFamily="49" charset="0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2165633" y="2576858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mtClean="0">
                <a:latin typeface="Consolas" panose="020B0609020204030204" pitchFamily="49" charset="0"/>
              </a:rPr>
              <a:t>e</a:t>
            </a:r>
            <a:endParaRPr lang="ko-KR" altLang="en-US" smtClean="0">
              <a:latin typeface="Consolas" panose="020B0609020204030204" pitchFamily="49" charset="0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5004704" y="2576858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mtClean="0">
                <a:latin typeface="Consolas" panose="020B0609020204030204" pitchFamily="49" charset="0"/>
              </a:rPr>
              <a:t>m</a:t>
            </a:r>
            <a:endParaRPr lang="ko-KR" altLang="en-US" smtClean="0">
              <a:latin typeface="Consolas" panose="020B0609020204030204" pitchFamily="49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/>
              <p:cNvSpPr txBox="1"/>
              <p:nvPr/>
            </p:nvSpPr>
            <p:spPr>
              <a:xfrm>
                <a:off x="2783759" y="4024101"/>
                <a:ext cx="4904741" cy="6155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4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ko-KR" sz="4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40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</m:e>
                        <m:sup>
                          <m:r>
                            <a:rPr lang="en-US" altLang="ko-KR" sz="40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p>
                      </m:sSup>
                      <m:r>
                        <a:rPr lang="en-US" altLang="ko-KR" sz="4000" b="0" i="1" smtClean="0">
                          <a:latin typeface="Cambria Math" panose="02040503050406030204" pitchFamily="18" charset="0"/>
                        </a:rPr>
                        <m:t>∗1.</m:t>
                      </m:r>
                      <m:r>
                        <a:rPr lang="en-US" altLang="ko-KR" sz="4000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altLang="ko-KR" sz="4000" b="0" i="1" smtClean="0">
                          <a:latin typeface="Cambria Math" panose="02040503050406030204" pitchFamily="18" charset="0"/>
                        </a:rPr>
                        <m:t>∗</m:t>
                      </m:r>
                      <m:sSup>
                        <m:sSupPr>
                          <m:ctrlPr>
                            <a:rPr lang="en-US" altLang="ko-KR" sz="4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altLang="ko-KR" sz="40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  <m:r>
                            <a:rPr lang="en-US" altLang="ko-KR" sz="4000" b="0" i="1" smtClean="0">
                              <a:latin typeface="Cambria Math" panose="02040503050406030204" pitchFamily="18" charset="0"/>
                            </a:rPr>
                            <m:t>−127</m:t>
                          </m:r>
                        </m:sup>
                      </m:sSup>
                    </m:oMath>
                  </m:oMathPara>
                </a14:m>
                <a:endParaRPr lang="ko-KR" altLang="en-US" sz="4000" smtClean="0">
                  <a:latin typeface="Consolas" panose="020B0609020204030204" pitchFamily="49" charset="0"/>
                </a:endParaRPr>
              </a:p>
            </p:txBody>
          </p:sp>
        </mc:Choice>
        <mc:Fallback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3759" y="4024101"/>
                <a:ext cx="4904741" cy="61555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0542734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26806" y="213851"/>
            <a:ext cx="314220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smtClean="0">
                <a:latin typeface="Consolas" panose="020B0609020204030204" pitchFamily="49" charset="0"/>
              </a:rPr>
              <a:t>float f = 0.1f;</a:t>
            </a:r>
            <a:endParaRPr lang="ko-KR" altLang="en-US" sz="2800" smtClean="0">
              <a:latin typeface="Consolas" panose="020B0609020204030204" pitchFamily="49" charset="0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626806" y="2938659"/>
            <a:ext cx="331839" cy="464575"/>
          </a:xfrm>
          <a:prstGeom prst="rect">
            <a:avLst/>
          </a:prstGeom>
          <a:solidFill>
            <a:srgbClr val="FFC0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958645" y="2938659"/>
            <a:ext cx="331839" cy="464575"/>
          </a:xfrm>
          <a:prstGeom prst="rect">
            <a:avLst/>
          </a:prstGeom>
          <a:solidFill>
            <a:srgbClr val="92D05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1290484" y="2938659"/>
            <a:ext cx="331839" cy="464575"/>
          </a:xfrm>
          <a:prstGeom prst="rect">
            <a:avLst/>
          </a:prstGeom>
          <a:solidFill>
            <a:srgbClr val="92D05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1622323" y="2938659"/>
            <a:ext cx="331839" cy="464575"/>
          </a:xfrm>
          <a:prstGeom prst="rect">
            <a:avLst/>
          </a:prstGeom>
          <a:solidFill>
            <a:srgbClr val="92D05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1954162" y="2938659"/>
            <a:ext cx="331839" cy="464575"/>
          </a:xfrm>
          <a:prstGeom prst="rect">
            <a:avLst/>
          </a:prstGeom>
          <a:solidFill>
            <a:srgbClr val="92D05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2286001" y="2938659"/>
            <a:ext cx="331839" cy="464575"/>
          </a:xfrm>
          <a:prstGeom prst="rect">
            <a:avLst/>
          </a:prstGeom>
          <a:solidFill>
            <a:srgbClr val="92D05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2617840" y="2938659"/>
            <a:ext cx="331839" cy="464575"/>
          </a:xfrm>
          <a:prstGeom prst="rect">
            <a:avLst/>
          </a:prstGeom>
          <a:solidFill>
            <a:srgbClr val="92D05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2949679" y="2938659"/>
            <a:ext cx="331839" cy="464575"/>
          </a:xfrm>
          <a:prstGeom prst="rect">
            <a:avLst/>
          </a:prstGeom>
          <a:solidFill>
            <a:srgbClr val="92D05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3311016" y="2938659"/>
            <a:ext cx="331839" cy="464575"/>
          </a:xfrm>
          <a:prstGeom prst="rect">
            <a:avLst/>
          </a:prstGeom>
          <a:solidFill>
            <a:srgbClr val="92D05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642855" y="2938659"/>
            <a:ext cx="331839" cy="464575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974694" y="2938659"/>
            <a:ext cx="331839" cy="464575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4306533" y="2938659"/>
            <a:ext cx="331839" cy="464575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7" name="직사각형 16"/>
          <p:cNvSpPr/>
          <p:nvPr/>
        </p:nvSpPr>
        <p:spPr>
          <a:xfrm>
            <a:off x="4638372" y="2938659"/>
            <a:ext cx="331839" cy="464575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4970211" y="2938659"/>
            <a:ext cx="331839" cy="464575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9" name="직사각형 18"/>
          <p:cNvSpPr/>
          <p:nvPr/>
        </p:nvSpPr>
        <p:spPr>
          <a:xfrm>
            <a:off x="5302050" y="2938659"/>
            <a:ext cx="331839" cy="464575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0" name="직사각형 19"/>
          <p:cNvSpPr/>
          <p:nvPr/>
        </p:nvSpPr>
        <p:spPr>
          <a:xfrm>
            <a:off x="5633889" y="2938659"/>
            <a:ext cx="331839" cy="464575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5995227" y="2938659"/>
            <a:ext cx="331839" cy="464575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6327066" y="2938659"/>
            <a:ext cx="331839" cy="464575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6658905" y="2938659"/>
            <a:ext cx="331839" cy="464575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6990744" y="2938659"/>
            <a:ext cx="331839" cy="464575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7322583" y="2938659"/>
            <a:ext cx="331839" cy="464575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7654422" y="2938659"/>
            <a:ext cx="331839" cy="464575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7986261" y="2938659"/>
            <a:ext cx="331839" cy="464575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8318100" y="2938659"/>
            <a:ext cx="331839" cy="464575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8679437" y="2938659"/>
            <a:ext cx="331839" cy="464575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0" name="직사각형 29"/>
          <p:cNvSpPr/>
          <p:nvPr/>
        </p:nvSpPr>
        <p:spPr>
          <a:xfrm>
            <a:off x="9011276" y="2938659"/>
            <a:ext cx="331839" cy="464575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9343115" y="2938659"/>
            <a:ext cx="331839" cy="464575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2" name="직사각형 31"/>
          <p:cNvSpPr/>
          <p:nvPr/>
        </p:nvSpPr>
        <p:spPr>
          <a:xfrm>
            <a:off x="9674954" y="2938659"/>
            <a:ext cx="331839" cy="464575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3" name="직사각형 32"/>
          <p:cNvSpPr/>
          <p:nvPr/>
        </p:nvSpPr>
        <p:spPr>
          <a:xfrm>
            <a:off x="10006793" y="2938659"/>
            <a:ext cx="331839" cy="464575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4" name="직사각형 33"/>
          <p:cNvSpPr/>
          <p:nvPr/>
        </p:nvSpPr>
        <p:spPr>
          <a:xfrm>
            <a:off x="10338632" y="2938659"/>
            <a:ext cx="331839" cy="464575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5" name="직사각형 34"/>
          <p:cNvSpPr/>
          <p:nvPr/>
        </p:nvSpPr>
        <p:spPr>
          <a:xfrm>
            <a:off x="10670471" y="2938659"/>
            <a:ext cx="331839" cy="464575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11002310" y="2938659"/>
            <a:ext cx="331839" cy="464575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647341" y="2569327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mtClean="0">
                <a:latin typeface="Consolas" panose="020B0609020204030204" pitchFamily="49" charset="0"/>
              </a:rPr>
              <a:t>s</a:t>
            </a:r>
            <a:endParaRPr lang="ko-KR" altLang="en-US" smtClean="0">
              <a:latin typeface="Consolas" panose="020B0609020204030204" pitchFamily="49" charset="0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438148" y="1091306"/>
            <a:ext cx="964879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>
                <a:latin typeface="Consolas" panose="020B0609020204030204" pitchFamily="49" charset="0"/>
              </a:rPr>
              <a:t>0.1 =&gt; 0.000110011001100.. </a:t>
            </a:r>
            <a:r>
              <a:rPr lang="en-US" altLang="ko-KR" sz="2800">
                <a:latin typeface="Consolas" panose="020B0609020204030204" pitchFamily="49" charset="0"/>
              </a:rPr>
              <a:t>=&gt;</a:t>
            </a:r>
            <a:r>
              <a:rPr lang="en-US" altLang="ko-KR" sz="2800" smtClean="0">
                <a:latin typeface="Consolas" panose="020B0609020204030204" pitchFamily="49" charset="0"/>
              </a:rPr>
              <a:t>1.10011001100*2^-4 </a:t>
            </a:r>
            <a:endParaRPr lang="ko-KR" altLang="en-US" sz="2800" smtClean="0">
              <a:latin typeface="Consolas" panose="020B0609020204030204" pitchFamily="49" charset="0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1290484" y="1884069"/>
            <a:ext cx="30925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smtClean="0">
                <a:latin typeface="Consolas" panose="020B0609020204030204" pitchFamily="49" charset="0"/>
              </a:rPr>
              <a:t>浮動</a:t>
            </a:r>
            <a:r>
              <a:rPr lang="ko-KR" altLang="en-US" sz="2800" smtClean="0">
                <a:latin typeface="Consolas" panose="020B0609020204030204" pitchFamily="49" charset="0"/>
              </a:rPr>
              <a:t> 소수점 방식</a:t>
            </a:r>
            <a:endParaRPr lang="ko-KR" altLang="en-US" sz="2800" smtClean="0">
              <a:latin typeface="Consolas" panose="020B0609020204030204" pitchFamily="49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1019986" y="5445555"/>
            <a:ext cx="19591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smtClean="0">
                <a:latin typeface="Consolas" panose="020B0609020204030204" pitchFamily="49" charset="0"/>
              </a:rPr>
              <a:t>IEEE 754 </a:t>
            </a:r>
            <a:endParaRPr lang="ko-KR" altLang="en-US" sz="2800" smtClean="0">
              <a:latin typeface="Consolas" panose="020B0609020204030204" pitchFamily="49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1448792" y="-18821"/>
            <a:ext cx="2393604" cy="71096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smtClean="0">
                <a:latin typeface="Consolas" panose="020B0609020204030204" pitchFamily="49" charset="0"/>
              </a:rPr>
              <a:t>0.1</a:t>
            </a:r>
          </a:p>
          <a:p>
            <a:r>
              <a:rPr lang="en-US" altLang="ko-KR" sz="2400" smtClean="0">
                <a:latin typeface="Consolas" panose="020B0609020204030204" pitchFamily="49" charset="0"/>
              </a:rPr>
              <a:t>-------------</a:t>
            </a:r>
          </a:p>
          <a:p>
            <a:r>
              <a:rPr lang="en-US" altLang="ko-KR" sz="2400" smtClean="0">
                <a:latin typeface="Consolas" panose="020B0609020204030204" pitchFamily="49" charset="0"/>
              </a:rPr>
              <a:t>0.2</a:t>
            </a:r>
          </a:p>
          <a:p>
            <a:r>
              <a:rPr lang="en-US" altLang="ko-KR" sz="2400" smtClean="0">
                <a:latin typeface="Consolas" panose="020B0609020204030204" pitchFamily="49" charset="0"/>
              </a:rPr>
              <a:t>0.4</a:t>
            </a:r>
          </a:p>
          <a:p>
            <a:r>
              <a:rPr lang="en-US" altLang="ko-KR" sz="2400" smtClean="0">
                <a:latin typeface="Consolas" panose="020B0609020204030204" pitchFamily="49" charset="0"/>
              </a:rPr>
              <a:t>0.8</a:t>
            </a:r>
          </a:p>
          <a:p>
            <a:r>
              <a:rPr lang="en-US" altLang="ko-KR" sz="2400" smtClean="0">
                <a:latin typeface="Consolas" panose="020B0609020204030204" pitchFamily="49" charset="0"/>
              </a:rPr>
              <a:t>1.6</a:t>
            </a:r>
          </a:p>
          <a:p>
            <a:r>
              <a:rPr lang="en-US" altLang="ko-KR" sz="2400" smtClean="0">
                <a:latin typeface="Consolas" panose="020B0609020204030204" pitchFamily="49" charset="0"/>
              </a:rPr>
              <a:t>1.2</a:t>
            </a:r>
          </a:p>
          <a:p>
            <a:r>
              <a:rPr lang="en-US" altLang="ko-KR" sz="2400" smtClean="0">
                <a:latin typeface="Consolas" panose="020B0609020204030204" pitchFamily="49" charset="0"/>
              </a:rPr>
              <a:t>0.4</a:t>
            </a:r>
          </a:p>
          <a:p>
            <a:r>
              <a:rPr lang="en-US" altLang="ko-KR" sz="2400" smtClean="0">
                <a:latin typeface="Consolas" panose="020B0609020204030204" pitchFamily="49" charset="0"/>
              </a:rPr>
              <a:t>0.8</a:t>
            </a:r>
          </a:p>
          <a:p>
            <a:r>
              <a:rPr lang="en-US" altLang="ko-KR" sz="2400" smtClean="0">
                <a:latin typeface="Consolas" panose="020B0609020204030204" pitchFamily="49" charset="0"/>
              </a:rPr>
              <a:t>1.6</a:t>
            </a:r>
          </a:p>
          <a:p>
            <a:r>
              <a:rPr lang="en-US" altLang="ko-KR" sz="2400">
                <a:latin typeface="Consolas" panose="020B0609020204030204" pitchFamily="49" charset="0"/>
              </a:rPr>
              <a:t>1.2</a:t>
            </a:r>
          </a:p>
          <a:p>
            <a:r>
              <a:rPr lang="en-US" altLang="ko-KR" sz="2400">
                <a:latin typeface="Consolas" panose="020B0609020204030204" pitchFamily="49" charset="0"/>
              </a:rPr>
              <a:t>0.4</a:t>
            </a:r>
          </a:p>
          <a:p>
            <a:r>
              <a:rPr lang="en-US" altLang="ko-KR" sz="2400">
                <a:latin typeface="Consolas" panose="020B0609020204030204" pitchFamily="49" charset="0"/>
              </a:rPr>
              <a:t>0.8</a:t>
            </a:r>
          </a:p>
          <a:p>
            <a:r>
              <a:rPr lang="en-US" altLang="ko-KR" sz="2400">
                <a:latin typeface="Consolas" panose="020B0609020204030204" pitchFamily="49" charset="0"/>
              </a:rPr>
              <a:t>1.6</a:t>
            </a:r>
            <a:endParaRPr lang="ko-KR" altLang="en-US" sz="2400">
              <a:latin typeface="Consolas" panose="020B0609020204030204" pitchFamily="49" charset="0"/>
            </a:endParaRPr>
          </a:p>
          <a:p>
            <a:r>
              <a:rPr lang="en-US" altLang="ko-KR" sz="2400">
                <a:latin typeface="Consolas" panose="020B0609020204030204" pitchFamily="49" charset="0"/>
              </a:rPr>
              <a:t>1.2</a:t>
            </a:r>
          </a:p>
          <a:p>
            <a:r>
              <a:rPr lang="en-US" altLang="ko-KR" sz="2400">
                <a:latin typeface="Consolas" panose="020B0609020204030204" pitchFamily="49" charset="0"/>
              </a:rPr>
              <a:t>0.4</a:t>
            </a:r>
          </a:p>
          <a:p>
            <a:r>
              <a:rPr lang="en-US" altLang="ko-KR" sz="2400">
                <a:latin typeface="Consolas" panose="020B0609020204030204" pitchFamily="49" charset="0"/>
              </a:rPr>
              <a:t>0.8</a:t>
            </a:r>
          </a:p>
          <a:p>
            <a:r>
              <a:rPr lang="en-US" altLang="ko-KR" sz="2400">
                <a:latin typeface="Consolas" panose="020B0609020204030204" pitchFamily="49" charset="0"/>
              </a:rPr>
              <a:t>1.6</a:t>
            </a:r>
            <a:endParaRPr lang="ko-KR" altLang="en-US" sz="2400">
              <a:latin typeface="Consolas" panose="020B0609020204030204" pitchFamily="49" charset="0"/>
            </a:endParaRPr>
          </a:p>
          <a:p>
            <a:endParaRPr lang="ko-KR" altLang="en-US" sz="2400" smtClean="0">
              <a:latin typeface="Consolas" panose="020B0609020204030204" pitchFamily="49" charset="0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2165633" y="2576858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mtClean="0">
                <a:latin typeface="Consolas" panose="020B0609020204030204" pitchFamily="49" charset="0"/>
              </a:rPr>
              <a:t>e</a:t>
            </a:r>
            <a:endParaRPr lang="ko-KR" altLang="en-US" smtClean="0">
              <a:latin typeface="Consolas" panose="020B0609020204030204" pitchFamily="49" charset="0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5004704" y="2576858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mtClean="0">
                <a:latin typeface="Consolas" panose="020B0609020204030204" pitchFamily="49" charset="0"/>
              </a:rPr>
              <a:t>m</a:t>
            </a:r>
            <a:endParaRPr lang="ko-KR" altLang="en-US" smtClean="0">
              <a:latin typeface="Consolas" panose="020B0609020204030204" pitchFamily="49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/>
              <p:cNvSpPr txBox="1"/>
              <p:nvPr/>
            </p:nvSpPr>
            <p:spPr>
              <a:xfrm>
                <a:off x="2783759" y="4024101"/>
                <a:ext cx="4904741" cy="6155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4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ko-KR" sz="4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40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</m:e>
                        <m:sup>
                          <m:r>
                            <a:rPr lang="en-US" altLang="ko-KR" sz="40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p>
                      </m:sSup>
                      <m:r>
                        <a:rPr lang="en-US" altLang="ko-KR" sz="4000" b="0" i="1" smtClean="0">
                          <a:latin typeface="Cambria Math" panose="02040503050406030204" pitchFamily="18" charset="0"/>
                        </a:rPr>
                        <m:t>∗1.</m:t>
                      </m:r>
                      <m:r>
                        <a:rPr lang="en-US" altLang="ko-KR" sz="4000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altLang="ko-KR" sz="4000" b="0" i="1" smtClean="0">
                          <a:latin typeface="Cambria Math" panose="02040503050406030204" pitchFamily="18" charset="0"/>
                        </a:rPr>
                        <m:t>∗</m:t>
                      </m:r>
                      <m:sSup>
                        <m:sSupPr>
                          <m:ctrlPr>
                            <a:rPr lang="en-US" altLang="ko-KR" sz="4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altLang="ko-KR" sz="40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  <m:r>
                            <a:rPr lang="en-US" altLang="ko-KR" sz="4000" b="0" i="1" smtClean="0">
                              <a:latin typeface="Cambria Math" panose="02040503050406030204" pitchFamily="18" charset="0"/>
                            </a:rPr>
                            <m:t>−127</m:t>
                          </m:r>
                        </m:sup>
                      </m:sSup>
                    </m:oMath>
                  </m:oMathPara>
                </a14:m>
                <a:endParaRPr lang="ko-KR" altLang="en-US" sz="4000" smtClean="0">
                  <a:latin typeface="Consolas" panose="020B0609020204030204" pitchFamily="49" charset="0"/>
                </a:endParaRPr>
              </a:p>
            </p:txBody>
          </p:sp>
        </mc:Choice>
        <mc:Fallback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3759" y="4024101"/>
                <a:ext cx="4904741" cy="61555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9116670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26806" y="213851"/>
            <a:ext cx="314220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smtClean="0">
                <a:latin typeface="Consolas" panose="020B0609020204030204" pitchFamily="49" charset="0"/>
              </a:rPr>
              <a:t>double f = 0.1;</a:t>
            </a:r>
            <a:endParaRPr lang="ko-KR" altLang="en-US" sz="2800" smtClean="0">
              <a:latin typeface="Consolas" panose="020B0609020204030204" pitchFamily="49" charset="0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626806" y="2938659"/>
            <a:ext cx="331839" cy="464575"/>
          </a:xfrm>
          <a:prstGeom prst="rect">
            <a:avLst/>
          </a:prstGeom>
          <a:solidFill>
            <a:srgbClr val="FFC0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958645" y="2938659"/>
            <a:ext cx="331839" cy="464575"/>
          </a:xfrm>
          <a:prstGeom prst="rect">
            <a:avLst/>
          </a:prstGeom>
          <a:solidFill>
            <a:srgbClr val="92D05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1290484" y="2938659"/>
            <a:ext cx="331839" cy="464575"/>
          </a:xfrm>
          <a:prstGeom prst="rect">
            <a:avLst/>
          </a:prstGeom>
          <a:solidFill>
            <a:srgbClr val="92D05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1622323" y="2938659"/>
            <a:ext cx="331839" cy="464575"/>
          </a:xfrm>
          <a:prstGeom prst="rect">
            <a:avLst/>
          </a:prstGeom>
          <a:solidFill>
            <a:srgbClr val="92D05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1954162" y="2938659"/>
            <a:ext cx="331839" cy="464575"/>
          </a:xfrm>
          <a:prstGeom prst="rect">
            <a:avLst/>
          </a:prstGeom>
          <a:solidFill>
            <a:srgbClr val="92D05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2286001" y="2938659"/>
            <a:ext cx="331839" cy="464575"/>
          </a:xfrm>
          <a:prstGeom prst="rect">
            <a:avLst/>
          </a:prstGeom>
          <a:solidFill>
            <a:srgbClr val="92D05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2617840" y="2938659"/>
            <a:ext cx="331839" cy="464575"/>
          </a:xfrm>
          <a:prstGeom prst="rect">
            <a:avLst/>
          </a:prstGeom>
          <a:solidFill>
            <a:srgbClr val="92D05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2949679" y="2938659"/>
            <a:ext cx="331839" cy="464575"/>
          </a:xfrm>
          <a:prstGeom prst="rect">
            <a:avLst/>
          </a:prstGeom>
          <a:solidFill>
            <a:srgbClr val="92D05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3311016" y="2938659"/>
            <a:ext cx="331839" cy="464575"/>
          </a:xfrm>
          <a:prstGeom prst="rect">
            <a:avLst/>
          </a:prstGeom>
          <a:solidFill>
            <a:srgbClr val="92D05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642855" y="2938659"/>
            <a:ext cx="331839" cy="464575"/>
          </a:xfrm>
          <a:prstGeom prst="rect">
            <a:avLst/>
          </a:prstGeom>
          <a:solidFill>
            <a:srgbClr val="92D05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974694" y="2938659"/>
            <a:ext cx="331839" cy="464575"/>
          </a:xfrm>
          <a:prstGeom prst="rect">
            <a:avLst/>
          </a:prstGeom>
          <a:solidFill>
            <a:srgbClr val="92D05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4306533" y="2938659"/>
            <a:ext cx="331839" cy="464575"/>
          </a:xfrm>
          <a:prstGeom prst="rect">
            <a:avLst/>
          </a:prstGeom>
          <a:solidFill>
            <a:srgbClr val="92D05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7" name="직사각형 16"/>
          <p:cNvSpPr/>
          <p:nvPr/>
        </p:nvSpPr>
        <p:spPr>
          <a:xfrm>
            <a:off x="4638372" y="2938659"/>
            <a:ext cx="331839" cy="464575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4970211" y="2938659"/>
            <a:ext cx="331839" cy="464575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9" name="직사각형 18"/>
          <p:cNvSpPr/>
          <p:nvPr/>
        </p:nvSpPr>
        <p:spPr>
          <a:xfrm>
            <a:off x="5302050" y="2938659"/>
            <a:ext cx="331839" cy="464575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0" name="직사각형 19"/>
          <p:cNvSpPr/>
          <p:nvPr/>
        </p:nvSpPr>
        <p:spPr>
          <a:xfrm>
            <a:off x="5633889" y="2938659"/>
            <a:ext cx="331839" cy="464575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5995227" y="2938659"/>
            <a:ext cx="331839" cy="464575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6327066" y="2938659"/>
            <a:ext cx="331839" cy="464575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6658905" y="2938659"/>
            <a:ext cx="331839" cy="464575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6990744" y="2938659"/>
            <a:ext cx="331839" cy="464575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7322583" y="2938659"/>
            <a:ext cx="331839" cy="464575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7654422" y="2938659"/>
            <a:ext cx="331839" cy="464575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7986261" y="2938659"/>
            <a:ext cx="331839" cy="464575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8318100" y="2938659"/>
            <a:ext cx="331839" cy="464575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8679437" y="2938659"/>
            <a:ext cx="331839" cy="464575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0" name="직사각형 29"/>
          <p:cNvSpPr/>
          <p:nvPr/>
        </p:nvSpPr>
        <p:spPr>
          <a:xfrm>
            <a:off x="9011276" y="2938659"/>
            <a:ext cx="331839" cy="464575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9343115" y="2938659"/>
            <a:ext cx="331839" cy="464575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2" name="직사각형 31"/>
          <p:cNvSpPr/>
          <p:nvPr/>
        </p:nvSpPr>
        <p:spPr>
          <a:xfrm>
            <a:off x="9674954" y="2938659"/>
            <a:ext cx="331839" cy="464575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3" name="직사각형 32"/>
          <p:cNvSpPr/>
          <p:nvPr/>
        </p:nvSpPr>
        <p:spPr>
          <a:xfrm>
            <a:off x="10006793" y="2938659"/>
            <a:ext cx="331839" cy="464575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4" name="직사각형 33"/>
          <p:cNvSpPr/>
          <p:nvPr/>
        </p:nvSpPr>
        <p:spPr>
          <a:xfrm>
            <a:off x="10338632" y="2938659"/>
            <a:ext cx="331839" cy="464575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5" name="직사각형 34"/>
          <p:cNvSpPr/>
          <p:nvPr/>
        </p:nvSpPr>
        <p:spPr>
          <a:xfrm>
            <a:off x="10670471" y="2938659"/>
            <a:ext cx="331839" cy="464575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11002310" y="2938659"/>
            <a:ext cx="331839" cy="464575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647341" y="2569327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mtClean="0">
                <a:latin typeface="Consolas" panose="020B0609020204030204" pitchFamily="49" charset="0"/>
              </a:rPr>
              <a:t>s</a:t>
            </a:r>
            <a:endParaRPr lang="ko-KR" altLang="en-US" smtClean="0">
              <a:latin typeface="Consolas" panose="020B0609020204030204" pitchFamily="49" charset="0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438148" y="1091306"/>
            <a:ext cx="964879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>
                <a:latin typeface="Consolas" panose="020B0609020204030204" pitchFamily="49" charset="0"/>
              </a:rPr>
              <a:t>0.1 =&gt; 0.000110011001100.. </a:t>
            </a:r>
            <a:r>
              <a:rPr lang="en-US" altLang="ko-KR" sz="2800">
                <a:latin typeface="Consolas" panose="020B0609020204030204" pitchFamily="49" charset="0"/>
              </a:rPr>
              <a:t>=&gt;</a:t>
            </a:r>
            <a:r>
              <a:rPr lang="en-US" altLang="ko-KR" sz="2800" smtClean="0">
                <a:latin typeface="Consolas" panose="020B0609020204030204" pitchFamily="49" charset="0"/>
              </a:rPr>
              <a:t>1.10011001100*2^-4 </a:t>
            </a:r>
            <a:endParaRPr lang="ko-KR" altLang="en-US" sz="2800" smtClean="0">
              <a:latin typeface="Consolas" panose="020B0609020204030204" pitchFamily="49" charset="0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1290484" y="1884069"/>
            <a:ext cx="30925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smtClean="0">
                <a:latin typeface="Consolas" panose="020B0609020204030204" pitchFamily="49" charset="0"/>
              </a:rPr>
              <a:t>浮動</a:t>
            </a:r>
            <a:r>
              <a:rPr lang="ko-KR" altLang="en-US" sz="2800" smtClean="0">
                <a:latin typeface="Consolas" panose="020B0609020204030204" pitchFamily="49" charset="0"/>
              </a:rPr>
              <a:t> 소수점 방식</a:t>
            </a:r>
            <a:endParaRPr lang="ko-KR" altLang="en-US" sz="2800" smtClean="0">
              <a:latin typeface="Consolas" panose="020B0609020204030204" pitchFamily="49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1019986" y="5445555"/>
            <a:ext cx="19591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smtClean="0">
                <a:latin typeface="Consolas" panose="020B0609020204030204" pitchFamily="49" charset="0"/>
              </a:rPr>
              <a:t>IEEE 754 </a:t>
            </a:r>
            <a:endParaRPr lang="ko-KR" altLang="en-US" sz="2800" smtClean="0">
              <a:latin typeface="Consolas" panose="020B0609020204030204" pitchFamily="49" charset="0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2165633" y="2576858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mtClean="0">
                <a:latin typeface="Consolas" panose="020B0609020204030204" pitchFamily="49" charset="0"/>
              </a:rPr>
              <a:t>e</a:t>
            </a:r>
            <a:endParaRPr lang="ko-KR" altLang="en-US" smtClean="0">
              <a:latin typeface="Consolas" panose="020B0609020204030204" pitchFamily="49" charset="0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5004704" y="2576858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mtClean="0">
                <a:latin typeface="Consolas" panose="020B0609020204030204" pitchFamily="49" charset="0"/>
              </a:rPr>
              <a:t>m</a:t>
            </a:r>
            <a:endParaRPr lang="ko-KR" altLang="en-US" smtClean="0">
              <a:latin typeface="Consolas" panose="020B0609020204030204" pitchFamily="49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/>
              <p:cNvSpPr txBox="1"/>
              <p:nvPr/>
            </p:nvSpPr>
            <p:spPr>
              <a:xfrm>
                <a:off x="2783759" y="4024101"/>
                <a:ext cx="4904741" cy="6155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4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ko-KR" sz="4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40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</m:e>
                        <m:sup>
                          <m:r>
                            <a:rPr lang="en-US" altLang="ko-KR" sz="40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p>
                      </m:sSup>
                      <m:r>
                        <a:rPr lang="en-US" altLang="ko-KR" sz="4000" b="0" i="1" smtClean="0">
                          <a:latin typeface="Cambria Math" panose="02040503050406030204" pitchFamily="18" charset="0"/>
                        </a:rPr>
                        <m:t>∗1.</m:t>
                      </m:r>
                      <m:r>
                        <a:rPr lang="en-US" altLang="ko-KR" sz="4000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altLang="ko-KR" sz="4000" b="0" i="1" smtClean="0">
                          <a:latin typeface="Cambria Math" panose="02040503050406030204" pitchFamily="18" charset="0"/>
                        </a:rPr>
                        <m:t>∗</m:t>
                      </m:r>
                      <m:sSup>
                        <m:sSupPr>
                          <m:ctrlPr>
                            <a:rPr lang="en-US" altLang="ko-KR" sz="4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altLang="ko-KR" sz="40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  <m:r>
                            <a:rPr lang="en-US" altLang="ko-KR" sz="4000" b="0" i="1" smtClean="0">
                              <a:latin typeface="Cambria Math" panose="02040503050406030204" pitchFamily="18" charset="0"/>
                            </a:rPr>
                            <m:t>−127</m:t>
                          </m:r>
                        </m:sup>
                      </m:sSup>
                    </m:oMath>
                  </m:oMathPara>
                </a14:m>
                <a:endParaRPr lang="ko-KR" altLang="en-US" sz="4000" smtClean="0">
                  <a:latin typeface="Consolas" panose="020B0609020204030204" pitchFamily="49" charset="0"/>
                </a:endParaRPr>
              </a:p>
            </p:txBody>
          </p:sp>
        </mc:Choice>
        <mc:Fallback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3759" y="4024101"/>
                <a:ext cx="4904741" cy="61555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2757956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26806" y="213851"/>
            <a:ext cx="353654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smtClean="0">
                <a:latin typeface="Consolas" panose="020B0609020204030204" pitchFamily="49" charset="0"/>
              </a:rPr>
              <a:t>double f = 10.25;</a:t>
            </a:r>
            <a:endParaRPr lang="ko-KR" altLang="en-US" sz="2800" smtClean="0">
              <a:latin typeface="Consolas" panose="020B0609020204030204" pitchFamily="49" charset="0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626806" y="2938659"/>
            <a:ext cx="331839" cy="464575"/>
          </a:xfrm>
          <a:prstGeom prst="rect">
            <a:avLst/>
          </a:prstGeom>
          <a:solidFill>
            <a:srgbClr val="FFC0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958645" y="2938659"/>
            <a:ext cx="331839" cy="464575"/>
          </a:xfrm>
          <a:prstGeom prst="rect">
            <a:avLst/>
          </a:prstGeom>
          <a:solidFill>
            <a:srgbClr val="92D05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1290484" y="2938659"/>
            <a:ext cx="331839" cy="464575"/>
          </a:xfrm>
          <a:prstGeom prst="rect">
            <a:avLst/>
          </a:prstGeom>
          <a:solidFill>
            <a:srgbClr val="92D05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1622323" y="2938659"/>
            <a:ext cx="331839" cy="464575"/>
          </a:xfrm>
          <a:prstGeom prst="rect">
            <a:avLst/>
          </a:prstGeom>
          <a:solidFill>
            <a:srgbClr val="92D05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1954162" y="2938659"/>
            <a:ext cx="331839" cy="464575"/>
          </a:xfrm>
          <a:prstGeom prst="rect">
            <a:avLst/>
          </a:prstGeom>
          <a:solidFill>
            <a:srgbClr val="92D05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2286001" y="2938659"/>
            <a:ext cx="331839" cy="464575"/>
          </a:xfrm>
          <a:prstGeom prst="rect">
            <a:avLst/>
          </a:prstGeom>
          <a:solidFill>
            <a:srgbClr val="92D05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2617840" y="2938659"/>
            <a:ext cx="331839" cy="464575"/>
          </a:xfrm>
          <a:prstGeom prst="rect">
            <a:avLst/>
          </a:prstGeom>
          <a:solidFill>
            <a:srgbClr val="92D05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2949679" y="2938659"/>
            <a:ext cx="331839" cy="464575"/>
          </a:xfrm>
          <a:prstGeom prst="rect">
            <a:avLst/>
          </a:prstGeom>
          <a:solidFill>
            <a:srgbClr val="92D05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3311016" y="2938659"/>
            <a:ext cx="331839" cy="464575"/>
          </a:xfrm>
          <a:prstGeom prst="rect">
            <a:avLst/>
          </a:prstGeom>
          <a:solidFill>
            <a:srgbClr val="92D05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642855" y="2938659"/>
            <a:ext cx="331839" cy="464575"/>
          </a:xfrm>
          <a:prstGeom prst="rect">
            <a:avLst/>
          </a:prstGeom>
          <a:solidFill>
            <a:srgbClr val="92D05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974694" y="2938659"/>
            <a:ext cx="331839" cy="464575"/>
          </a:xfrm>
          <a:prstGeom prst="rect">
            <a:avLst/>
          </a:prstGeom>
          <a:solidFill>
            <a:srgbClr val="92D05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4306533" y="2938659"/>
            <a:ext cx="331839" cy="464575"/>
          </a:xfrm>
          <a:prstGeom prst="rect">
            <a:avLst/>
          </a:prstGeom>
          <a:solidFill>
            <a:srgbClr val="92D05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7" name="직사각형 16"/>
          <p:cNvSpPr/>
          <p:nvPr/>
        </p:nvSpPr>
        <p:spPr>
          <a:xfrm>
            <a:off x="4638372" y="2938659"/>
            <a:ext cx="331839" cy="464575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4970211" y="2938659"/>
            <a:ext cx="331839" cy="464575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9" name="직사각형 18"/>
          <p:cNvSpPr/>
          <p:nvPr/>
        </p:nvSpPr>
        <p:spPr>
          <a:xfrm>
            <a:off x="5302050" y="2938659"/>
            <a:ext cx="331839" cy="464575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0" name="직사각형 19"/>
          <p:cNvSpPr/>
          <p:nvPr/>
        </p:nvSpPr>
        <p:spPr>
          <a:xfrm>
            <a:off x="5633889" y="2938659"/>
            <a:ext cx="331839" cy="464575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5995227" y="2938659"/>
            <a:ext cx="331839" cy="464575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6327066" y="2938659"/>
            <a:ext cx="331839" cy="464575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6658905" y="2938659"/>
            <a:ext cx="331839" cy="464575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6990744" y="2938659"/>
            <a:ext cx="331839" cy="464575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7322583" y="2938659"/>
            <a:ext cx="331839" cy="464575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7654422" y="2938659"/>
            <a:ext cx="331839" cy="464575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7986261" y="2938659"/>
            <a:ext cx="331839" cy="464575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8318100" y="2938659"/>
            <a:ext cx="331839" cy="464575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8679437" y="2938659"/>
            <a:ext cx="331839" cy="464575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0" name="직사각형 29"/>
          <p:cNvSpPr/>
          <p:nvPr/>
        </p:nvSpPr>
        <p:spPr>
          <a:xfrm>
            <a:off x="9011276" y="2938659"/>
            <a:ext cx="331839" cy="464575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9343115" y="2938659"/>
            <a:ext cx="331839" cy="464575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2" name="직사각형 31"/>
          <p:cNvSpPr/>
          <p:nvPr/>
        </p:nvSpPr>
        <p:spPr>
          <a:xfrm>
            <a:off x="9674954" y="2938659"/>
            <a:ext cx="331839" cy="464575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3" name="직사각형 32"/>
          <p:cNvSpPr/>
          <p:nvPr/>
        </p:nvSpPr>
        <p:spPr>
          <a:xfrm>
            <a:off x="10006793" y="2938659"/>
            <a:ext cx="331839" cy="464575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4" name="직사각형 33"/>
          <p:cNvSpPr/>
          <p:nvPr/>
        </p:nvSpPr>
        <p:spPr>
          <a:xfrm>
            <a:off x="10338632" y="2938659"/>
            <a:ext cx="331839" cy="464575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5" name="직사각형 34"/>
          <p:cNvSpPr/>
          <p:nvPr/>
        </p:nvSpPr>
        <p:spPr>
          <a:xfrm>
            <a:off x="10670471" y="2938659"/>
            <a:ext cx="331839" cy="464575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11002310" y="2938659"/>
            <a:ext cx="331839" cy="464575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647341" y="2569327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mtClean="0">
                <a:latin typeface="Consolas" panose="020B0609020204030204" pitchFamily="49" charset="0"/>
              </a:rPr>
              <a:t>s</a:t>
            </a:r>
            <a:endParaRPr lang="ko-KR" altLang="en-US" smtClean="0">
              <a:latin typeface="Consolas" panose="020B0609020204030204" pitchFamily="49" charset="0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438148" y="1091306"/>
            <a:ext cx="649408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smtClean="0">
                <a:latin typeface="Consolas" panose="020B0609020204030204" pitchFamily="49" charset="0"/>
              </a:rPr>
              <a:t>10.25 </a:t>
            </a:r>
            <a:r>
              <a:rPr lang="en-US" altLang="ko-KR" sz="2800">
                <a:latin typeface="Consolas" panose="020B0609020204030204" pitchFamily="49" charset="0"/>
              </a:rPr>
              <a:t>=&gt; </a:t>
            </a:r>
            <a:r>
              <a:rPr lang="en-US" altLang="ko-KR" sz="2800" smtClean="0">
                <a:latin typeface="Consolas" panose="020B0609020204030204" pitchFamily="49" charset="0"/>
              </a:rPr>
              <a:t>1010.01 =&gt; 1.01001*2^3 </a:t>
            </a:r>
            <a:endParaRPr lang="ko-KR" altLang="en-US" sz="2800" smtClean="0">
              <a:latin typeface="Consolas" panose="020B0609020204030204" pitchFamily="49" charset="0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1290484" y="1884069"/>
            <a:ext cx="30925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smtClean="0">
                <a:latin typeface="Consolas" panose="020B0609020204030204" pitchFamily="49" charset="0"/>
              </a:rPr>
              <a:t>浮動</a:t>
            </a:r>
            <a:r>
              <a:rPr lang="ko-KR" altLang="en-US" sz="2800" smtClean="0">
                <a:latin typeface="Consolas" panose="020B0609020204030204" pitchFamily="49" charset="0"/>
              </a:rPr>
              <a:t> 소수점 방식</a:t>
            </a:r>
            <a:endParaRPr lang="ko-KR" altLang="en-US" sz="2800" smtClean="0">
              <a:latin typeface="Consolas" panose="020B0609020204030204" pitchFamily="49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1019986" y="5445555"/>
            <a:ext cx="19591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smtClean="0">
                <a:latin typeface="Consolas" panose="020B0609020204030204" pitchFamily="49" charset="0"/>
              </a:rPr>
              <a:t>IEEE 754 </a:t>
            </a:r>
            <a:endParaRPr lang="ko-KR" altLang="en-US" sz="2800" smtClean="0">
              <a:latin typeface="Consolas" panose="020B0609020204030204" pitchFamily="49" charset="0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2165633" y="2576858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mtClean="0">
                <a:latin typeface="Consolas" panose="020B0609020204030204" pitchFamily="49" charset="0"/>
              </a:rPr>
              <a:t>e</a:t>
            </a:r>
            <a:endParaRPr lang="ko-KR" altLang="en-US" smtClean="0">
              <a:latin typeface="Consolas" panose="020B0609020204030204" pitchFamily="49" charset="0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5004704" y="2576858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mtClean="0">
                <a:latin typeface="Consolas" panose="020B0609020204030204" pitchFamily="49" charset="0"/>
              </a:rPr>
              <a:t>m</a:t>
            </a:r>
            <a:endParaRPr lang="ko-KR" altLang="en-US" smtClean="0">
              <a:latin typeface="Consolas" panose="020B0609020204030204" pitchFamily="49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/>
              <p:cNvSpPr txBox="1"/>
              <p:nvPr/>
            </p:nvSpPr>
            <p:spPr>
              <a:xfrm>
                <a:off x="2783759" y="4024101"/>
                <a:ext cx="5121146" cy="6155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4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ko-KR" sz="4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40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</m:e>
                        <m:sup>
                          <m:r>
                            <a:rPr lang="en-US" altLang="ko-KR" sz="40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p>
                      </m:sSup>
                      <m:r>
                        <a:rPr lang="en-US" altLang="ko-KR" sz="4000" b="0" i="1" smtClean="0">
                          <a:latin typeface="Cambria Math" panose="02040503050406030204" pitchFamily="18" charset="0"/>
                        </a:rPr>
                        <m:t>∗1.</m:t>
                      </m:r>
                      <m:r>
                        <a:rPr lang="en-US" altLang="ko-KR" sz="4000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altLang="ko-KR" sz="4000" b="0" i="1" smtClean="0">
                          <a:latin typeface="Cambria Math" panose="02040503050406030204" pitchFamily="18" charset="0"/>
                        </a:rPr>
                        <m:t>∗</m:t>
                      </m:r>
                      <m:sSup>
                        <m:sSupPr>
                          <m:ctrlPr>
                            <a:rPr lang="en-US" altLang="ko-KR" sz="4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altLang="ko-KR" sz="40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  <m:r>
                            <a:rPr lang="en-US" altLang="ko-KR" sz="4000" b="0" i="1" smtClean="0">
                              <a:latin typeface="Cambria Math" panose="02040503050406030204" pitchFamily="18" charset="0"/>
                            </a:rPr>
                            <m:t>−1023</m:t>
                          </m:r>
                        </m:sup>
                      </m:sSup>
                    </m:oMath>
                  </m:oMathPara>
                </a14:m>
                <a:endParaRPr lang="ko-KR" altLang="en-US" sz="4000" smtClean="0">
                  <a:latin typeface="Consolas" panose="020B0609020204030204" pitchFamily="49" charset="0"/>
                </a:endParaRPr>
              </a:p>
            </p:txBody>
          </p:sp>
        </mc:Choice>
        <mc:Fallback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3759" y="4024101"/>
                <a:ext cx="5121146" cy="61555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973776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084006" y="361335"/>
            <a:ext cx="3857146" cy="5355312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smtClean="0">
                <a:latin typeface="Consolas" panose="020B0609020204030204" pitchFamily="49" charset="0"/>
              </a:rPr>
              <a:t>int main()</a:t>
            </a:r>
          </a:p>
          <a:p>
            <a:r>
              <a:rPr lang="en-US" altLang="ko-KR" smtClean="0">
                <a:latin typeface="Consolas" panose="020B0609020204030204" pitchFamily="49" charset="0"/>
              </a:rPr>
              <a:t>{</a:t>
            </a:r>
          </a:p>
          <a:p>
            <a:r>
              <a:rPr lang="en-US" altLang="ko-KR" smtClean="0">
                <a:latin typeface="Consolas" panose="020B0609020204030204" pitchFamily="49" charset="0"/>
              </a:rPr>
              <a:t>    int item[4] = {0,};</a:t>
            </a:r>
          </a:p>
          <a:p>
            <a:endParaRPr lang="en-US" altLang="ko-KR">
              <a:latin typeface="Consolas" panose="020B0609020204030204" pitchFamily="49" charset="0"/>
            </a:endParaRPr>
          </a:p>
          <a:p>
            <a:r>
              <a:rPr lang="en-US" altLang="ko-KR" smtClean="0">
                <a:latin typeface="Consolas" panose="020B0609020204030204" pitchFamily="49" charset="0"/>
              </a:rPr>
              <a:t>    item[0] = 1;</a:t>
            </a:r>
          </a:p>
          <a:p>
            <a:r>
              <a:rPr lang="en-US" altLang="ko-KR" smtClean="0">
                <a:latin typeface="Consolas" panose="020B0609020204030204" pitchFamily="49" charset="0"/>
              </a:rPr>
              <a:t>    item[3] </a:t>
            </a:r>
            <a:r>
              <a:rPr lang="en-US" altLang="ko-KR">
                <a:latin typeface="Consolas" panose="020B0609020204030204" pitchFamily="49" charset="0"/>
              </a:rPr>
              <a:t>= </a:t>
            </a:r>
            <a:r>
              <a:rPr lang="en-US" altLang="ko-KR" smtClean="0">
                <a:latin typeface="Consolas" panose="020B0609020204030204" pitchFamily="49" charset="0"/>
              </a:rPr>
              <a:t>1;</a:t>
            </a:r>
            <a:endParaRPr lang="en-US" altLang="ko-KR">
              <a:latin typeface="Consolas" panose="020B0609020204030204" pitchFamily="49" charset="0"/>
            </a:endParaRPr>
          </a:p>
          <a:p>
            <a:endParaRPr lang="en-US" altLang="ko-KR">
              <a:latin typeface="Consolas" panose="020B0609020204030204" pitchFamily="49" charset="0"/>
            </a:endParaRPr>
          </a:p>
          <a:p>
            <a:endParaRPr lang="en-US" altLang="ko-KR" smtClean="0">
              <a:latin typeface="Consolas" panose="020B0609020204030204" pitchFamily="49" charset="0"/>
            </a:endParaRPr>
          </a:p>
          <a:p>
            <a:r>
              <a:rPr lang="en-US" altLang="ko-KR">
                <a:latin typeface="Consolas" panose="020B0609020204030204" pitchFamily="49" charset="0"/>
              </a:rPr>
              <a:t> </a:t>
            </a:r>
            <a:r>
              <a:rPr lang="en-US" altLang="ko-KR" smtClean="0">
                <a:latin typeface="Consolas" panose="020B0609020204030204" pitchFamily="49" charset="0"/>
              </a:rPr>
              <a:t>   for(i=0; i&lt;4; i++)</a:t>
            </a:r>
          </a:p>
          <a:p>
            <a:r>
              <a:rPr lang="en-US" altLang="ko-KR">
                <a:latin typeface="Consolas" panose="020B0609020204030204" pitchFamily="49" charset="0"/>
              </a:rPr>
              <a:t> </a:t>
            </a:r>
            <a:r>
              <a:rPr lang="en-US" altLang="ko-KR" smtClean="0">
                <a:latin typeface="Consolas" panose="020B0609020204030204" pitchFamily="49" charset="0"/>
              </a:rPr>
              <a:t>   {</a:t>
            </a:r>
          </a:p>
          <a:p>
            <a:r>
              <a:rPr lang="en-US" altLang="ko-KR">
                <a:latin typeface="Consolas" panose="020B0609020204030204" pitchFamily="49" charset="0"/>
              </a:rPr>
              <a:t> </a:t>
            </a:r>
            <a:r>
              <a:rPr lang="en-US" altLang="ko-KR" smtClean="0">
                <a:latin typeface="Consolas" panose="020B0609020204030204" pitchFamily="49" charset="0"/>
              </a:rPr>
              <a:t>       if( item[i] != 0)</a:t>
            </a:r>
          </a:p>
          <a:p>
            <a:r>
              <a:rPr lang="en-US" altLang="ko-KR">
                <a:latin typeface="Consolas" panose="020B0609020204030204" pitchFamily="49" charset="0"/>
              </a:rPr>
              <a:t> </a:t>
            </a:r>
            <a:r>
              <a:rPr lang="en-US" altLang="ko-KR" smtClean="0">
                <a:latin typeface="Consolas" panose="020B0609020204030204" pitchFamily="49" charset="0"/>
              </a:rPr>
              <a:t>          printf("%d\n", i);</a:t>
            </a:r>
          </a:p>
          <a:p>
            <a:r>
              <a:rPr lang="en-US" altLang="ko-KR">
                <a:latin typeface="Consolas" panose="020B0609020204030204" pitchFamily="49" charset="0"/>
              </a:rPr>
              <a:t> </a:t>
            </a:r>
            <a:r>
              <a:rPr lang="en-US" altLang="ko-KR" smtClean="0">
                <a:latin typeface="Consolas" panose="020B0609020204030204" pitchFamily="49" charset="0"/>
              </a:rPr>
              <a:t>   }</a:t>
            </a:r>
          </a:p>
          <a:p>
            <a:endParaRPr lang="en-US" altLang="ko-KR">
              <a:latin typeface="Consolas" panose="020B0609020204030204" pitchFamily="49" charset="0"/>
            </a:endParaRPr>
          </a:p>
          <a:p>
            <a:r>
              <a:rPr lang="en-US" altLang="ko-KR" smtClean="0">
                <a:latin typeface="Consolas" panose="020B0609020204030204" pitchFamily="49" charset="0"/>
              </a:rPr>
              <a:t>    </a:t>
            </a:r>
            <a:r>
              <a:rPr lang="en-US" altLang="ko-KR">
                <a:latin typeface="Consolas" panose="020B0609020204030204" pitchFamily="49" charset="0"/>
              </a:rPr>
              <a:t>item[0] </a:t>
            </a:r>
            <a:r>
              <a:rPr lang="en-US" altLang="ko-KR">
                <a:latin typeface="Consolas" panose="020B0609020204030204" pitchFamily="49" charset="0"/>
              </a:rPr>
              <a:t>= </a:t>
            </a:r>
            <a:r>
              <a:rPr lang="en-US" altLang="ko-KR" smtClean="0">
                <a:latin typeface="Consolas" panose="020B0609020204030204" pitchFamily="49" charset="0"/>
              </a:rPr>
              <a:t>0;</a:t>
            </a:r>
            <a:endParaRPr lang="en-US" altLang="ko-KR">
              <a:latin typeface="Consolas" panose="020B0609020204030204" pitchFamily="49" charset="0"/>
            </a:endParaRPr>
          </a:p>
          <a:p>
            <a:endParaRPr lang="en-US" altLang="ko-KR" smtClean="0">
              <a:latin typeface="Consolas" panose="020B0609020204030204" pitchFamily="49" charset="0"/>
            </a:endParaRPr>
          </a:p>
          <a:p>
            <a:endParaRPr lang="en-US" altLang="ko-KR">
              <a:latin typeface="Consolas" panose="020B0609020204030204" pitchFamily="49" charset="0"/>
            </a:endParaRPr>
          </a:p>
          <a:p>
            <a:r>
              <a:rPr lang="en-US" altLang="ko-KR" smtClean="0">
                <a:latin typeface="Consolas" panose="020B0609020204030204" pitchFamily="49" charset="0"/>
              </a:rPr>
              <a:t>}</a:t>
            </a:r>
            <a:endParaRPr lang="en-US" altLang="ko-KR">
              <a:latin typeface="Consolas" panose="020B0609020204030204" pitchFamily="49" charset="0"/>
            </a:endParaRPr>
          </a:p>
          <a:p>
            <a:endParaRPr lang="ko-KR" altLang="en-US" smtClean="0">
              <a:latin typeface="Consolas" panose="020B0609020204030204" pitchFamily="49" charset="0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5397910" y="1165122"/>
            <a:ext cx="449826" cy="536651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5847736" y="1165122"/>
            <a:ext cx="449826" cy="536651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6297562" y="1165122"/>
            <a:ext cx="449826" cy="536651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6747388" y="1165122"/>
            <a:ext cx="449826" cy="536651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5397910" y="722670"/>
            <a:ext cx="449826" cy="53665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5847736" y="722670"/>
            <a:ext cx="449826" cy="53665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6297562" y="722670"/>
            <a:ext cx="449826" cy="53665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2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6747388" y="722670"/>
            <a:ext cx="449826" cy="53665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3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7" name="직사각형 16"/>
          <p:cNvSpPr/>
          <p:nvPr/>
        </p:nvSpPr>
        <p:spPr>
          <a:xfrm>
            <a:off x="5397910" y="2144225"/>
            <a:ext cx="449826" cy="536651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5847736" y="2144225"/>
            <a:ext cx="449826" cy="536651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9" name="직사각형 18"/>
          <p:cNvSpPr/>
          <p:nvPr/>
        </p:nvSpPr>
        <p:spPr>
          <a:xfrm>
            <a:off x="6297562" y="2144225"/>
            <a:ext cx="449826" cy="536651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0" name="직사각형 19"/>
          <p:cNvSpPr/>
          <p:nvPr/>
        </p:nvSpPr>
        <p:spPr>
          <a:xfrm>
            <a:off x="6747388" y="2144225"/>
            <a:ext cx="449826" cy="536651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942006" y="641555"/>
            <a:ext cx="3496470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smtClean="0">
                <a:latin typeface="Consolas" panose="020B0609020204030204" pitchFamily="49" charset="0"/>
              </a:rPr>
              <a:t>문제점 </a:t>
            </a:r>
            <a:r>
              <a:rPr lang="en-US" altLang="ko-KR" sz="2400" smtClean="0">
                <a:latin typeface="Consolas" panose="020B0609020204030204" pitchFamily="49" charset="0"/>
              </a:rPr>
              <a:t>: </a:t>
            </a:r>
          </a:p>
          <a:p>
            <a:endParaRPr lang="en-US" altLang="ko-KR" sz="2400" smtClean="0">
              <a:latin typeface="Consolas" panose="020B0609020204030204" pitchFamily="49" charset="0"/>
            </a:endParaRPr>
          </a:p>
          <a:p>
            <a:r>
              <a:rPr lang="en-US" altLang="ko-KR" sz="2400" smtClean="0">
                <a:latin typeface="Consolas" panose="020B0609020204030204" pitchFamily="49" charset="0"/>
              </a:rPr>
              <a:t>- </a:t>
            </a:r>
            <a:r>
              <a:rPr lang="ko-KR" altLang="en-US" sz="2400" smtClean="0">
                <a:latin typeface="Consolas" panose="020B0609020204030204" pitchFamily="49" charset="0"/>
              </a:rPr>
              <a:t>메모리를 낭비 한다</a:t>
            </a:r>
            <a:r>
              <a:rPr lang="en-US" altLang="ko-KR" sz="2400" smtClean="0">
                <a:latin typeface="Consolas" panose="020B0609020204030204" pitchFamily="49" charset="0"/>
              </a:rPr>
              <a:t>.</a:t>
            </a:r>
            <a:endParaRPr lang="en-US" altLang="ko-KR" sz="2400">
              <a:latin typeface="Consolas" panose="020B0609020204030204" pitchFamily="49" charset="0"/>
            </a:endParaRPr>
          </a:p>
          <a:p>
            <a:endParaRPr lang="ko-KR" altLang="en-US" sz="2400" smtClean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600202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084006" y="361335"/>
            <a:ext cx="3857146" cy="5355312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smtClean="0">
                <a:latin typeface="Consolas" panose="020B0609020204030204" pitchFamily="49" charset="0"/>
              </a:rPr>
              <a:t>int main()</a:t>
            </a:r>
          </a:p>
          <a:p>
            <a:r>
              <a:rPr lang="en-US" altLang="ko-KR" smtClean="0">
                <a:latin typeface="Consolas" panose="020B0609020204030204" pitchFamily="49" charset="0"/>
              </a:rPr>
              <a:t>{</a:t>
            </a:r>
          </a:p>
          <a:p>
            <a:r>
              <a:rPr lang="en-US" altLang="ko-KR" smtClean="0">
                <a:latin typeface="Consolas" panose="020B0609020204030204" pitchFamily="49" charset="0"/>
              </a:rPr>
              <a:t>    int item = 0;</a:t>
            </a:r>
          </a:p>
          <a:p>
            <a:endParaRPr lang="en-US" altLang="ko-KR">
              <a:latin typeface="Consolas" panose="020B0609020204030204" pitchFamily="49" charset="0"/>
            </a:endParaRPr>
          </a:p>
          <a:p>
            <a:r>
              <a:rPr lang="en-US" altLang="ko-KR" smtClean="0">
                <a:latin typeface="Consolas" panose="020B0609020204030204" pitchFamily="49" charset="0"/>
              </a:rPr>
              <a:t>    item = item | 1;</a:t>
            </a:r>
          </a:p>
          <a:p>
            <a:r>
              <a:rPr lang="en-US" altLang="ko-KR" smtClean="0">
                <a:latin typeface="Consolas" panose="020B0609020204030204" pitchFamily="49" charset="0"/>
              </a:rPr>
              <a:t>    item </a:t>
            </a:r>
            <a:r>
              <a:rPr lang="en-US" altLang="ko-KR">
                <a:latin typeface="Consolas" panose="020B0609020204030204" pitchFamily="49" charset="0"/>
              </a:rPr>
              <a:t>= </a:t>
            </a:r>
            <a:r>
              <a:rPr lang="en-US" altLang="ko-KR" smtClean="0">
                <a:latin typeface="Consolas" panose="020B0609020204030204" pitchFamily="49" charset="0"/>
              </a:rPr>
              <a:t>item | 8;</a:t>
            </a:r>
            <a:endParaRPr lang="en-US" altLang="ko-KR">
              <a:latin typeface="Consolas" panose="020B0609020204030204" pitchFamily="49" charset="0"/>
            </a:endParaRPr>
          </a:p>
          <a:p>
            <a:endParaRPr lang="en-US" altLang="ko-KR">
              <a:latin typeface="Consolas" panose="020B0609020204030204" pitchFamily="49" charset="0"/>
            </a:endParaRPr>
          </a:p>
          <a:p>
            <a:endParaRPr lang="en-US" altLang="ko-KR" smtClean="0">
              <a:latin typeface="Consolas" panose="020B0609020204030204" pitchFamily="49" charset="0"/>
            </a:endParaRPr>
          </a:p>
          <a:p>
            <a:r>
              <a:rPr lang="en-US" altLang="ko-KR">
                <a:latin typeface="Consolas" panose="020B0609020204030204" pitchFamily="49" charset="0"/>
              </a:rPr>
              <a:t> </a:t>
            </a:r>
            <a:r>
              <a:rPr lang="en-US" altLang="ko-KR" smtClean="0">
                <a:latin typeface="Consolas" panose="020B0609020204030204" pitchFamily="49" charset="0"/>
              </a:rPr>
              <a:t>   for(i=0; i&lt;4; i++)</a:t>
            </a:r>
          </a:p>
          <a:p>
            <a:r>
              <a:rPr lang="en-US" altLang="ko-KR">
                <a:latin typeface="Consolas" panose="020B0609020204030204" pitchFamily="49" charset="0"/>
              </a:rPr>
              <a:t> </a:t>
            </a:r>
            <a:r>
              <a:rPr lang="en-US" altLang="ko-KR" smtClean="0">
                <a:latin typeface="Consolas" panose="020B0609020204030204" pitchFamily="49" charset="0"/>
              </a:rPr>
              <a:t>   {</a:t>
            </a:r>
          </a:p>
          <a:p>
            <a:r>
              <a:rPr lang="en-US" altLang="ko-KR">
                <a:latin typeface="Consolas" panose="020B0609020204030204" pitchFamily="49" charset="0"/>
              </a:rPr>
              <a:t> </a:t>
            </a:r>
            <a:r>
              <a:rPr lang="en-US" altLang="ko-KR" smtClean="0">
                <a:latin typeface="Consolas" panose="020B0609020204030204" pitchFamily="49" charset="0"/>
              </a:rPr>
              <a:t>       if( item[i] != 0)</a:t>
            </a:r>
          </a:p>
          <a:p>
            <a:r>
              <a:rPr lang="en-US" altLang="ko-KR">
                <a:latin typeface="Consolas" panose="020B0609020204030204" pitchFamily="49" charset="0"/>
              </a:rPr>
              <a:t> </a:t>
            </a:r>
            <a:r>
              <a:rPr lang="en-US" altLang="ko-KR" smtClean="0">
                <a:latin typeface="Consolas" panose="020B0609020204030204" pitchFamily="49" charset="0"/>
              </a:rPr>
              <a:t>          printf("%d\n", i);</a:t>
            </a:r>
          </a:p>
          <a:p>
            <a:r>
              <a:rPr lang="en-US" altLang="ko-KR">
                <a:latin typeface="Consolas" panose="020B0609020204030204" pitchFamily="49" charset="0"/>
              </a:rPr>
              <a:t> </a:t>
            </a:r>
            <a:r>
              <a:rPr lang="en-US" altLang="ko-KR" smtClean="0">
                <a:latin typeface="Consolas" panose="020B0609020204030204" pitchFamily="49" charset="0"/>
              </a:rPr>
              <a:t>   }</a:t>
            </a:r>
          </a:p>
          <a:p>
            <a:endParaRPr lang="en-US" altLang="ko-KR">
              <a:latin typeface="Consolas" panose="020B0609020204030204" pitchFamily="49" charset="0"/>
            </a:endParaRPr>
          </a:p>
          <a:p>
            <a:r>
              <a:rPr lang="en-US" altLang="ko-KR" smtClean="0">
                <a:latin typeface="Consolas" panose="020B0609020204030204" pitchFamily="49" charset="0"/>
              </a:rPr>
              <a:t>    </a:t>
            </a:r>
            <a:r>
              <a:rPr lang="en-US" altLang="ko-KR">
                <a:latin typeface="Consolas" panose="020B0609020204030204" pitchFamily="49" charset="0"/>
              </a:rPr>
              <a:t>item[0] </a:t>
            </a:r>
            <a:r>
              <a:rPr lang="en-US" altLang="ko-KR">
                <a:latin typeface="Consolas" panose="020B0609020204030204" pitchFamily="49" charset="0"/>
              </a:rPr>
              <a:t>= </a:t>
            </a:r>
            <a:r>
              <a:rPr lang="en-US" altLang="ko-KR" smtClean="0">
                <a:latin typeface="Consolas" panose="020B0609020204030204" pitchFamily="49" charset="0"/>
              </a:rPr>
              <a:t>0;</a:t>
            </a:r>
            <a:endParaRPr lang="en-US" altLang="ko-KR">
              <a:latin typeface="Consolas" panose="020B0609020204030204" pitchFamily="49" charset="0"/>
            </a:endParaRPr>
          </a:p>
          <a:p>
            <a:endParaRPr lang="en-US" altLang="ko-KR" smtClean="0">
              <a:latin typeface="Consolas" panose="020B0609020204030204" pitchFamily="49" charset="0"/>
            </a:endParaRPr>
          </a:p>
          <a:p>
            <a:endParaRPr lang="en-US" altLang="ko-KR">
              <a:latin typeface="Consolas" panose="020B0609020204030204" pitchFamily="49" charset="0"/>
            </a:endParaRPr>
          </a:p>
          <a:p>
            <a:r>
              <a:rPr lang="en-US" altLang="ko-KR" smtClean="0">
                <a:latin typeface="Consolas" panose="020B0609020204030204" pitchFamily="49" charset="0"/>
              </a:rPr>
              <a:t>}</a:t>
            </a:r>
            <a:endParaRPr lang="en-US" altLang="ko-KR">
              <a:latin typeface="Consolas" panose="020B0609020204030204" pitchFamily="49" charset="0"/>
            </a:endParaRPr>
          </a:p>
          <a:p>
            <a:endParaRPr lang="ko-KR" altLang="en-US" smtClean="0">
              <a:latin typeface="Consolas" panose="020B0609020204030204" pitchFamily="49" charset="0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5397910" y="1165122"/>
            <a:ext cx="449826" cy="536651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5847736" y="1165122"/>
            <a:ext cx="449826" cy="536651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6297562" y="1165122"/>
            <a:ext cx="449826" cy="536651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6747388" y="1165122"/>
            <a:ext cx="449826" cy="536651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5397910" y="722670"/>
            <a:ext cx="449826" cy="53665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3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5847736" y="722670"/>
            <a:ext cx="449826" cy="53665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2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6297562" y="722670"/>
            <a:ext cx="449826" cy="53665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6747388" y="722670"/>
            <a:ext cx="449826" cy="53665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7" name="직사각형 16"/>
          <p:cNvSpPr/>
          <p:nvPr/>
        </p:nvSpPr>
        <p:spPr>
          <a:xfrm>
            <a:off x="5397910" y="1797637"/>
            <a:ext cx="449826" cy="536651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5847736" y="1797637"/>
            <a:ext cx="449826" cy="536651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9" name="직사각형 18"/>
          <p:cNvSpPr/>
          <p:nvPr/>
        </p:nvSpPr>
        <p:spPr>
          <a:xfrm>
            <a:off x="6297562" y="1797637"/>
            <a:ext cx="449826" cy="536651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0" name="직사각형 19"/>
          <p:cNvSpPr/>
          <p:nvPr/>
        </p:nvSpPr>
        <p:spPr>
          <a:xfrm>
            <a:off x="6747388" y="1797637"/>
            <a:ext cx="449826" cy="536651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942006" y="641555"/>
            <a:ext cx="3496470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smtClean="0">
                <a:latin typeface="Consolas" panose="020B0609020204030204" pitchFamily="49" charset="0"/>
              </a:rPr>
              <a:t>문제점 </a:t>
            </a:r>
            <a:r>
              <a:rPr lang="en-US" altLang="ko-KR" sz="2400" smtClean="0">
                <a:latin typeface="Consolas" panose="020B0609020204030204" pitchFamily="49" charset="0"/>
              </a:rPr>
              <a:t>: </a:t>
            </a:r>
          </a:p>
          <a:p>
            <a:endParaRPr lang="en-US" altLang="ko-KR" sz="2400" smtClean="0">
              <a:latin typeface="Consolas" panose="020B0609020204030204" pitchFamily="49" charset="0"/>
            </a:endParaRPr>
          </a:p>
          <a:p>
            <a:r>
              <a:rPr lang="en-US" altLang="ko-KR" sz="2400" smtClean="0">
                <a:latin typeface="Consolas" panose="020B0609020204030204" pitchFamily="49" charset="0"/>
              </a:rPr>
              <a:t>- </a:t>
            </a:r>
            <a:r>
              <a:rPr lang="ko-KR" altLang="en-US" sz="2400" smtClean="0">
                <a:latin typeface="Consolas" panose="020B0609020204030204" pitchFamily="49" charset="0"/>
              </a:rPr>
              <a:t>메모리를 낭비 한다</a:t>
            </a:r>
            <a:r>
              <a:rPr lang="en-US" altLang="ko-KR" sz="2400" smtClean="0">
                <a:latin typeface="Consolas" panose="020B0609020204030204" pitchFamily="49" charset="0"/>
              </a:rPr>
              <a:t>.</a:t>
            </a:r>
            <a:endParaRPr lang="en-US" altLang="ko-KR" sz="2400">
              <a:latin typeface="Consolas" panose="020B0609020204030204" pitchFamily="49" charset="0"/>
            </a:endParaRPr>
          </a:p>
          <a:p>
            <a:endParaRPr lang="ko-KR" altLang="en-US" sz="2400" smtClean="0">
              <a:latin typeface="Consolas" panose="020B0609020204030204" pitchFamily="49" charset="0"/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5397910" y="324463"/>
            <a:ext cx="449826" cy="53665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8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5847736" y="324463"/>
            <a:ext cx="449826" cy="53665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4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6297562" y="324463"/>
            <a:ext cx="449826" cy="53665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2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6747388" y="324463"/>
            <a:ext cx="449826" cy="53665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5087049" y="1868048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mtClean="0">
                <a:latin typeface="Consolas" panose="020B0609020204030204" pitchFamily="49" charset="0"/>
              </a:rPr>
              <a:t>|</a:t>
            </a:r>
            <a:endParaRPr lang="ko-KR" altLang="en-US" smtClean="0">
              <a:latin typeface="Consolas" panose="020B0609020204030204" pitchFamily="49" charset="0"/>
            </a:endParaRPr>
          </a:p>
        </p:txBody>
      </p:sp>
      <p:cxnSp>
        <p:nvCxnSpPr>
          <p:cNvPr id="13" name="직선 연결선 12"/>
          <p:cNvCxnSpPr/>
          <p:nvPr/>
        </p:nvCxnSpPr>
        <p:spPr>
          <a:xfrm>
            <a:off x="5087049" y="2448232"/>
            <a:ext cx="234613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직사각형 24"/>
          <p:cNvSpPr/>
          <p:nvPr/>
        </p:nvSpPr>
        <p:spPr>
          <a:xfrm>
            <a:off x="5397910" y="2578113"/>
            <a:ext cx="449826" cy="536651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847736" y="2578113"/>
            <a:ext cx="449826" cy="536651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6297562" y="2578113"/>
            <a:ext cx="449826" cy="536651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6747388" y="2578113"/>
            <a:ext cx="449826" cy="536651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397910" y="3194692"/>
            <a:ext cx="449826" cy="536651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0" name="직사각형 29"/>
          <p:cNvSpPr/>
          <p:nvPr/>
        </p:nvSpPr>
        <p:spPr>
          <a:xfrm>
            <a:off x="5847736" y="3194692"/>
            <a:ext cx="449826" cy="536651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6297562" y="3194692"/>
            <a:ext cx="449826" cy="536651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2" name="직사각형 31"/>
          <p:cNvSpPr/>
          <p:nvPr/>
        </p:nvSpPr>
        <p:spPr>
          <a:xfrm>
            <a:off x="6747388" y="3194692"/>
            <a:ext cx="449826" cy="536651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5087049" y="3265103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mtClean="0">
                <a:latin typeface="Consolas" panose="020B0609020204030204" pitchFamily="49" charset="0"/>
              </a:rPr>
              <a:t>|</a:t>
            </a:r>
            <a:endParaRPr lang="ko-KR" altLang="en-US" smtClean="0">
              <a:latin typeface="Consolas" panose="020B0609020204030204" pitchFamily="49" charset="0"/>
            </a:endParaRPr>
          </a:p>
        </p:txBody>
      </p:sp>
      <p:cxnSp>
        <p:nvCxnSpPr>
          <p:cNvPr id="34" name="직선 연결선 33"/>
          <p:cNvCxnSpPr/>
          <p:nvPr/>
        </p:nvCxnSpPr>
        <p:spPr>
          <a:xfrm>
            <a:off x="5087049" y="3845287"/>
            <a:ext cx="234613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직사각형 34"/>
          <p:cNvSpPr/>
          <p:nvPr/>
        </p:nvSpPr>
        <p:spPr>
          <a:xfrm>
            <a:off x="5397910" y="3975168"/>
            <a:ext cx="449826" cy="536651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5847736" y="3975168"/>
            <a:ext cx="449826" cy="536651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6297562" y="3975168"/>
            <a:ext cx="449826" cy="536651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6747388" y="3975168"/>
            <a:ext cx="449826" cy="536651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361328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084006" y="361335"/>
            <a:ext cx="3857146" cy="5355312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smtClean="0">
                <a:latin typeface="Consolas" panose="020B0609020204030204" pitchFamily="49" charset="0"/>
              </a:rPr>
              <a:t>int main()</a:t>
            </a:r>
          </a:p>
          <a:p>
            <a:r>
              <a:rPr lang="en-US" altLang="ko-KR" smtClean="0">
                <a:latin typeface="Consolas" panose="020B0609020204030204" pitchFamily="49" charset="0"/>
              </a:rPr>
              <a:t>{</a:t>
            </a:r>
          </a:p>
          <a:p>
            <a:r>
              <a:rPr lang="en-US" altLang="ko-KR" smtClean="0">
                <a:latin typeface="Consolas" panose="020B0609020204030204" pitchFamily="49" charset="0"/>
              </a:rPr>
              <a:t>    int item = 0;</a:t>
            </a:r>
          </a:p>
          <a:p>
            <a:endParaRPr lang="en-US" altLang="ko-KR">
              <a:latin typeface="Consolas" panose="020B0609020204030204" pitchFamily="49" charset="0"/>
            </a:endParaRPr>
          </a:p>
          <a:p>
            <a:r>
              <a:rPr lang="en-US" altLang="ko-KR" smtClean="0">
                <a:latin typeface="Consolas" panose="020B0609020204030204" pitchFamily="49" charset="0"/>
              </a:rPr>
              <a:t>    item = item | 1;</a:t>
            </a:r>
          </a:p>
          <a:p>
            <a:r>
              <a:rPr lang="en-US" altLang="ko-KR" smtClean="0">
                <a:latin typeface="Consolas" panose="020B0609020204030204" pitchFamily="49" charset="0"/>
              </a:rPr>
              <a:t>    item </a:t>
            </a:r>
            <a:r>
              <a:rPr lang="en-US" altLang="ko-KR">
                <a:latin typeface="Consolas" panose="020B0609020204030204" pitchFamily="49" charset="0"/>
              </a:rPr>
              <a:t>= </a:t>
            </a:r>
            <a:r>
              <a:rPr lang="en-US" altLang="ko-KR" smtClean="0">
                <a:latin typeface="Consolas" panose="020B0609020204030204" pitchFamily="49" charset="0"/>
              </a:rPr>
              <a:t>item | 8;</a:t>
            </a:r>
            <a:endParaRPr lang="en-US" altLang="ko-KR">
              <a:latin typeface="Consolas" panose="020B0609020204030204" pitchFamily="49" charset="0"/>
            </a:endParaRPr>
          </a:p>
          <a:p>
            <a:endParaRPr lang="en-US" altLang="ko-KR">
              <a:latin typeface="Consolas" panose="020B0609020204030204" pitchFamily="49" charset="0"/>
            </a:endParaRPr>
          </a:p>
          <a:p>
            <a:endParaRPr lang="en-US" altLang="ko-KR" smtClean="0">
              <a:latin typeface="Consolas" panose="020B0609020204030204" pitchFamily="49" charset="0"/>
            </a:endParaRPr>
          </a:p>
          <a:p>
            <a:r>
              <a:rPr lang="en-US" altLang="ko-KR">
                <a:latin typeface="Consolas" panose="020B0609020204030204" pitchFamily="49" charset="0"/>
              </a:rPr>
              <a:t> </a:t>
            </a:r>
            <a:r>
              <a:rPr lang="en-US" altLang="ko-KR" smtClean="0">
                <a:latin typeface="Consolas" panose="020B0609020204030204" pitchFamily="49" charset="0"/>
              </a:rPr>
              <a:t>   for(i=0; i&lt;4; i++)</a:t>
            </a:r>
          </a:p>
          <a:p>
            <a:r>
              <a:rPr lang="en-US" altLang="ko-KR">
                <a:latin typeface="Consolas" panose="020B0609020204030204" pitchFamily="49" charset="0"/>
              </a:rPr>
              <a:t> </a:t>
            </a:r>
            <a:r>
              <a:rPr lang="en-US" altLang="ko-KR" smtClean="0">
                <a:latin typeface="Consolas" panose="020B0609020204030204" pitchFamily="49" charset="0"/>
              </a:rPr>
              <a:t>   {</a:t>
            </a:r>
          </a:p>
          <a:p>
            <a:r>
              <a:rPr lang="en-US" altLang="ko-KR">
                <a:latin typeface="Consolas" panose="020B0609020204030204" pitchFamily="49" charset="0"/>
              </a:rPr>
              <a:t> </a:t>
            </a:r>
            <a:r>
              <a:rPr lang="en-US" altLang="ko-KR" smtClean="0">
                <a:latin typeface="Consolas" panose="020B0609020204030204" pitchFamily="49" charset="0"/>
              </a:rPr>
              <a:t>       if( item &amp; (1&lt;&lt;i)  )</a:t>
            </a:r>
          </a:p>
          <a:p>
            <a:r>
              <a:rPr lang="en-US" altLang="ko-KR">
                <a:latin typeface="Consolas" panose="020B0609020204030204" pitchFamily="49" charset="0"/>
              </a:rPr>
              <a:t> </a:t>
            </a:r>
            <a:r>
              <a:rPr lang="en-US" altLang="ko-KR" smtClean="0">
                <a:latin typeface="Consolas" panose="020B0609020204030204" pitchFamily="49" charset="0"/>
              </a:rPr>
              <a:t>          printf("%d\n", i);</a:t>
            </a:r>
          </a:p>
          <a:p>
            <a:r>
              <a:rPr lang="en-US" altLang="ko-KR">
                <a:latin typeface="Consolas" panose="020B0609020204030204" pitchFamily="49" charset="0"/>
              </a:rPr>
              <a:t> </a:t>
            </a:r>
            <a:r>
              <a:rPr lang="en-US" altLang="ko-KR" smtClean="0">
                <a:latin typeface="Consolas" panose="020B0609020204030204" pitchFamily="49" charset="0"/>
              </a:rPr>
              <a:t>   }</a:t>
            </a:r>
          </a:p>
          <a:p>
            <a:endParaRPr lang="en-US" altLang="ko-KR">
              <a:latin typeface="Consolas" panose="020B0609020204030204" pitchFamily="49" charset="0"/>
            </a:endParaRPr>
          </a:p>
          <a:p>
            <a:r>
              <a:rPr lang="en-US" altLang="ko-KR" smtClean="0">
                <a:latin typeface="Consolas" panose="020B0609020204030204" pitchFamily="49" charset="0"/>
              </a:rPr>
              <a:t>    </a:t>
            </a:r>
            <a:r>
              <a:rPr lang="en-US" altLang="ko-KR">
                <a:latin typeface="Consolas" panose="020B0609020204030204" pitchFamily="49" charset="0"/>
              </a:rPr>
              <a:t>item[0] </a:t>
            </a:r>
            <a:r>
              <a:rPr lang="en-US" altLang="ko-KR">
                <a:latin typeface="Consolas" panose="020B0609020204030204" pitchFamily="49" charset="0"/>
              </a:rPr>
              <a:t>= </a:t>
            </a:r>
            <a:r>
              <a:rPr lang="en-US" altLang="ko-KR" smtClean="0">
                <a:latin typeface="Consolas" panose="020B0609020204030204" pitchFamily="49" charset="0"/>
              </a:rPr>
              <a:t>0;</a:t>
            </a:r>
            <a:endParaRPr lang="en-US" altLang="ko-KR">
              <a:latin typeface="Consolas" panose="020B0609020204030204" pitchFamily="49" charset="0"/>
            </a:endParaRPr>
          </a:p>
          <a:p>
            <a:endParaRPr lang="en-US" altLang="ko-KR" smtClean="0">
              <a:latin typeface="Consolas" panose="020B0609020204030204" pitchFamily="49" charset="0"/>
            </a:endParaRPr>
          </a:p>
          <a:p>
            <a:endParaRPr lang="en-US" altLang="ko-KR">
              <a:latin typeface="Consolas" panose="020B0609020204030204" pitchFamily="49" charset="0"/>
            </a:endParaRPr>
          </a:p>
          <a:p>
            <a:r>
              <a:rPr lang="en-US" altLang="ko-KR" smtClean="0">
                <a:latin typeface="Consolas" panose="020B0609020204030204" pitchFamily="49" charset="0"/>
              </a:rPr>
              <a:t>}</a:t>
            </a:r>
            <a:endParaRPr lang="en-US" altLang="ko-KR">
              <a:latin typeface="Consolas" panose="020B0609020204030204" pitchFamily="49" charset="0"/>
            </a:endParaRPr>
          </a:p>
          <a:p>
            <a:endParaRPr lang="ko-KR" altLang="en-US" smtClean="0">
              <a:latin typeface="Consolas" panose="020B0609020204030204" pitchFamily="49" charset="0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5397910" y="1165122"/>
            <a:ext cx="449826" cy="536651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5847736" y="1165122"/>
            <a:ext cx="449826" cy="536651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6297562" y="1165122"/>
            <a:ext cx="449826" cy="536651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6747388" y="1165122"/>
            <a:ext cx="449826" cy="536651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5397910" y="722670"/>
            <a:ext cx="449826" cy="53665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3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5847736" y="722670"/>
            <a:ext cx="449826" cy="53665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2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6297562" y="722670"/>
            <a:ext cx="449826" cy="53665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6747388" y="722670"/>
            <a:ext cx="449826" cy="53665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7" name="직사각형 16"/>
          <p:cNvSpPr/>
          <p:nvPr/>
        </p:nvSpPr>
        <p:spPr>
          <a:xfrm>
            <a:off x="5397910" y="1797637"/>
            <a:ext cx="449826" cy="53665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5847736" y="1797637"/>
            <a:ext cx="449826" cy="53665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9" name="직사각형 18"/>
          <p:cNvSpPr/>
          <p:nvPr/>
        </p:nvSpPr>
        <p:spPr>
          <a:xfrm>
            <a:off x="6297562" y="1797637"/>
            <a:ext cx="449826" cy="536651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0" name="직사각형 19"/>
          <p:cNvSpPr/>
          <p:nvPr/>
        </p:nvSpPr>
        <p:spPr>
          <a:xfrm>
            <a:off x="6747388" y="1797637"/>
            <a:ext cx="449826" cy="53665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942006" y="641555"/>
            <a:ext cx="3496470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smtClean="0">
                <a:latin typeface="Consolas" panose="020B0609020204030204" pitchFamily="49" charset="0"/>
              </a:rPr>
              <a:t>문제점 </a:t>
            </a:r>
            <a:r>
              <a:rPr lang="en-US" altLang="ko-KR" sz="2400" smtClean="0">
                <a:latin typeface="Consolas" panose="020B0609020204030204" pitchFamily="49" charset="0"/>
              </a:rPr>
              <a:t>: </a:t>
            </a:r>
          </a:p>
          <a:p>
            <a:endParaRPr lang="en-US" altLang="ko-KR" sz="2400" smtClean="0">
              <a:latin typeface="Consolas" panose="020B0609020204030204" pitchFamily="49" charset="0"/>
            </a:endParaRPr>
          </a:p>
          <a:p>
            <a:r>
              <a:rPr lang="en-US" altLang="ko-KR" sz="2400" smtClean="0">
                <a:latin typeface="Consolas" panose="020B0609020204030204" pitchFamily="49" charset="0"/>
              </a:rPr>
              <a:t>- </a:t>
            </a:r>
            <a:r>
              <a:rPr lang="ko-KR" altLang="en-US" sz="2400" smtClean="0">
                <a:latin typeface="Consolas" panose="020B0609020204030204" pitchFamily="49" charset="0"/>
              </a:rPr>
              <a:t>메모리를 낭비 한다</a:t>
            </a:r>
            <a:r>
              <a:rPr lang="en-US" altLang="ko-KR" sz="2400" smtClean="0">
                <a:latin typeface="Consolas" panose="020B0609020204030204" pitchFamily="49" charset="0"/>
              </a:rPr>
              <a:t>.</a:t>
            </a:r>
            <a:endParaRPr lang="en-US" altLang="ko-KR" sz="2400">
              <a:latin typeface="Consolas" panose="020B0609020204030204" pitchFamily="49" charset="0"/>
            </a:endParaRPr>
          </a:p>
          <a:p>
            <a:endParaRPr lang="ko-KR" altLang="en-US" sz="2400" smtClean="0">
              <a:latin typeface="Consolas" panose="020B0609020204030204" pitchFamily="49" charset="0"/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5397910" y="324463"/>
            <a:ext cx="449826" cy="53665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8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5847736" y="324463"/>
            <a:ext cx="449826" cy="53665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4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6297562" y="324463"/>
            <a:ext cx="449826" cy="53665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2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6747388" y="324463"/>
            <a:ext cx="449826" cy="53665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5087049" y="1868048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mtClean="0">
                <a:latin typeface="Consolas" panose="020B0609020204030204" pitchFamily="49" charset="0"/>
              </a:rPr>
              <a:t>&amp;</a:t>
            </a:r>
            <a:endParaRPr lang="ko-KR" altLang="en-US" smtClean="0">
              <a:latin typeface="Consolas" panose="020B0609020204030204" pitchFamily="49" charset="0"/>
            </a:endParaRPr>
          </a:p>
        </p:txBody>
      </p:sp>
      <p:cxnSp>
        <p:nvCxnSpPr>
          <p:cNvPr id="13" name="직선 연결선 12"/>
          <p:cNvCxnSpPr/>
          <p:nvPr/>
        </p:nvCxnSpPr>
        <p:spPr>
          <a:xfrm>
            <a:off x="5087049" y="2448232"/>
            <a:ext cx="234613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직사각형 24"/>
          <p:cNvSpPr/>
          <p:nvPr/>
        </p:nvSpPr>
        <p:spPr>
          <a:xfrm>
            <a:off x="5397910" y="2578113"/>
            <a:ext cx="449826" cy="53665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847736" y="2578113"/>
            <a:ext cx="449826" cy="53665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6297562" y="2578113"/>
            <a:ext cx="449826" cy="536651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6747388" y="2578113"/>
            <a:ext cx="449826" cy="53665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884499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084006" y="361335"/>
            <a:ext cx="3857146" cy="5355312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smtClean="0">
                <a:latin typeface="Consolas" panose="020B0609020204030204" pitchFamily="49" charset="0"/>
              </a:rPr>
              <a:t>int main()</a:t>
            </a:r>
          </a:p>
          <a:p>
            <a:r>
              <a:rPr lang="en-US" altLang="ko-KR" smtClean="0">
                <a:latin typeface="Consolas" panose="020B0609020204030204" pitchFamily="49" charset="0"/>
              </a:rPr>
              <a:t>{</a:t>
            </a:r>
          </a:p>
          <a:p>
            <a:r>
              <a:rPr lang="en-US" altLang="ko-KR" smtClean="0">
                <a:latin typeface="Consolas" panose="020B0609020204030204" pitchFamily="49" charset="0"/>
              </a:rPr>
              <a:t>    int item = 0;</a:t>
            </a:r>
          </a:p>
          <a:p>
            <a:endParaRPr lang="en-US" altLang="ko-KR">
              <a:latin typeface="Consolas" panose="020B0609020204030204" pitchFamily="49" charset="0"/>
            </a:endParaRPr>
          </a:p>
          <a:p>
            <a:r>
              <a:rPr lang="en-US" altLang="ko-KR" smtClean="0">
                <a:latin typeface="Consolas" panose="020B0609020204030204" pitchFamily="49" charset="0"/>
              </a:rPr>
              <a:t>    item = item | 1;</a:t>
            </a:r>
          </a:p>
          <a:p>
            <a:r>
              <a:rPr lang="en-US" altLang="ko-KR" smtClean="0">
                <a:latin typeface="Consolas" panose="020B0609020204030204" pitchFamily="49" charset="0"/>
              </a:rPr>
              <a:t>    item </a:t>
            </a:r>
            <a:r>
              <a:rPr lang="en-US" altLang="ko-KR">
                <a:latin typeface="Consolas" panose="020B0609020204030204" pitchFamily="49" charset="0"/>
              </a:rPr>
              <a:t>= </a:t>
            </a:r>
            <a:r>
              <a:rPr lang="en-US" altLang="ko-KR" smtClean="0">
                <a:latin typeface="Consolas" panose="020B0609020204030204" pitchFamily="49" charset="0"/>
              </a:rPr>
              <a:t>item | 8;</a:t>
            </a:r>
            <a:endParaRPr lang="en-US" altLang="ko-KR">
              <a:latin typeface="Consolas" panose="020B0609020204030204" pitchFamily="49" charset="0"/>
            </a:endParaRPr>
          </a:p>
          <a:p>
            <a:endParaRPr lang="en-US" altLang="ko-KR">
              <a:latin typeface="Consolas" panose="020B0609020204030204" pitchFamily="49" charset="0"/>
            </a:endParaRPr>
          </a:p>
          <a:p>
            <a:endParaRPr lang="en-US" altLang="ko-KR" smtClean="0">
              <a:latin typeface="Consolas" panose="020B0609020204030204" pitchFamily="49" charset="0"/>
            </a:endParaRPr>
          </a:p>
          <a:p>
            <a:r>
              <a:rPr lang="en-US" altLang="ko-KR">
                <a:latin typeface="Consolas" panose="020B0609020204030204" pitchFamily="49" charset="0"/>
              </a:rPr>
              <a:t> </a:t>
            </a:r>
            <a:r>
              <a:rPr lang="en-US" altLang="ko-KR" smtClean="0">
                <a:latin typeface="Consolas" panose="020B0609020204030204" pitchFamily="49" charset="0"/>
              </a:rPr>
              <a:t>   for(i=0; i&lt;4; i++)</a:t>
            </a:r>
          </a:p>
          <a:p>
            <a:r>
              <a:rPr lang="en-US" altLang="ko-KR">
                <a:latin typeface="Consolas" panose="020B0609020204030204" pitchFamily="49" charset="0"/>
              </a:rPr>
              <a:t> </a:t>
            </a:r>
            <a:r>
              <a:rPr lang="en-US" altLang="ko-KR" smtClean="0">
                <a:latin typeface="Consolas" panose="020B0609020204030204" pitchFamily="49" charset="0"/>
              </a:rPr>
              <a:t>   {</a:t>
            </a:r>
          </a:p>
          <a:p>
            <a:r>
              <a:rPr lang="en-US" altLang="ko-KR">
                <a:latin typeface="Consolas" panose="020B0609020204030204" pitchFamily="49" charset="0"/>
              </a:rPr>
              <a:t> </a:t>
            </a:r>
            <a:r>
              <a:rPr lang="en-US" altLang="ko-KR" smtClean="0">
                <a:latin typeface="Consolas" panose="020B0609020204030204" pitchFamily="49" charset="0"/>
              </a:rPr>
              <a:t>       if( item &amp; (1&lt;&lt;i)  )</a:t>
            </a:r>
          </a:p>
          <a:p>
            <a:r>
              <a:rPr lang="en-US" altLang="ko-KR">
                <a:latin typeface="Consolas" panose="020B0609020204030204" pitchFamily="49" charset="0"/>
              </a:rPr>
              <a:t> </a:t>
            </a:r>
            <a:r>
              <a:rPr lang="en-US" altLang="ko-KR" smtClean="0">
                <a:latin typeface="Consolas" panose="020B0609020204030204" pitchFamily="49" charset="0"/>
              </a:rPr>
              <a:t>          printf("%d\n", i);</a:t>
            </a:r>
          </a:p>
          <a:p>
            <a:r>
              <a:rPr lang="en-US" altLang="ko-KR">
                <a:latin typeface="Consolas" panose="020B0609020204030204" pitchFamily="49" charset="0"/>
              </a:rPr>
              <a:t> </a:t>
            </a:r>
            <a:r>
              <a:rPr lang="en-US" altLang="ko-KR" smtClean="0">
                <a:latin typeface="Consolas" panose="020B0609020204030204" pitchFamily="49" charset="0"/>
              </a:rPr>
              <a:t>   }</a:t>
            </a:r>
          </a:p>
          <a:p>
            <a:endParaRPr lang="en-US" altLang="ko-KR">
              <a:latin typeface="Consolas" panose="020B0609020204030204" pitchFamily="49" charset="0"/>
            </a:endParaRPr>
          </a:p>
          <a:p>
            <a:r>
              <a:rPr lang="en-US" altLang="ko-KR" smtClean="0">
                <a:latin typeface="Consolas" panose="020B0609020204030204" pitchFamily="49" charset="0"/>
              </a:rPr>
              <a:t>    item </a:t>
            </a:r>
            <a:r>
              <a:rPr lang="en-US" altLang="ko-KR">
                <a:latin typeface="Consolas" panose="020B0609020204030204" pitchFamily="49" charset="0"/>
              </a:rPr>
              <a:t>= </a:t>
            </a:r>
            <a:r>
              <a:rPr lang="en-US" altLang="ko-KR" smtClean="0">
                <a:latin typeface="Consolas" panose="020B0609020204030204" pitchFamily="49" charset="0"/>
              </a:rPr>
              <a:t>item &amp; (~1);</a:t>
            </a:r>
            <a:endParaRPr lang="en-US" altLang="ko-KR">
              <a:latin typeface="Consolas" panose="020B0609020204030204" pitchFamily="49" charset="0"/>
            </a:endParaRPr>
          </a:p>
          <a:p>
            <a:endParaRPr lang="en-US" altLang="ko-KR" smtClean="0">
              <a:latin typeface="Consolas" panose="020B0609020204030204" pitchFamily="49" charset="0"/>
            </a:endParaRPr>
          </a:p>
          <a:p>
            <a:endParaRPr lang="en-US" altLang="ko-KR">
              <a:latin typeface="Consolas" panose="020B0609020204030204" pitchFamily="49" charset="0"/>
            </a:endParaRPr>
          </a:p>
          <a:p>
            <a:r>
              <a:rPr lang="en-US" altLang="ko-KR" smtClean="0">
                <a:latin typeface="Consolas" panose="020B0609020204030204" pitchFamily="49" charset="0"/>
              </a:rPr>
              <a:t>}</a:t>
            </a:r>
            <a:endParaRPr lang="en-US" altLang="ko-KR">
              <a:latin typeface="Consolas" panose="020B0609020204030204" pitchFamily="49" charset="0"/>
            </a:endParaRPr>
          </a:p>
          <a:p>
            <a:endParaRPr lang="ko-KR" altLang="en-US" smtClean="0">
              <a:latin typeface="Consolas" panose="020B0609020204030204" pitchFamily="49" charset="0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5397910" y="1165122"/>
            <a:ext cx="449826" cy="536651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5847736" y="1165122"/>
            <a:ext cx="449826" cy="536651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6297562" y="1165122"/>
            <a:ext cx="449826" cy="536651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6747388" y="1165122"/>
            <a:ext cx="449826" cy="536651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5397910" y="722670"/>
            <a:ext cx="449826" cy="53665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3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5847736" y="722670"/>
            <a:ext cx="449826" cy="53665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2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6297562" y="722670"/>
            <a:ext cx="449826" cy="53665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6747388" y="722670"/>
            <a:ext cx="449826" cy="53665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7" name="직사각형 16"/>
          <p:cNvSpPr/>
          <p:nvPr/>
        </p:nvSpPr>
        <p:spPr>
          <a:xfrm>
            <a:off x="5397910" y="1797637"/>
            <a:ext cx="449826" cy="536651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5847736" y="1797637"/>
            <a:ext cx="449826" cy="536651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9" name="직사각형 18"/>
          <p:cNvSpPr/>
          <p:nvPr/>
        </p:nvSpPr>
        <p:spPr>
          <a:xfrm>
            <a:off x="6297562" y="1797637"/>
            <a:ext cx="449826" cy="536651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0" name="직사각형 19"/>
          <p:cNvSpPr/>
          <p:nvPr/>
        </p:nvSpPr>
        <p:spPr>
          <a:xfrm>
            <a:off x="6747388" y="1797637"/>
            <a:ext cx="449826" cy="53665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942006" y="641555"/>
            <a:ext cx="3496470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smtClean="0">
                <a:latin typeface="Consolas" panose="020B0609020204030204" pitchFamily="49" charset="0"/>
              </a:rPr>
              <a:t>문제점 </a:t>
            </a:r>
            <a:r>
              <a:rPr lang="en-US" altLang="ko-KR" sz="2400" smtClean="0">
                <a:latin typeface="Consolas" panose="020B0609020204030204" pitchFamily="49" charset="0"/>
              </a:rPr>
              <a:t>: </a:t>
            </a:r>
          </a:p>
          <a:p>
            <a:endParaRPr lang="en-US" altLang="ko-KR" sz="2400" smtClean="0">
              <a:latin typeface="Consolas" panose="020B0609020204030204" pitchFamily="49" charset="0"/>
            </a:endParaRPr>
          </a:p>
          <a:p>
            <a:r>
              <a:rPr lang="en-US" altLang="ko-KR" sz="2400" smtClean="0">
                <a:latin typeface="Consolas" panose="020B0609020204030204" pitchFamily="49" charset="0"/>
              </a:rPr>
              <a:t>- </a:t>
            </a:r>
            <a:r>
              <a:rPr lang="ko-KR" altLang="en-US" sz="240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메모리를 낭비 한다</a:t>
            </a:r>
            <a:r>
              <a:rPr lang="en-US" altLang="ko-KR" sz="240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.</a:t>
            </a:r>
            <a:endParaRPr lang="en-US" altLang="ko-KR" sz="240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endParaRPr lang="ko-KR" altLang="en-US" sz="2400" smtClean="0">
              <a:latin typeface="Consolas" panose="020B0609020204030204" pitchFamily="49" charset="0"/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5397910" y="324463"/>
            <a:ext cx="449826" cy="53665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8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5847736" y="324463"/>
            <a:ext cx="449826" cy="53665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4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6297562" y="324463"/>
            <a:ext cx="449826" cy="53665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2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6747388" y="324463"/>
            <a:ext cx="449826" cy="53665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5087049" y="1868048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mtClean="0">
                <a:latin typeface="Consolas" panose="020B0609020204030204" pitchFamily="49" charset="0"/>
              </a:rPr>
              <a:t>&amp;</a:t>
            </a:r>
            <a:endParaRPr lang="ko-KR" altLang="en-US" smtClean="0">
              <a:latin typeface="Consolas" panose="020B0609020204030204" pitchFamily="49" charset="0"/>
            </a:endParaRPr>
          </a:p>
        </p:txBody>
      </p:sp>
      <p:cxnSp>
        <p:nvCxnSpPr>
          <p:cNvPr id="13" name="직선 연결선 12"/>
          <p:cNvCxnSpPr/>
          <p:nvPr/>
        </p:nvCxnSpPr>
        <p:spPr>
          <a:xfrm>
            <a:off x="5087049" y="2448232"/>
            <a:ext cx="234613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직사각형 24"/>
          <p:cNvSpPr/>
          <p:nvPr/>
        </p:nvSpPr>
        <p:spPr>
          <a:xfrm>
            <a:off x="5397910" y="2578113"/>
            <a:ext cx="449826" cy="536651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847736" y="2578113"/>
            <a:ext cx="449826" cy="536651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6297562" y="2578113"/>
            <a:ext cx="449826" cy="536651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6747388" y="2578113"/>
            <a:ext cx="449826" cy="53665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842267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237274" y="4055808"/>
            <a:ext cx="5705408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smtClean="0">
                <a:latin typeface="Consolas" panose="020B0609020204030204" pitchFamily="49" charset="0"/>
              </a:rPr>
              <a:t>int item[4];</a:t>
            </a:r>
          </a:p>
          <a:p>
            <a:r>
              <a:rPr lang="en-US" altLang="ko-KR" sz="2800" smtClean="0">
                <a:latin typeface="Consolas" panose="020B0609020204030204" pitchFamily="49" charset="0"/>
              </a:rPr>
              <a:t>item[3] |= 1&lt;&lt;4;</a:t>
            </a:r>
          </a:p>
          <a:p>
            <a:endParaRPr lang="en-US" altLang="ko-KR" sz="2800">
              <a:latin typeface="Consolas" panose="020B0609020204030204" pitchFamily="49" charset="0"/>
            </a:endParaRPr>
          </a:p>
          <a:p>
            <a:r>
              <a:rPr lang="en-US" altLang="ko-KR" sz="2800" smtClean="0">
                <a:latin typeface="Consolas" panose="020B0609020204030204" pitchFamily="49" charset="0"/>
              </a:rPr>
              <a:t>item[100/32] </a:t>
            </a:r>
            <a:r>
              <a:rPr lang="en-US" altLang="ko-KR" sz="2800">
                <a:latin typeface="Consolas" panose="020B0609020204030204" pitchFamily="49" charset="0"/>
              </a:rPr>
              <a:t>|= </a:t>
            </a:r>
            <a:r>
              <a:rPr lang="en-US" altLang="ko-KR" sz="2800">
                <a:latin typeface="Consolas" panose="020B0609020204030204" pitchFamily="49" charset="0"/>
              </a:rPr>
              <a:t>1</a:t>
            </a:r>
            <a:r>
              <a:rPr lang="en-US" altLang="ko-KR" sz="2800" smtClean="0">
                <a:latin typeface="Consolas" panose="020B0609020204030204" pitchFamily="49" charset="0"/>
              </a:rPr>
              <a:t>&lt;&lt;(100%32);</a:t>
            </a:r>
            <a:endParaRPr lang="ko-KR" altLang="en-US" sz="2800">
              <a:latin typeface="Consolas" panose="020B0609020204030204" pitchFamily="49" charset="0"/>
            </a:endParaRPr>
          </a:p>
          <a:p>
            <a:endParaRPr lang="ko-KR" altLang="en-US" sz="2800" smtClean="0">
              <a:latin typeface="Consolas" panose="020B0609020204030204" pitchFamily="49" charset="0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803787" y="339213"/>
            <a:ext cx="324465" cy="471948"/>
          </a:xfrm>
          <a:prstGeom prst="rect">
            <a:avLst/>
          </a:prstGeom>
          <a:solidFill>
            <a:srgbClr val="FFC0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1128252" y="339213"/>
            <a:ext cx="324465" cy="471948"/>
          </a:xfrm>
          <a:prstGeom prst="rect">
            <a:avLst/>
          </a:prstGeom>
          <a:solidFill>
            <a:srgbClr val="FFC0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0" name="직사각형 29"/>
          <p:cNvSpPr/>
          <p:nvPr/>
        </p:nvSpPr>
        <p:spPr>
          <a:xfrm>
            <a:off x="1452717" y="339213"/>
            <a:ext cx="324465" cy="471948"/>
          </a:xfrm>
          <a:prstGeom prst="rect">
            <a:avLst/>
          </a:prstGeom>
          <a:solidFill>
            <a:srgbClr val="FFC0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1777182" y="339213"/>
            <a:ext cx="324465" cy="471948"/>
          </a:xfrm>
          <a:prstGeom prst="rect">
            <a:avLst/>
          </a:prstGeom>
          <a:solidFill>
            <a:srgbClr val="FFC0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2" name="직사각형 31"/>
          <p:cNvSpPr/>
          <p:nvPr/>
        </p:nvSpPr>
        <p:spPr>
          <a:xfrm>
            <a:off x="2101647" y="339213"/>
            <a:ext cx="324465" cy="471948"/>
          </a:xfrm>
          <a:prstGeom prst="rect">
            <a:avLst/>
          </a:prstGeom>
          <a:solidFill>
            <a:srgbClr val="FFC0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3" name="직사각형 32"/>
          <p:cNvSpPr/>
          <p:nvPr/>
        </p:nvSpPr>
        <p:spPr>
          <a:xfrm>
            <a:off x="2426112" y="339213"/>
            <a:ext cx="324465" cy="471948"/>
          </a:xfrm>
          <a:prstGeom prst="rect">
            <a:avLst/>
          </a:prstGeom>
          <a:solidFill>
            <a:srgbClr val="FFC0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4" name="직사각형 33"/>
          <p:cNvSpPr/>
          <p:nvPr/>
        </p:nvSpPr>
        <p:spPr>
          <a:xfrm>
            <a:off x="2750577" y="339213"/>
            <a:ext cx="324465" cy="471948"/>
          </a:xfrm>
          <a:prstGeom prst="rect">
            <a:avLst/>
          </a:prstGeom>
          <a:solidFill>
            <a:srgbClr val="FFC0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5" name="직사각형 34"/>
          <p:cNvSpPr/>
          <p:nvPr/>
        </p:nvSpPr>
        <p:spPr>
          <a:xfrm>
            <a:off x="3075042" y="339213"/>
            <a:ext cx="324465" cy="471948"/>
          </a:xfrm>
          <a:prstGeom prst="rect">
            <a:avLst/>
          </a:prstGeom>
          <a:solidFill>
            <a:srgbClr val="FFC0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3433916" y="339213"/>
            <a:ext cx="324465" cy="471948"/>
          </a:xfrm>
          <a:prstGeom prst="rect">
            <a:avLst/>
          </a:prstGeom>
          <a:solidFill>
            <a:srgbClr val="FFC0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758381" y="339213"/>
            <a:ext cx="324465" cy="471948"/>
          </a:xfrm>
          <a:prstGeom prst="rect">
            <a:avLst/>
          </a:prstGeom>
          <a:solidFill>
            <a:srgbClr val="FFC0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4082846" y="339213"/>
            <a:ext cx="324465" cy="471948"/>
          </a:xfrm>
          <a:prstGeom prst="rect">
            <a:avLst/>
          </a:prstGeom>
          <a:solidFill>
            <a:srgbClr val="FFC0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9" name="직사각형 38"/>
          <p:cNvSpPr/>
          <p:nvPr/>
        </p:nvSpPr>
        <p:spPr>
          <a:xfrm>
            <a:off x="4407311" y="339213"/>
            <a:ext cx="324465" cy="471948"/>
          </a:xfrm>
          <a:prstGeom prst="rect">
            <a:avLst/>
          </a:prstGeom>
          <a:solidFill>
            <a:srgbClr val="FFC0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0" name="직사각형 39"/>
          <p:cNvSpPr/>
          <p:nvPr/>
        </p:nvSpPr>
        <p:spPr>
          <a:xfrm>
            <a:off x="4731776" y="339213"/>
            <a:ext cx="324465" cy="471948"/>
          </a:xfrm>
          <a:prstGeom prst="rect">
            <a:avLst/>
          </a:prstGeom>
          <a:solidFill>
            <a:srgbClr val="FFC0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1" name="직사각형 40"/>
          <p:cNvSpPr/>
          <p:nvPr/>
        </p:nvSpPr>
        <p:spPr>
          <a:xfrm>
            <a:off x="5056241" y="339213"/>
            <a:ext cx="324465" cy="471948"/>
          </a:xfrm>
          <a:prstGeom prst="rect">
            <a:avLst/>
          </a:prstGeom>
          <a:solidFill>
            <a:srgbClr val="FFC0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2" name="직사각형 41"/>
          <p:cNvSpPr/>
          <p:nvPr/>
        </p:nvSpPr>
        <p:spPr>
          <a:xfrm>
            <a:off x="5380706" y="339213"/>
            <a:ext cx="324465" cy="471948"/>
          </a:xfrm>
          <a:prstGeom prst="rect">
            <a:avLst/>
          </a:prstGeom>
          <a:solidFill>
            <a:srgbClr val="FFC0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5705171" y="339213"/>
            <a:ext cx="324465" cy="471948"/>
          </a:xfrm>
          <a:prstGeom prst="rect">
            <a:avLst/>
          </a:prstGeom>
          <a:solidFill>
            <a:srgbClr val="FFC0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4" name="직사각형 43"/>
          <p:cNvSpPr/>
          <p:nvPr/>
        </p:nvSpPr>
        <p:spPr>
          <a:xfrm>
            <a:off x="6064045" y="339213"/>
            <a:ext cx="324465" cy="471948"/>
          </a:xfrm>
          <a:prstGeom prst="rect">
            <a:avLst/>
          </a:prstGeom>
          <a:solidFill>
            <a:srgbClr val="FFC0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5" name="직사각형 44"/>
          <p:cNvSpPr/>
          <p:nvPr/>
        </p:nvSpPr>
        <p:spPr>
          <a:xfrm>
            <a:off x="6388510" y="339213"/>
            <a:ext cx="324465" cy="471948"/>
          </a:xfrm>
          <a:prstGeom prst="rect">
            <a:avLst/>
          </a:prstGeom>
          <a:solidFill>
            <a:srgbClr val="FFC0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6" name="직사각형 45"/>
          <p:cNvSpPr/>
          <p:nvPr/>
        </p:nvSpPr>
        <p:spPr>
          <a:xfrm>
            <a:off x="6712975" y="339213"/>
            <a:ext cx="324465" cy="471948"/>
          </a:xfrm>
          <a:prstGeom prst="rect">
            <a:avLst/>
          </a:prstGeom>
          <a:solidFill>
            <a:srgbClr val="FFC0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7" name="직사각형 46"/>
          <p:cNvSpPr/>
          <p:nvPr/>
        </p:nvSpPr>
        <p:spPr>
          <a:xfrm>
            <a:off x="7037440" y="339213"/>
            <a:ext cx="324465" cy="471948"/>
          </a:xfrm>
          <a:prstGeom prst="rect">
            <a:avLst/>
          </a:prstGeom>
          <a:solidFill>
            <a:srgbClr val="FFC0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8" name="직사각형 47"/>
          <p:cNvSpPr/>
          <p:nvPr/>
        </p:nvSpPr>
        <p:spPr>
          <a:xfrm>
            <a:off x="7361905" y="339213"/>
            <a:ext cx="324465" cy="471948"/>
          </a:xfrm>
          <a:prstGeom prst="rect">
            <a:avLst/>
          </a:prstGeom>
          <a:solidFill>
            <a:srgbClr val="FFC0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7686370" y="339213"/>
            <a:ext cx="324465" cy="471948"/>
          </a:xfrm>
          <a:prstGeom prst="rect">
            <a:avLst/>
          </a:prstGeom>
          <a:solidFill>
            <a:srgbClr val="FFC0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8010835" y="339213"/>
            <a:ext cx="324465" cy="471948"/>
          </a:xfrm>
          <a:prstGeom prst="rect">
            <a:avLst/>
          </a:prstGeom>
          <a:solidFill>
            <a:srgbClr val="FFC0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1" name="직사각형 50"/>
          <p:cNvSpPr/>
          <p:nvPr/>
        </p:nvSpPr>
        <p:spPr>
          <a:xfrm>
            <a:off x="8335300" y="339213"/>
            <a:ext cx="324465" cy="471948"/>
          </a:xfrm>
          <a:prstGeom prst="rect">
            <a:avLst/>
          </a:prstGeom>
          <a:solidFill>
            <a:srgbClr val="FFC0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8694174" y="339213"/>
            <a:ext cx="324465" cy="471948"/>
          </a:xfrm>
          <a:prstGeom prst="rect">
            <a:avLst/>
          </a:prstGeom>
          <a:solidFill>
            <a:srgbClr val="FFC0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3" name="직사각형 52"/>
          <p:cNvSpPr/>
          <p:nvPr/>
        </p:nvSpPr>
        <p:spPr>
          <a:xfrm>
            <a:off x="9018639" y="339213"/>
            <a:ext cx="324465" cy="471948"/>
          </a:xfrm>
          <a:prstGeom prst="rect">
            <a:avLst/>
          </a:prstGeom>
          <a:solidFill>
            <a:srgbClr val="FFC0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9343104" y="339213"/>
            <a:ext cx="324465" cy="471948"/>
          </a:xfrm>
          <a:prstGeom prst="rect">
            <a:avLst/>
          </a:prstGeom>
          <a:solidFill>
            <a:srgbClr val="FFC0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9667569" y="339213"/>
            <a:ext cx="324465" cy="471948"/>
          </a:xfrm>
          <a:prstGeom prst="rect">
            <a:avLst/>
          </a:prstGeom>
          <a:solidFill>
            <a:srgbClr val="FFC0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9992034" y="339213"/>
            <a:ext cx="324465" cy="471948"/>
          </a:xfrm>
          <a:prstGeom prst="rect">
            <a:avLst/>
          </a:prstGeom>
          <a:solidFill>
            <a:srgbClr val="FFC0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10316499" y="339213"/>
            <a:ext cx="324465" cy="471948"/>
          </a:xfrm>
          <a:prstGeom prst="rect">
            <a:avLst/>
          </a:prstGeom>
          <a:solidFill>
            <a:srgbClr val="FFC0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8" name="직사각형 57"/>
          <p:cNvSpPr/>
          <p:nvPr/>
        </p:nvSpPr>
        <p:spPr>
          <a:xfrm>
            <a:off x="10640964" y="339213"/>
            <a:ext cx="324465" cy="471948"/>
          </a:xfrm>
          <a:prstGeom prst="rect">
            <a:avLst/>
          </a:prstGeom>
          <a:solidFill>
            <a:srgbClr val="FFC0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9" name="직사각형 58"/>
          <p:cNvSpPr/>
          <p:nvPr/>
        </p:nvSpPr>
        <p:spPr>
          <a:xfrm>
            <a:off x="10965429" y="339213"/>
            <a:ext cx="324465" cy="471948"/>
          </a:xfrm>
          <a:prstGeom prst="rect">
            <a:avLst/>
          </a:prstGeom>
          <a:solidFill>
            <a:srgbClr val="FFC0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0" name="직사각형 59"/>
          <p:cNvSpPr/>
          <p:nvPr/>
        </p:nvSpPr>
        <p:spPr>
          <a:xfrm>
            <a:off x="803787" y="904568"/>
            <a:ext cx="324465" cy="471948"/>
          </a:xfrm>
          <a:prstGeom prst="rect">
            <a:avLst/>
          </a:prstGeom>
          <a:solidFill>
            <a:srgbClr val="FFC0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1" name="직사각형 60"/>
          <p:cNvSpPr/>
          <p:nvPr/>
        </p:nvSpPr>
        <p:spPr>
          <a:xfrm>
            <a:off x="1128252" y="904568"/>
            <a:ext cx="324465" cy="471948"/>
          </a:xfrm>
          <a:prstGeom prst="rect">
            <a:avLst/>
          </a:prstGeom>
          <a:solidFill>
            <a:srgbClr val="FFC0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2" name="직사각형 61"/>
          <p:cNvSpPr/>
          <p:nvPr/>
        </p:nvSpPr>
        <p:spPr>
          <a:xfrm>
            <a:off x="1452717" y="904568"/>
            <a:ext cx="324465" cy="471948"/>
          </a:xfrm>
          <a:prstGeom prst="rect">
            <a:avLst/>
          </a:prstGeom>
          <a:solidFill>
            <a:srgbClr val="FFC0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3" name="직사각형 62"/>
          <p:cNvSpPr/>
          <p:nvPr/>
        </p:nvSpPr>
        <p:spPr>
          <a:xfrm>
            <a:off x="1777182" y="904568"/>
            <a:ext cx="324465" cy="471948"/>
          </a:xfrm>
          <a:prstGeom prst="rect">
            <a:avLst/>
          </a:prstGeom>
          <a:solidFill>
            <a:srgbClr val="FFC0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4" name="직사각형 63"/>
          <p:cNvSpPr/>
          <p:nvPr/>
        </p:nvSpPr>
        <p:spPr>
          <a:xfrm>
            <a:off x="2101647" y="904568"/>
            <a:ext cx="324465" cy="471948"/>
          </a:xfrm>
          <a:prstGeom prst="rect">
            <a:avLst/>
          </a:prstGeom>
          <a:solidFill>
            <a:srgbClr val="FFC0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5" name="직사각형 64"/>
          <p:cNvSpPr/>
          <p:nvPr/>
        </p:nvSpPr>
        <p:spPr>
          <a:xfrm>
            <a:off x="2426112" y="904568"/>
            <a:ext cx="324465" cy="471948"/>
          </a:xfrm>
          <a:prstGeom prst="rect">
            <a:avLst/>
          </a:prstGeom>
          <a:solidFill>
            <a:srgbClr val="FFC0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6" name="직사각형 65"/>
          <p:cNvSpPr/>
          <p:nvPr/>
        </p:nvSpPr>
        <p:spPr>
          <a:xfrm>
            <a:off x="2750577" y="904568"/>
            <a:ext cx="324465" cy="471948"/>
          </a:xfrm>
          <a:prstGeom prst="rect">
            <a:avLst/>
          </a:prstGeom>
          <a:solidFill>
            <a:srgbClr val="FFC0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7" name="직사각형 66"/>
          <p:cNvSpPr/>
          <p:nvPr/>
        </p:nvSpPr>
        <p:spPr>
          <a:xfrm>
            <a:off x="3075042" y="904568"/>
            <a:ext cx="324465" cy="471948"/>
          </a:xfrm>
          <a:prstGeom prst="rect">
            <a:avLst/>
          </a:prstGeom>
          <a:solidFill>
            <a:srgbClr val="FFC0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8" name="직사각형 67"/>
          <p:cNvSpPr/>
          <p:nvPr/>
        </p:nvSpPr>
        <p:spPr>
          <a:xfrm>
            <a:off x="3433916" y="904568"/>
            <a:ext cx="324465" cy="471948"/>
          </a:xfrm>
          <a:prstGeom prst="rect">
            <a:avLst/>
          </a:prstGeom>
          <a:solidFill>
            <a:srgbClr val="FFC0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9" name="직사각형 68"/>
          <p:cNvSpPr/>
          <p:nvPr/>
        </p:nvSpPr>
        <p:spPr>
          <a:xfrm>
            <a:off x="3758381" y="904568"/>
            <a:ext cx="324465" cy="471948"/>
          </a:xfrm>
          <a:prstGeom prst="rect">
            <a:avLst/>
          </a:prstGeom>
          <a:solidFill>
            <a:srgbClr val="FFC0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0" name="직사각형 69"/>
          <p:cNvSpPr/>
          <p:nvPr/>
        </p:nvSpPr>
        <p:spPr>
          <a:xfrm>
            <a:off x="4082846" y="904568"/>
            <a:ext cx="324465" cy="471948"/>
          </a:xfrm>
          <a:prstGeom prst="rect">
            <a:avLst/>
          </a:prstGeom>
          <a:solidFill>
            <a:srgbClr val="FFC0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1" name="직사각형 70"/>
          <p:cNvSpPr/>
          <p:nvPr/>
        </p:nvSpPr>
        <p:spPr>
          <a:xfrm>
            <a:off x="4407311" y="904568"/>
            <a:ext cx="324465" cy="471948"/>
          </a:xfrm>
          <a:prstGeom prst="rect">
            <a:avLst/>
          </a:prstGeom>
          <a:solidFill>
            <a:srgbClr val="FFC0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2" name="직사각형 71"/>
          <p:cNvSpPr/>
          <p:nvPr/>
        </p:nvSpPr>
        <p:spPr>
          <a:xfrm>
            <a:off x="4731776" y="904568"/>
            <a:ext cx="324465" cy="471948"/>
          </a:xfrm>
          <a:prstGeom prst="rect">
            <a:avLst/>
          </a:prstGeom>
          <a:solidFill>
            <a:srgbClr val="FFC0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3" name="직사각형 72"/>
          <p:cNvSpPr/>
          <p:nvPr/>
        </p:nvSpPr>
        <p:spPr>
          <a:xfrm>
            <a:off x="5056241" y="904568"/>
            <a:ext cx="324465" cy="471948"/>
          </a:xfrm>
          <a:prstGeom prst="rect">
            <a:avLst/>
          </a:prstGeom>
          <a:solidFill>
            <a:srgbClr val="FFC0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4" name="직사각형 73"/>
          <p:cNvSpPr/>
          <p:nvPr/>
        </p:nvSpPr>
        <p:spPr>
          <a:xfrm>
            <a:off x="5380706" y="904568"/>
            <a:ext cx="324465" cy="471948"/>
          </a:xfrm>
          <a:prstGeom prst="rect">
            <a:avLst/>
          </a:prstGeom>
          <a:solidFill>
            <a:srgbClr val="FFC0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5" name="직사각형 74"/>
          <p:cNvSpPr/>
          <p:nvPr/>
        </p:nvSpPr>
        <p:spPr>
          <a:xfrm>
            <a:off x="5705171" y="904568"/>
            <a:ext cx="324465" cy="471948"/>
          </a:xfrm>
          <a:prstGeom prst="rect">
            <a:avLst/>
          </a:prstGeom>
          <a:solidFill>
            <a:srgbClr val="FFC0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6" name="직사각형 75"/>
          <p:cNvSpPr/>
          <p:nvPr/>
        </p:nvSpPr>
        <p:spPr>
          <a:xfrm>
            <a:off x="6064045" y="904568"/>
            <a:ext cx="324465" cy="471948"/>
          </a:xfrm>
          <a:prstGeom prst="rect">
            <a:avLst/>
          </a:prstGeom>
          <a:solidFill>
            <a:srgbClr val="FFC0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7" name="직사각형 76"/>
          <p:cNvSpPr/>
          <p:nvPr/>
        </p:nvSpPr>
        <p:spPr>
          <a:xfrm>
            <a:off x="6388510" y="904568"/>
            <a:ext cx="324465" cy="471948"/>
          </a:xfrm>
          <a:prstGeom prst="rect">
            <a:avLst/>
          </a:prstGeom>
          <a:solidFill>
            <a:srgbClr val="FFC0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8" name="직사각형 77"/>
          <p:cNvSpPr/>
          <p:nvPr/>
        </p:nvSpPr>
        <p:spPr>
          <a:xfrm>
            <a:off x="6712975" y="904568"/>
            <a:ext cx="324465" cy="471948"/>
          </a:xfrm>
          <a:prstGeom prst="rect">
            <a:avLst/>
          </a:prstGeom>
          <a:solidFill>
            <a:srgbClr val="FFC0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9" name="직사각형 78"/>
          <p:cNvSpPr/>
          <p:nvPr/>
        </p:nvSpPr>
        <p:spPr>
          <a:xfrm>
            <a:off x="7037440" y="904568"/>
            <a:ext cx="324465" cy="471948"/>
          </a:xfrm>
          <a:prstGeom prst="rect">
            <a:avLst/>
          </a:prstGeom>
          <a:solidFill>
            <a:srgbClr val="FFC0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0" name="직사각형 79"/>
          <p:cNvSpPr/>
          <p:nvPr/>
        </p:nvSpPr>
        <p:spPr>
          <a:xfrm>
            <a:off x="7361905" y="904568"/>
            <a:ext cx="324465" cy="471948"/>
          </a:xfrm>
          <a:prstGeom prst="rect">
            <a:avLst/>
          </a:prstGeom>
          <a:solidFill>
            <a:srgbClr val="FFC0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1" name="직사각형 80"/>
          <p:cNvSpPr/>
          <p:nvPr/>
        </p:nvSpPr>
        <p:spPr>
          <a:xfrm>
            <a:off x="7686370" y="904568"/>
            <a:ext cx="324465" cy="471948"/>
          </a:xfrm>
          <a:prstGeom prst="rect">
            <a:avLst/>
          </a:prstGeom>
          <a:solidFill>
            <a:srgbClr val="FFC0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2" name="직사각형 81"/>
          <p:cNvSpPr/>
          <p:nvPr/>
        </p:nvSpPr>
        <p:spPr>
          <a:xfrm>
            <a:off x="8010835" y="904568"/>
            <a:ext cx="324465" cy="471948"/>
          </a:xfrm>
          <a:prstGeom prst="rect">
            <a:avLst/>
          </a:prstGeom>
          <a:solidFill>
            <a:srgbClr val="FFC0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3" name="직사각형 82"/>
          <p:cNvSpPr/>
          <p:nvPr/>
        </p:nvSpPr>
        <p:spPr>
          <a:xfrm>
            <a:off x="8335300" y="904568"/>
            <a:ext cx="324465" cy="471948"/>
          </a:xfrm>
          <a:prstGeom prst="rect">
            <a:avLst/>
          </a:prstGeom>
          <a:solidFill>
            <a:srgbClr val="FFC0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4" name="직사각형 83"/>
          <p:cNvSpPr/>
          <p:nvPr/>
        </p:nvSpPr>
        <p:spPr>
          <a:xfrm>
            <a:off x="8694174" y="904568"/>
            <a:ext cx="324465" cy="471948"/>
          </a:xfrm>
          <a:prstGeom prst="rect">
            <a:avLst/>
          </a:prstGeom>
          <a:solidFill>
            <a:srgbClr val="FFC0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5" name="직사각형 84"/>
          <p:cNvSpPr/>
          <p:nvPr/>
        </p:nvSpPr>
        <p:spPr>
          <a:xfrm>
            <a:off x="9018639" y="904568"/>
            <a:ext cx="324465" cy="471948"/>
          </a:xfrm>
          <a:prstGeom prst="rect">
            <a:avLst/>
          </a:prstGeom>
          <a:solidFill>
            <a:srgbClr val="FFC0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6" name="직사각형 85"/>
          <p:cNvSpPr/>
          <p:nvPr/>
        </p:nvSpPr>
        <p:spPr>
          <a:xfrm>
            <a:off x="9343104" y="904568"/>
            <a:ext cx="324465" cy="471948"/>
          </a:xfrm>
          <a:prstGeom prst="rect">
            <a:avLst/>
          </a:prstGeom>
          <a:solidFill>
            <a:srgbClr val="FFC0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7" name="직사각형 86"/>
          <p:cNvSpPr/>
          <p:nvPr/>
        </p:nvSpPr>
        <p:spPr>
          <a:xfrm>
            <a:off x="9667569" y="904568"/>
            <a:ext cx="324465" cy="471948"/>
          </a:xfrm>
          <a:prstGeom prst="rect">
            <a:avLst/>
          </a:prstGeom>
          <a:solidFill>
            <a:srgbClr val="FFC0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8" name="직사각형 87"/>
          <p:cNvSpPr/>
          <p:nvPr/>
        </p:nvSpPr>
        <p:spPr>
          <a:xfrm>
            <a:off x="9992034" y="904568"/>
            <a:ext cx="324465" cy="471948"/>
          </a:xfrm>
          <a:prstGeom prst="rect">
            <a:avLst/>
          </a:prstGeom>
          <a:solidFill>
            <a:srgbClr val="FFC0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9" name="직사각형 88"/>
          <p:cNvSpPr/>
          <p:nvPr/>
        </p:nvSpPr>
        <p:spPr>
          <a:xfrm>
            <a:off x="10316499" y="904568"/>
            <a:ext cx="324465" cy="471948"/>
          </a:xfrm>
          <a:prstGeom prst="rect">
            <a:avLst/>
          </a:prstGeom>
          <a:solidFill>
            <a:srgbClr val="FFC0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90" name="직사각형 89"/>
          <p:cNvSpPr/>
          <p:nvPr/>
        </p:nvSpPr>
        <p:spPr>
          <a:xfrm>
            <a:off x="10640964" y="904568"/>
            <a:ext cx="324465" cy="471948"/>
          </a:xfrm>
          <a:prstGeom prst="rect">
            <a:avLst/>
          </a:prstGeom>
          <a:solidFill>
            <a:srgbClr val="FFC0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91" name="직사각형 90"/>
          <p:cNvSpPr/>
          <p:nvPr/>
        </p:nvSpPr>
        <p:spPr>
          <a:xfrm>
            <a:off x="10965429" y="904568"/>
            <a:ext cx="324465" cy="471948"/>
          </a:xfrm>
          <a:prstGeom prst="rect">
            <a:avLst/>
          </a:prstGeom>
          <a:solidFill>
            <a:srgbClr val="FFC0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92" name="직사각형 91"/>
          <p:cNvSpPr/>
          <p:nvPr/>
        </p:nvSpPr>
        <p:spPr>
          <a:xfrm>
            <a:off x="803787" y="1469923"/>
            <a:ext cx="324465" cy="471948"/>
          </a:xfrm>
          <a:prstGeom prst="rect">
            <a:avLst/>
          </a:prstGeom>
          <a:solidFill>
            <a:srgbClr val="FFC0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93" name="직사각형 92"/>
          <p:cNvSpPr/>
          <p:nvPr/>
        </p:nvSpPr>
        <p:spPr>
          <a:xfrm>
            <a:off x="1128252" y="1469923"/>
            <a:ext cx="324465" cy="471948"/>
          </a:xfrm>
          <a:prstGeom prst="rect">
            <a:avLst/>
          </a:prstGeom>
          <a:solidFill>
            <a:srgbClr val="FFC0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94" name="직사각형 93"/>
          <p:cNvSpPr/>
          <p:nvPr/>
        </p:nvSpPr>
        <p:spPr>
          <a:xfrm>
            <a:off x="1452717" y="1469923"/>
            <a:ext cx="324465" cy="471948"/>
          </a:xfrm>
          <a:prstGeom prst="rect">
            <a:avLst/>
          </a:prstGeom>
          <a:solidFill>
            <a:srgbClr val="FFC0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95" name="직사각형 94"/>
          <p:cNvSpPr/>
          <p:nvPr/>
        </p:nvSpPr>
        <p:spPr>
          <a:xfrm>
            <a:off x="1777182" y="1469923"/>
            <a:ext cx="324465" cy="471948"/>
          </a:xfrm>
          <a:prstGeom prst="rect">
            <a:avLst/>
          </a:prstGeom>
          <a:solidFill>
            <a:srgbClr val="FFC0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96" name="직사각형 95"/>
          <p:cNvSpPr/>
          <p:nvPr/>
        </p:nvSpPr>
        <p:spPr>
          <a:xfrm>
            <a:off x="2101647" y="1469923"/>
            <a:ext cx="324465" cy="471948"/>
          </a:xfrm>
          <a:prstGeom prst="rect">
            <a:avLst/>
          </a:prstGeom>
          <a:solidFill>
            <a:srgbClr val="FFC0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97" name="직사각형 96"/>
          <p:cNvSpPr/>
          <p:nvPr/>
        </p:nvSpPr>
        <p:spPr>
          <a:xfrm>
            <a:off x="2426112" y="1469923"/>
            <a:ext cx="324465" cy="471948"/>
          </a:xfrm>
          <a:prstGeom prst="rect">
            <a:avLst/>
          </a:prstGeom>
          <a:solidFill>
            <a:srgbClr val="FFC0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98" name="직사각형 97"/>
          <p:cNvSpPr/>
          <p:nvPr/>
        </p:nvSpPr>
        <p:spPr>
          <a:xfrm>
            <a:off x="2750577" y="1469923"/>
            <a:ext cx="324465" cy="471948"/>
          </a:xfrm>
          <a:prstGeom prst="rect">
            <a:avLst/>
          </a:prstGeom>
          <a:solidFill>
            <a:srgbClr val="FFC0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99" name="직사각형 98"/>
          <p:cNvSpPr/>
          <p:nvPr/>
        </p:nvSpPr>
        <p:spPr>
          <a:xfrm>
            <a:off x="3075042" y="1469923"/>
            <a:ext cx="324465" cy="471948"/>
          </a:xfrm>
          <a:prstGeom prst="rect">
            <a:avLst/>
          </a:prstGeom>
          <a:solidFill>
            <a:srgbClr val="FFC0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00" name="직사각형 99"/>
          <p:cNvSpPr/>
          <p:nvPr/>
        </p:nvSpPr>
        <p:spPr>
          <a:xfrm>
            <a:off x="3433916" y="1469923"/>
            <a:ext cx="324465" cy="471948"/>
          </a:xfrm>
          <a:prstGeom prst="rect">
            <a:avLst/>
          </a:prstGeom>
          <a:solidFill>
            <a:srgbClr val="FFC0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01" name="직사각형 100"/>
          <p:cNvSpPr/>
          <p:nvPr/>
        </p:nvSpPr>
        <p:spPr>
          <a:xfrm>
            <a:off x="3758381" y="1469923"/>
            <a:ext cx="324465" cy="471948"/>
          </a:xfrm>
          <a:prstGeom prst="rect">
            <a:avLst/>
          </a:prstGeom>
          <a:solidFill>
            <a:srgbClr val="FFC0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02" name="직사각형 101"/>
          <p:cNvSpPr/>
          <p:nvPr/>
        </p:nvSpPr>
        <p:spPr>
          <a:xfrm>
            <a:off x="4082846" y="1469923"/>
            <a:ext cx="324465" cy="471948"/>
          </a:xfrm>
          <a:prstGeom prst="rect">
            <a:avLst/>
          </a:prstGeom>
          <a:solidFill>
            <a:srgbClr val="FFC0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03" name="직사각형 102"/>
          <p:cNvSpPr/>
          <p:nvPr/>
        </p:nvSpPr>
        <p:spPr>
          <a:xfrm>
            <a:off x="4407311" y="1469923"/>
            <a:ext cx="324465" cy="471948"/>
          </a:xfrm>
          <a:prstGeom prst="rect">
            <a:avLst/>
          </a:prstGeom>
          <a:solidFill>
            <a:srgbClr val="FFC0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04" name="직사각형 103"/>
          <p:cNvSpPr/>
          <p:nvPr/>
        </p:nvSpPr>
        <p:spPr>
          <a:xfrm>
            <a:off x="4731776" y="1469923"/>
            <a:ext cx="324465" cy="471948"/>
          </a:xfrm>
          <a:prstGeom prst="rect">
            <a:avLst/>
          </a:prstGeom>
          <a:solidFill>
            <a:srgbClr val="FFC0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05" name="직사각형 104"/>
          <p:cNvSpPr/>
          <p:nvPr/>
        </p:nvSpPr>
        <p:spPr>
          <a:xfrm>
            <a:off x="5056241" y="1469923"/>
            <a:ext cx="324465" cy="471948"/>
          </a:xfrm>
          <a:prstGeom prst="rect">
            <a:avLst/>
          </a:prstGeom>
          <a:solidFill>
            <a:srgbClr val="FFC0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06" name="직사각형 105"/>
          <p:cNvSpPr/>
          <p:nvPr/>
        </p:nvSpPr>
        <p:spPr>
          <a:xfrm>
            <a:off x="5380706" y="1469923"/>
            <a:ext cx="324465" cy="471948"/>
          </a:xfrm>
          <a:prstGeom prst="rect">
            <a:avLst/>
          </a:prstGeom>
          <a:solidFill>
            <a:srgbClr val="FFC0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07" name="직사각형 106"/>
          <p:cNvSpPr/>
          <p:nvPr/>
        </p:nvSpPr>
        <p:spPr>
          <a:xfrm>
            <a:off x="5705171" y="1469923"/>
            <a:ext cx="324465" cy="471948"/>
          </a:xfrm>
          <a:prstGeom prst="rect">
            <a:avLst/>
          </a:prstGeom>
          <a:solidFill>
            <a:srgbClr val="FFC0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08" name="직사각형 107"/>
          <p:cNvSpPr/>
          <p:nvPr/>
        </p:nvSpPr>
        <p:spPr>
          <a:xfrm>
            <a:off x="6064045" y="1469923"/>
            <a:ext cx="324465" cy="471948"/>
          </a:xfrm>
          <a:prstGeom prst="rect">
            <a:avLst/>
          </a:prstGeom>
          <a:solidFill>
            <a:srgbClr val="FFC0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09" name="직사각형 108"/>
          <p:cNvSpPr/>
          <p:nvPr/>
        </p:nvSpPr>
        <p:spPr>
          <a:xfrm>
            <a:off x="6388510" y="1469923"/>
            <a:ext cx="324465" cy="471948"/>
          </a:xfrm>
          <a:prstGeom prst="rect">
            <a:avLst/>
          </a:prstGeom>
          <a:solidFill>
            <a:srgbClr val="FFC0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10" name="직사각형 109"/>
          <p:cNvSpPr/>
          <p:nvPr/>
        </p:nvSpPr>
        <p:spPr>
          <a:xfrm>
            <a:off x="6712975" y="1469923"/>
            <a:ext cx="324465" cy="471948"/>
          </a:xfrm>
          <a:prstGeom prst="rect">
            <a:avLst/>
          </a:prstGeom>
          <a:solidFill>
            <a:srgbClr val="FFC0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11" name="직사각형 110"/>
          <p:cNvSpPr/>
          <p:nvPr/>
        </p:nvSpPr>
        <p:spPr>
          <a:xfrm>
            <a:off x="7037440" y="1469923"/>
            <a:ext cx="324465" cy="471948"/>
          </a:xfrm>
          <a:prstGeom prst="rect">
            <a:avLst/>
          </a:prstGeom>
          <a:solidFill>
            <a:srgbClr val="FFC0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12" name="직사각형 111"/>
          <p:cNvSpPr/>
          <p:nvPr/>
        </p:nvSpPr>
        <p:spPr>
          <a:xfrm>
            <a:off x="7361905" y="1469923"/>
            <a:ext cx="324465" cy="471948"/>
          </a:xfrm>
          <a:prstGeom prst="rect">
            <a:avLst/>
          </a:prstGeom>
          <a:solidFill>
            <a:srgbClr val="FFC0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13" name="직사각형 112"/>
          <p:cNvSpPr/>
          <p:nvPr/>
        </p:nvSpPr>
        <p:spPr>
          <a:xfrm>
            <a:off x="7686370" y="1469923"/>
            <a:ext cx="324465" cy="471948"/>
          </a:xfrm>
          <a:prstGeom prst="rect">
            <a:avLst/>
          </a:prstGeom>
          <a:solidFill>
            <a:srgbClr val="FFC0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14" name="직사각형 113"/>
          <p:cNvSpPr/>
          <p:nvPr/>
        </p:nvSpPr>
        <p:spPr>
          <a:xfrm>
            <a:off x="8010835" y="1469923"/>
            <a:ext cx="324465" cy="471948"/>
          </a:xfrm>
          <a:prstGeom prst="rect">
            <a:avLst/>
          </a:prstGeom>
          <a:solidFill>
            <a:srgbClr val="FFC0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15" name="직사각형 114"/>
          <p:cNvSpPr/>
          <p:nvPr/>
        </p:nvSpPr>
        <p:spPr>
          <a:xfrm>
            <a:off x="8335300" y="1469923"/>
            <a:ext cx="324465" cy="471948"/>
          </a:xfrm>
          <a:prstGeom prst="rect">
            <a:avLst/>
          </a:prstGeom>
          <a:solidFill>
            <a:srgbClr val="FFC0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16" name="직사각형 115"/>
          <p:cNvSpPr/>
          <p:nvPr/>
        </p:nvSpPr>
        <p:spPr>
          <a:xfrm>
            <a:off x="8694174" y="1469923"/>
            <a:ext cx="324465" cy="471948"/>
          </a:xfrm>
          <a:prstGeom prst="rect">
            <a:avLst/>
          </a:prstGeom>
          <a:solidFill>
            <a:srgbClr val="FFC0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17" name="직사각형 116"/>
          <p:cNvSpPr/>
          <p:nvPr/>
        </p:nvSpPr>
        <p:spPr>
          <a:xfrm>
            <a:off x="9018639" y="1469923"/>
            <a:ext cx="324465" cy="471948"/>
          </a:xfrm>
          <a:prstGeom prst="rect">
            <a:avLst/>
          </a:prstGeom>
          <a:solidFill>
            <a:srgbClr val="FFC0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18" name="직사각형 117"/>
          <p:cNvSpPr/>
          <p:nvPr/>
        </p:nvSpPr>
        <p:spPr>
          <a:xfrm>
            <a:off x="9343104" y="1469923"/>
            <a:ext cx="324465" cy="471948"/>
          </a:xfrm>
          <a:prstGeom prst="rect">
            <a:avLst/>
          </a:prstGeom>
          <a:solidFill>
            <a:srgbClr val="FFC0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19" name="직사각형 118"/>
          <p:cNvSpPr/>
          <p:nvPr/>
        </p:nvSpPr>
        <p:spPr>
          <a:xfrm>
            <a:off x="9667569" y="1469923"/>
            <a:ext cx="324465" cy="471948"/>
          </a:xfrm>
          <a:prstGeom prst="rect">
            <a:avLst/>
          </a:prstGeom>
          <a:solidFill>
            <a:srgbClr val="FFC0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20" name="직사각형 119"/>
          <p:cNvSpPr/>
          <p:nvPr/>
        </p:nvSpPr>
        <p:spPr>
          <a:xfrm>
            <a:off x="9992034" y="1469923"/>
            <a:ext cx="324465" cy="471948"/>
          </a:xfrm>
          <a:prstGeom prst="rect">
            <a:avLst/>
          </a:prstGeom>
          <a:solidFill>
            <a:srgbClr val="FFC0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21" name="직사각형 120"/>
          <p:cNvSpPr/>
          <p:nvPr/>
        </p:nvSpPr>
        <p:spPr>
          <a:xfrm>
            <a:off x="10316499" y="1469923"/>
            <a:ext cx="324465" cy="471948"/>
          </a:xfrm>
          <a:prstGeom prst="rect">
            <a:avLst/>
          </a:prstGeom>
          <a:solidFill>
            <a:srgbClr val="FFC0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22" name="직사각형 121"/>
          <p:cNvSpPr/>
          <p:nvPr/>
        </p:nvSpPr>
        <p:spPr>
          <a:xfrm>
            <a:off x="10640964" y="1469923"/>
            <a:ext cx="324465" cy="471948"/>
          </a:xfrm>
          <a:prstGeom prst="rect">
            <a:avLst/>
          </a:prstGeom>
          <a:solidFill>
            <a:srgbClr val="FFC0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23" name="직사각형 122"/>
          <p:cNvSpPr/>
          <p:nvPr/>
        </p:nvSpPr>
        <p:spPr>
          <a:xfrm>
            <a:off x="10965429" y="1469923"/>
            <a:ext cx="324465" cy="471948"/>
          </a:xfrm>
          <a:prstGeom prst="rect">
            <a:avLst/>
          </a:prstGeom>
          <a:solidFill>
            <a:srgbClr val="FFC0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24" name="직사각형 123"/>
          <p:cNvSpPr/>
          <p:nvPr/>
        </p:nvSpPr>
        <p:spPr>
          <a:xfrm>
            <a:off x="803787" y="2035278"/>
            <a:ext cx="324465" cy="471948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25" name="직사각형 124"/>
          <p:cNvSpPr/>
          <p:nvPr/>
        </p:nvSpPr>
        <p:spPr>
          <a:xfrm>
            <a:off x="1128252" y="2035278"/>
            <a:ext cx="324465" cy="471948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26" name="직사각형 125"/>
          <p:cNvSpPr/>
          <p:nvPr/>
        </p:nvSpPr>
        <p:spPr>
          <a:xfrm>
            <a:off x="1452717" y="2035278"/>
            <a:ext cx="324465" cy="471948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27" name="직사각형 126"/>
          <p:cNvSpPr/>
          <p:nvPr/>
        </p:nvSpPr>
        <p:spPr>
          <a:xfrm>
            <a:off x="1777182" y="2035278"/>
            <a:ext cx="324465" cy="471948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28" name="직사각형 127"/>
          <p:cNvSpPr/>
          <p:nvPr/>
        </p:nvSpPr>
        <p:spPr>
          <a:xfrm>
            <a:off x="2101647" y="2035278"/>
            <a:ext cx="324465" cy="471948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29" name="직사각형 128"/>
          <p:cNvSpPr/>
          <p:nvPr/>
        </p:nvSpPr>
        <p:spPr>
          <a:xfrm>
            <a:off x="2426112" y="2035278"/>
            <a:ext cx="324465" cy="471948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30" name="직사각형 129"/>
          <p:cNvSpPr/>
          <p:nvPr/>
        </p:nvSpPr>
        <p:spPr>
          <a:xfrm>
            <a:off x="2750577" y="2035278"/>
            <a:ext cx="324465" cy="471948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31" name="직사각형 130"/>
          <p:cNvSpPr/>
          <p:nvPr/>
        </p:nvSpPr>
        <p:spPr>
          <a:xfrm>
            <a:off x="3075042" y="2035278"/>
            <a:ext cx="324465" cy="471948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32" name="직사각형 131"/>
          <p:cNvSpPr/>
          <p:nvPr/>
        </p:nvSpPr>
        <p:spPr>
          <a:xfrm>
            <a:off x="3433916" y="2035278"/>
            <a:ext cx="324465" cy="471948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33" name="직사각형 132"/>
          <p:cNvSpPr/>
          <p:nvPr/>
        </p:nvSpPr>
        <p:spPr>
          <a:xfrm>
            <a:off x="3758381" y="2035278"/>
            <a:ext cx="324465" cy="471948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34" name="직사각형 133"/>
          <p:cNvSpPr/>
          <p:nvPr/>
        </p:nvSpPr>
        <p:spPr>
          <a:xfrm>
            <a:off x="4082846" y="2035278"/>
            <a:ext cx="324465" cy="471948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35" name="직사각형 134"/>
          <p:cNvSpPr/>
          <p:nvPr/>
        </p:nvSpPr>
        <p:spPr>
          <a:xfrm>
            <a:off x="4407311" y="2035278"/>
            <a:ext cx="324465" cy="471948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36" name="직사각형 135"/>
          <p:cNvSpPr/>
          <p:nvPr/>
        </p:nvSpPr>
        <p:spPr>
          <a:xfrm>
            <a:off x="4731776" y="2035278"/>
            <a:ext cx="324465" cy="471948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37" name="직사각형 136"/>
          <p:cNvSpPr/>
          <p:nvPr/>
        </p:nvSpPr>
        <p:spPr>
          <a:xfrm>
            <a:off x="5056241" y="2035278"/>
            <a:ext cx="324465" cy="471948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38" name="직사각형 137"/>
          <p:cNvSpPr/>
          <p:nvPr/>
        </p:nvSpPr>
        <p:spPr>
          <a:xfrm>
            <a:off x="5380706" y="2035278"/>
            <a:ext cx="324465" cy="471948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39" name="직사각형 138"/>
          <p:cNvSpPr/>
          <p:nvPr/>
        </p:nvSpPr>
        <p:spPr>
          <a:xfrm>
            <a:off x="5705171" y="2035278"/>
            <a:ext cx="324465" cy="471948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40" name="직사각형 139"/>
          <p:cNvSpPr/>
          <p:nvPr/>
        </p:nvSpPr>
        <p:spPr>
          <a:xfrm>
            <a:off x="6064045" y="2035278"/>
            <a:ext cx="324465" cy="471948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41" name="직사각형 140"/>
          <p:cNvSpPr/>
          <p:nvPr/>
        </p:nvSpPr>
        <p:spPr>
          <a:xfrm>
            <a:off x="6388510" y="2035278"/>
            <a:ext cx="324465" cy="471948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42" name="직사각형 141"/>
          <p:cNvSpPr/>
          <p:nvPr/>
        </p:nvSpPr>
        <p:spPr>
          <a:xfrm>
            <a:off x="6712975" y="2035278"/>
            <a:ext cx="324465" cy="471948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43" name="직사각형 142"/>
          <p:cNvSpPr/>
          <p:nvPr/>
        </p:nvSpPr>
        <p:spPr>
          <a:xfrm>
            <a:off x="7037440" y="2035278"/>
            <a:ext cx="324465" cy="471948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44" name="직사각형 143"/>
          <p:cNvSpPr/>
          <p:nvPr/>
        </p:nvSpPr>
        <p:spPr>
          <a:xfrm>
            <a:off x="7361905" y="2035278"/>
            <a:ext cx="324465" cy="471948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45" name="직사각형 144"/>
          <p:cNvSpPr/>
          <p:nvPr/>
        </p:nvSpPr>
        <p:spPr>
          <a:xfrm>
            <a:off x="7686370" y="2035278"/>
            <a:ext cx="324465" cy="471948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46" name="직사각형 145"/>
          <p:cNvSpPr/>
          <p:nvPr/>
        </p:nvSpPr>
        <p:spPr>
          <a:xfrm>
            <a:off x="8010835" y="2035278"/>
            <a:ext cx="324465" cy="471948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47" name="직사각형 146"/>
          <p:cNvSpPr/>
          <p:nvPr/>
        </p:nvSpPr>
        <p:spPr>
          <a:xfrm>
            <a:off x="8335300" y="2035278"/>
            <a:ext cx="324465" cy="471948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48" name="직사각형 147"/>
          <p:cNvSpPr/>
          <p:nvPr/>
        </p:nvSpPr>
        <p:spPr>
          <a:xfrm>
            <a:off x="8694174" y="2035278"/>
            <a:ext cx="324465" cy="471948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49" name="직사각형 148"/>
          <p:cNvSpPr/>
          <p:nvPr/>
        </p:nvSpPr>
        <p:spPr>
          <a:xfrm>
            <a:off x="9018639" y="2035278"/>
            <a:ext cx="324465" cy="471948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50" name="직사각형 149"/>
          <p:cNvSpPr/>
          <p:nvPr/>
        </p:nvSpPr>
        <p:spPr>
          <a:xfrm>
            <a:off x="9343104" y="2035278"/>
            <a:ext cx="324465" cy="471948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51" name="직사각형 150"/>
          <p:cNvSpPr/>
          <p:nvPr/>
        </p:nvSpPr>
        <p:spPr>
          <a:xfrm>
            <a:off x="9667569" y="2035278"/>
            <a:ext cx="324465" cy="471948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52" name="직사각형 151"/>
          <p:cNvSpPr/>
          <p:nvPr/>
        </p:nvSpPr>
        <p:spPr>
          <a:xfrm>
            <a:off x="9992034" y="2035278"/>
            <a:ext cx="324465" cy="471948"/>
          </a:xfrm>
          <a:prstGeom prst="rect">
            <a:avLst/>
          </a:prstGeom>
          <a:solidFill>
            <a:srgbClr val="FFC0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53" name="직사각형 152"/>
          <p:cNvSpPr/>
          <p:nvPr/>
        </p:nvSpPr>
        <p:spPr>
          <a:xfrm>
            <a:off x="10316499" y="2035278"/>
            <a:ext cx="324465" cy="471948"/>
          </a:xfrm>
          <a:prstGeom prst="rect">
            <a:avLst/>
          </a:prstGeom>
          <a:solidFill>
            <a:srgbClr val="FFC0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54" name="직사각형 153"/>
          <p:cNvSpPr/>
          <p:nvPr/>
        </p:nvSpPr>
        <p:spPr>
          <a:xfrm>
            <a:off x="10640964" y="2035278"/>
            <a:ext cx="324465" cy="471948"/>
          </a:xfrm>
          <a:prstGeom prst="rect">
            <a:avLst/>
          </a:prstGeom>
          <a:solidFill>
            <a:srgbClr val="FFC0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55" name="직사각형 154"/>
          <p:cNvSpPr/>
          <p:nvPr/>
        </p:nvSpPr>
        <p:spPr>
          <a:xfrm>
            <a:off x="10965429" y="2035278"/>
            <a:ext cx="324465" cy="471948"/>
          </a:xfrm>
          <a:prstGeom prst="rect">
            <a:avLst/>
          </a:prstGeom>
          <a:solidFill>
            <a:srgbClr val="FFC0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56" name="TextBox 155"/>
          <p:cNvSpPr txBox="1"/>
          <p:nvPr/>
        </p:nvSpPr>
        <p:spPr>
          <a:xfrm>
            <a:off x="91234" y="265818"/>
            <a:ext cx="7761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smtClean="0">
                <a:latin typeface="Consolas" panose="020B0609020204030204" pitchFamily="49" charset="0"/>
              </a:rPr>
              <a:t>[0]</a:t>
            </a:r>
            <a:endParaRPr lang="ko-KR" altLang="en-US" sz="2800" smtClean="0">
              <a:latin typeface="Consolas" panose="020B0609020204030204" pitchFamily="49" charset="0"/>
            </a:endParaRPr>
          </a:p>
        </p:txBody>
      </p:sp>
      <p:sp>
        <p:nvSpPr>
          <p:cNvPr id="157" name="TextBox 156"/>
          <p:cNvSpPr txBox="1"/>
          <p:nvPr/>
        </p:nvSpPr>
        <p:spPr>
          <a:xfrm>
            <a:off x="91234" y="853296"/>
            <a:ext cx="7761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smtClean="0">
                <a:latin typeface="Consolas" panose="020B0609020204030204" pitchFamily="49" charset="0"/>
              </a:rPr>
              <a:t>[1]</a:t>
            </a:r>
            <a:endParaRPr lang="ko-KR" altLang="en-US" sz="2800" smtClean="0">
              <a:latin typeface="Consolas" panose="020B0609020204030204" pitchFamily="49" charset="0"/>
            </a:endParaRPr>
          </a:p>
        </p:txBody>
      </p:sp>
      <p:sp>
        <p:nvSpPr>
          <p:cNvPr id="158" name="TextBox 157"/>
          <p:cNvSpPr txBox="1"/>
          <p:nvPr/>
        </p:nvSpPr>
        <p:spPr>
          <a:xfrm>
            <a:off x="91233" y="1410581"/>
            <a:ext cx="7761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smtClean="0">
                <a:latin typeface="Consolas" panose="020B0609020204030204" pitchFamily="49" charset="0"/>
              </a:rPr>
              <a:t>[2]</a:t>
            </a:r>
            <a:endParaRPr lang="ko-KR" altLang="en-US" sz="2800" smtClean="0">
              <a:latin typeface="Consolas" panose="020B0609020204030204" pitchFamily="49" charset="0"/>
            </a:endParaRPr>
          </a:p>
        </p:txBody>
      </p:sp>
      <p:sp>
        <p:nvSpPr>
          <p:cNvPr id="159" name="TextBox 158"/>
          <p:cNvSpPr txBox="1"/>
          <p:nvPr/>
        </p:nvSpPr>
        <p:spPr>
          <a:xfrm>
            <a:off x="91233" y="1977002"/>
            <a:ext cx="7761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smtClean="0">
                <a:latin typeface="Consolas" panose="020B0609020204030204" pitchFamily="49" charset="0"/>
              </a:rPr>
              <a:t>[3]</a:t>
            </a:r>
            <a:endParaRPr lang="ko-KR" altLang="en-US" sz="2800" smtClean="0">
              <a:latin typeface="Consolas" panose="020B0609020204030204" pitchFamily="49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229466" y="2724941"/>
            <a:ext cx="5902578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smtClean="0">
                <a:latin typeface="Consolas" panose="020B0609020204030204" pitchFamily="49" charset="0"/>
              </a:rPr>
              <a:t>100-32 =&gt; 68-32 =&gt; 36-32 =&gt; 4</a:t>
            </a:r>
          </a:p>
          <a:p>
            <a:r>
              <a:rPr lang="en-US" altLang="ko-KR" sz="2800">
                <a:latin typeface="Consolas" panose="020B0609020204030204" pitchFamily="49" charset="0"/>
              </a:rPr>
              <a:t> </a:t>
            </a:r>
            <a:r>
              <a:rPr lang="ko-KR" altLang="en-US" sz="2800" smtClean="0">
                <a:latin typeface="Consolas" panose="020B0609020204030204" pitchFamily="49" charset="0"/>
              </a:rPr>
              <a:t>몫 </a:t>
            </a:r>
            <a:r>
              <a:rPr lang="en-US" altLang="ko-KR" sz="2800" smtClean="0">
                <a:latin typeface="Consolas" panose="020B0609020204030204" pitchFamily="49" charset="0"/>
              </a:rPr>
              <a:t>: 3, </a:t>
            </a:r>
            <a:r>
              <a:rPr lang="ko-KR" altLang="en-US" sz="2800" smtClean="0">
                <a:latin typeface="Consolas" panose="020B0609020204030204" pitchFamily="49" charset="0"/>
              </a:rPr>
              <a:t>나머지 </a:t>
            </a:r>
            <a:r>
              <a:rPr lang="en-US" altLang="ko-KR" sz="2800" smtClean="0">
                <a:latin typeface="Consolas" panose="020B0609020204030204" pitchFamily="49" charset="0"/>
              </a:rPr>
              <a:t>: 4</a:t>
            </a:r>
            <a:endParaRPr lang="ko-KR" altLang="en-US" sz="2800" smtClean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311749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084006" y="361335"/>
            <a:ext cx="5123518" cy="5355312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smtClean="0">
                <a:latin typeface="Consolas" panose="020B0609020204030204" pitchFamily="49" charset="0"/>
              </a:rPr>
              <a:t>int main()</a:t>
            </a:r>
          </a:p>
          <a:p>
            <a:r>
              <a:rPr lang="en-US" altLang="ko-KR" smtClean="0">
                <a:latin typeface="Consolas" panose="020B0609020204030204" pitchFamily="49" charset="0"/>
              </a:rPr>
              <a:t>{</a:t>
            </a:r>
          </a:p>
          <a:p>
            <a:r>
              <a:rPr lang="en-US" altLang="ko-KR" smtClean="0">
                <a:latin typeface="Consolas" panose="020B0609020204030204" pitchFamily="49" charset="0"/>
              </a:rPr>
              <a:t>    int item[32] = {0,};</a:t>
            </a:r>
          </a:p>
          <a:p>
            <a:endParaRPr lang="en-US" altLang="ko-KR">
              <a:latin typeface="Consolas" panose="020B0609020204030204" pitchFamily="49" charset="0"/>
            </a:endParaRPr>
          </a:p>
          <a:p>
            <a:r>
              <a:rPr lang="en-US" altLang="ko-KR">
                <a:latin typeface="Consolas" panose="020B0609020204030204" pitchFamily="49" charset="0"/>
              </a:rPr>
              <a:t>    </a:t>
            </a:r>
            <a:r>
              <a:rPr lang="en-US" altLang="ko-KR" smtClean="0">
                <a:latin typeface="Consolas" panose="020B0609020204030204" pitchFamily="49" charset="0"/>
              </a:rPr>
              <a:t>item[700/32] |= 1&lt;&lt;(700%32);</a:t>
            </a:r>
            <a:endParaRPr lang="en-US" altLang="ko-KR">
              <a:latin typeface="Consolas" panose="020B0609020204030204" pitchFamily="49" charset="0"/>
            </a:endParaRPr>
          </a:p>
          <a:p>
            <a:r>
              <a:rPr lang="en-US" altLang="ko-KR" smtClean="0">
                <a:latin typeface="Consolas" panose="020B0609020204030204" pitchFamily="49" charset="0"/>
              </a:rPr>
              <a:t>    item[800/32</a:t>
            </a:r>
            <a:r>
              <a:rPr lang="en-US" altLang="ko-KR">
                <a:latin typeface="Consolas" panose="020B0609020204030204" pitchFamily="49" charset="0"/>
              </a:rPr>
              <a:t>] |= </a:t>
            </a:r>
            <a:r>
              <a:rPr lang="en-US" altLang="ko-KR">
                <a:latin typeface="Consolas" panose="020B0609020204030204" pitchFamily="49" charset="0"/>
              </a:rPr>
              <a:t>1</a:t>
            </a:r>
            <a:r>
              <a:rPr lang="en-US" altLang="ko-KR" smtClean="0">
                <a:latin typeface="Consolas" panose="020B0609020204030204" pitchFamily="49" charset="0"/>
              </a:rPr>
              <a:t>&lt;&lt;(800%32</a:t>
            </a:r>
            <a:r>
              <a:rPr lang="en-US" altLang="ko-KR">
                <a:latin typeface="Consolas" panose="020B0609020204030204" pitchFamily="49" charset="0"/>
              </a:rPr>
              <a:t>);</a:t>
            </a:r>
          </a:p>
          <a:p>
            <a:endParaRPr lang="en-US" altLang="ko-KR">
              <a:latin typeface="Consolas" panose="020B0609020204030204" pitchFamily="49" charset="0"/>
            </a:endParaRPr>
          </a:p>
          <a:p>
            <a:endParaRPr lang="en-US" altLang="ko-KR" smtClean="0">
              <a:latin typeface="Consolas" panose="020B0609020204030204" pitchFamily="49" charset="0"/>
            </a:endParaRPr>
          </a:p>
          <a:p>
            <a:r>
              <a:rPr lang="en-US" altLang="ko-KR">
                <a:latin typeface="Consolas" panose="020B0609020204030204" pitchFamily="49" charset="0"/>
              </a:rPr>
              <a:t> </a:t>
            </a:r>
            <a:r>
              <a:rPr lang="en-US" altLang="ko-KR" smtClean="0">
                <a:latin typeface="Consolas" panose="020B0609020204030204" pitchFamily="49" charset="0"/>
              </a:rPr>
              <a:t>   for(i=0; i&lt;1024; i++)</a:t>
            </a:r>
          </a:p>
          <a:p>
            <a:r>
              <a:rPr lang="en-US" altLang="ko-KR">
                <a:latin typeface="Consolas" panose="020B0609020204030204" pitchFamily="49" charset="0"/>
              </a:rPr>
              <a:t> </a:t>
            </a:r>
            <a:r>
              <a:rPr lang="en-US" altLang="ko-KR" smtClean="0">
                <a:latin typeface="Consolas" panose="020B0609020204030204" pitchFamily="49" charset="0"/>
              </a:rPr>
              <a:t>   {</a:t>
            </a:r>
          </a:p>
          <a:p>
            <a:r>
              <a:rPr lang="en-US" altLang="ko-KR">
                <a:latin typeface="Consolas" panose="020B0609020204030204" pitchFamily="49" charset="0"/>
              </a:rPr>
              <a:t> </a:t>
            </a:r>
            <a:r>
              <a:rPr lang="en-US" altLang="ko-KR" smtClean="0">
                <a:latin typeface="Consolas" panose="020B0609020204030204" pitchFamily="49" charset="0"/>
              </a:rPr>
              <a:t>       if( item[</a:t>
            </a:r>
            <a:r>
              <a:rPr lang="en-US" altLang="ko-KR">
                <a:latin typeface="Consolas" panose="020B0609020204030204" pitchFamily="49" charset="0"/>
              </a:rPr>
              <a:t>i</a:t>
            </a:r>
            <a:r>
              <a:rPr lang="en-US" altLang="ko-KR" smtClean="0">
                <a:latin typeface="Consolas" panose="020B0609020204030204" pitchFamily="49" charset="0"/>
              </a:rPr>
              <a:t>/32] &amp; (1&lt;&lt;(i%32))  )</a:t>
            </a:r>
          </a:p>
          <a:p>
            <a:r>
              <a:rPr lang="en-US" altLang="ko-KR">
                <a:latin typeface="Consolas" panose="020B0609020204030204" pitchFamily="49" charset="0"/>
              </a:rPr>
              <a:t> </a:t>
            </a:r>
            <a:r>
              <a:rPr lang="en-US" altLang="ko-KR" smtClean="0">
                <a:latin typeface="Consolas" panose="020B0609020204030204" pitchFamily="49" charset="0"/>
              </a:rPr>
              <a:t>          printf("%d\n", i);</a:t>
            </a:r>
          </a:p>
          <a:p>
            <a:r>
              <a:rPr lang="en-US" altLang="ko-KR">
                <a:latin typeface="Consolas" panose="020B0609020204030204" pitchFamily="49" charset="0"/>
              </a:rPr>
              <a:t> </a:t>
            </a:r>
            <a:r>
              <a:rPr lang="en-US" altLang="ko-KR" smtClean="0">
                <a:latin typeface="Consolas" panose="020B0609020204030204" pitchFamily="49" charset="0"/>
              </a:rPr>
              <a:t>   }</a:t>
            </a:r>
          </a:p>
          <a:p>
            <a:endParaRPr lang="en-US" altLang="ko-KR">
              <a:latin typeface="Consolas" panose="020B0609020204030204" pitchFamily="49" charset="0"/>
            </a:endParaRPr>
          </a:p>
          <a:p>
            <a:r>
              <a:rPr lang="en-US" altLang="ko-KR" smtClean="0">
                <a:latin typeface="Consolas" panose="020B0609020204030204" pitchFamily="49" charset="0"/>
              </a:rPr>
              <a:t>    item[800/32] &amp;= ~(1&lt;&lt;(800%32));</a:t>
            </a:r>
            <a:endParaRPr lang="en-US" altLang="ko-KR">
              <a:latin typeface="Consolas" panose="020B0609020204030204" pitchFamily="49" charset="0"/>
            </a:endParaRPr>
          </a:p>
          <a:p>
            <a:endParaRPr lang="en-US" altLang="ko-KR" smtClean="0">
              <a:latin typeface="Consolas" panose="020B0609020204030204" pitchFamily="49" charset="0"/>
            </a:endParaRPr>
          </a:p>
          <a:p>
            <a:endParaRPr lang="en-US" altLang="ko-KR">
              <a:latin typeface="Consolas" panose="020B0609020204030204" pitchFamily="49" charset="0"/>
            </a:endParaRPr>
          </a:p>
          <a:p>
            <a:r>
              <a:rPr lang="en-US" altLang="ko-KR" smtClean="0">
                <a:latin typeface="Consolas" panose="020B0609020204030204" pitchFamily="49" charset="0"/>
              </a:rPr>
              <a:t>}</a:t>
            </a:r>
            <a:endParaRPr lang="en-US" altLang="ko-KR">
              <a:latin typeface="Consolas" panose="020B0609020204030204" pitchFamily="49" charset="0"/>
            </a:endParaRPr>
          </a:p>
          <a:p>
            <a:endParaRPr lang="ko-KR" altLang="en-US" smtClean="0">
              <a:latin typeface="Consolas" panose="020B0609020204030204" pitchFamily="49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942006" y="641555"/>
            <a:ext cx="3496470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smtClean="0">
                <a:latin typeface="Consolas" panose="020B0609020204030204" pitchFamily="49" charset="0"/>
              </a:rPr>
              <a:t>문제점 </a:t>
            </a:r>
            <a:r>
              <a:rPr lang="en-US" altLang="ko-KR" sz="2400" smtClean="0">
                <a:latin typeface="Consolas" panose="020B0609020204030204" pitchFamily="49" charset="0"/>
              </a:rPr>
              <a:t>: </a:t>
            </a:r>
          </a:p>
          <a:p>
            <a:endParaRPr lang="en-US" altLang="ko-KR" sz="2400" smtClean="0">
              <a:latin typeface="Consolas" panose="020B0609020204030204" pitchFamily="49" charset="0"/>
            </a:endParaRPr>
          </a:p>
          <a:p>
            <a:r>
              <a:rPr lang="en-US" altLang="ko-KR" sz="2400" smtClean="0">
                <a:latin typeface="Consolas" panose="020B0609020204030204" pitchFamily="49" charset="0"/>
              </a:rPr>
              <a:t>- </a:t>
            </a:r>
            <a:r>
              <a:rPr lang="ko-KR" altLang="en-US" sz="240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메모리를 낭비 한다</a:t>
            </a:r>
            <a:r>
              <a:rPr lang="en-US" altLang="ko-KR" sz="240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.</a:t>
            </a:r>
            <a:endParaRPr lang="en-US" altLang="ko-KR" sz="240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endParaRPr lang="ko-KR" altLang="en-US" sz="2400" smtClean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645950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061884" y="368710"/>
            <a:ext cx="294503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smtClean="0">
                <a:latin typeface="Consolas" panose="020B0609020204030204" pitchFamily="49" charset="0"/>
              </a:rPr>
              <a:t>char a=3, b=4;</a:t>
            </a:r>
            <a:endParaRPr lang="ko-KR" altLang="en-US" sz="2800" smtClean="0">
              <a:latin typeface="Consolas" panose="020B0609020204030204" pitchFamily="49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61884" y="1238865"/>
            <a:ext cx="60997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smtClean="0">
                <a:latin typeface="Consolas" panose="020B0609020204030204" pitchFamily="49" charset="0"/>
              </a:rPr>
              <a:t>if( a != b )  // cmp a,b ; a-b</a:t>
            </a:r>
            <a:endParaRPr lang="ko-KR" altLang="en-US" sz="2800" smtClean="0">
              <a:latin typeface="Consolas" panose="020B0609020204030204" pitchFamily="49" charset="0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7942007" y="1105782"/>
            <a:ext cx="619432" cy="656303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400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8561439" y="1105782"/>
            <a:ext cx="619432" cy="656303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9180871" y="1105782"/>
            <a:ext cx="619432" cy="656303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9800303" y="1105782"/>
            <a:ext cx="619432" cy="656303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7942007" y="515847"/>
            <a:ext cx="619432" cy="65630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smtClean="0">
                <a:solidFill>
                  <a:schemeClr val="tx1"/>
                </a:solidFill>
                <a:latin typeface="Consolas" panose="020B0609020204030204" pitchFamily="49" charset="0"/>
              </a:rPr>
              <a:t>Z</a:t>
            </a:r>
            <a:endParaRPr lang="ko-KR" altLang="en-US" sz="2400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8561439" y="515847"/>
            <a:ext cx="619432" cy="65630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smtClean="0">
                <a:solidFill>
                  <a:schemeClr val="tx1"/>
                </a:solidFill>
                <a:latin typeface="Consolas" panose="020B0609020204030204" pitchFamily="49" charset="0"/>
              </a:rPr>
              <a:t>S</a:t>
            </a:r>
            <a:endParaRPr lang="ko-KR" altLang="en-US" sz="2400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9180871" y="515847"/>
            <a:ext cx="619432" cy="65630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smtClean="0">
                <a:solidFill>
                  <a:schemeClr val="tx1"/>
                </a:solidFill>
                <a:latin typeface="Consolas" panose="020B0609020204030204" pitchFamily="49" charset="0"/>
              </a:rPr>
              <a:t>C</a:t>
            </a:r>
            <a:endParaRPr lang="ko-KR" altLang="en-US" sz="2400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9800303" y="515847"/>
            <a:ext cx="619432" cy="65630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smtClean="0">
                <a:solidFill>
                  <a:schemeClr val="tx1"/>
                </a:solidFill>
                <a:latin typeface="Consolas" panose="020B0609020204030204" pitchFamily="49" charset="0"/>
              </a:rPr>
              <a:t>V</a:t>
            </a:r>
            <a:endParaRPr lang="ko-KR" altLang="en-US" sz="2400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298826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061884" y="368710"/>
            <a:ext cx="471956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smtClean="0">
                <a:latin typeface="Consolas" panose="020B0609020204030204" pitchFamily="49" charset="0"/>
              </a:rPr>
              <a:t>unsigned char a=3, b=4;</a:t>
            </a:r>
            <a:endParaRPr lang="ko-KR" altLang="en-US" sz="2800" smtClean="0">
              <a:latin typeface="Consolas" panose="020B0609020204030204" pitchFamily="49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61884" y="1238865"/>
            <a:ext cx="590257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smtClean="0">
                <a:latin typeface="Consolas" panose="020B0609020204030204" pitchFamily="49" charset="0"/>
              </a:rPr>
              <a:t>if( a &gt; b )  // cmp a,b ; 3-4</a:t>
            </a:r>
            <a:endParaRPr lang="ko-KR" altLang="en-US" sz="2800" smtClean="0">
              <a:latin typeface="Consolas" panose="020B0609020204030204" pitchFamily="49" charset="0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7942007" y="1105782"/>
            <a:ext cx="619432" cy="656303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400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8561439" y="1105782"/>
            <a:ext cx="619432" cy="656303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9180871" y="1105782"/>
            <a:ext cx="619432" cy="656303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smtClean="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400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9800303" y="1105782"/>
            <a:ext cx="619432" cy="656303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7942007" y="515847"/>
            <a:ext cx="619432" cy="65630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smtClean="0">
                <a:solidFill>
                  <a:schemeClr val="tx1"/>
                </a:solidFill>
                <a:latin typeface="Consolas" panose="020B0609020204030204" pitchFamily="49" charset="0"/>
              </a:rPr>
              <a:t>Z</a:t>
            </a:r>
            <a:endParaRPr lang="ko-KR" altLang="en-US" sz="2400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8561439" y="515847"/>
            <a:ext cx="619432" cy="65630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smtClean="0">
                <a:solidFill>
                  <a:schemeClr val="tx1"/>
                </a:solidFill>
                <a:latin typeface="Consolas" panose="020B0609020204030204" pitchFamily="49" charset="0"/>
              </a:rPr>
              <a:t>S</a:t>
            </a:r>
            <a:endParaRPr lang="ko-KR" altLang="en-US" sz="2400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9180871" y="515847"/>
            <a:ext cx="619432" cy="65630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smtClean="0">
                <a:solidFill>
                  <a:schemeClr val="tx1"/>
                </a:solidFill>
                <a:latin typeface="Consolas" panose="020B0609020204030204" pitchFamily="49" charset="0"/>
              </a:rPr>
              <a:t>C</a:t>
            </a:r>
            <a:endParaRPr lang="ko-KR" altLang="en-US" sz="2400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9800303" y="515847"/>
            <a:ext cx="619432" cy="65630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smtClean="0">
                <a:solidFill>
                  <a:schemeClr val="tx1"/>
                </a:solidFill>
                <a:latin typeface="Consolas" panose="020B0609020204030204" pitchFamily="49" charset="0"/>
              </a:rPr>
              <a:t>V</a:t>
            </a:r>
            <a:endParaRPr lang="ko-KR" altLang="en-US" sz="2400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" name="직사각형 1"/>
          <p:cNvSpPr/>
          <p:nvPr/>
        </p:nvSpPr>
        <p:spPr>
          <a:xfrm>
            <a:off x="1334729" y="2544097"/>
            <a:ext cx="412955" cy="516193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1747684" y="2544096"/>
            <a:ext cx="412955" cy="516193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2160639" y="2544095"/>
            <a:ext cx="412955" cy="516193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2573594" y="2544094"/>
            <a:ext cx="412955" cy="516193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7" name="직사각형 16"/>
          <p:cNvSpPr/>
          <p:nvPr/>
        </p:nvSpPr>
        <p:spPr>
          <a:xfrm>
            <a:off x="2986549" y="2544093"/>
            <a:ext cx="412955" cy="516193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3399504" y="2544092"/>
            <a:ext cx="412955" cy="516193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9" name="직사각형 18"/>
          <p:cNvSpPr/>
          <p:nvPr/>
        </p:nvSpPr>
        <p:spPr>
          <a:xfrm>
            <a:off x="3812459" y="2544091"/>
            <a:ext cx="412955" cy="516193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0" name="직사각형 19"/>
          <p:cNvSpPr/>
          <p:nvPr/>
        </p:nvSpPr>
        <p:spPr>
          <a:xfrm>
            <a:off x="4225414" y="2544090"/>
            <a:ext cx="412955" cy="516193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1334729" y="3171237"/>
            <a:ext cx="412955" cy="516193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1747684" y="3171236"/>
            <a:ext cx="412955" cy="516193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2160639" y="3171235"/>
            <a:ext cx="412955" cy="516193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2573594" y="3171234"/>
            <a:ext cx="412955" cy="516193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2986549" y="3171233"/>
            <a:ext cx="412955" cy="516193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3399504" y="3171232"/>
            <a:ext cx="412955" cy="516193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3812459" y="3171231"/>
            <a:ext cx="412955" cy="516193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25414" y="3171230"/>
            <a:ext cx="412955" cy="516193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920152" y="3164203"/>
            <a:ext cx="3818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smtClean="0">
                <a:latin typeface="Consolas" panose="020B0609020204030204" pitchFamily="49" charset="0"/>
              </a:rPr>
              <a:t>-</a:t>
            </a:r>
            <a:endParaRPr lang="ko-KR" altLang="en-US" sz="2800" smtClean="0">
              <a:latin typeface="Consolas" panose="020B0609020204030204" pitchFamily="49" charset="0"/>
            </a:endParaRPr>
          </a:p>
        </p:txBody>
      </p:sp>
      <p:cxnSp>
        <p:nvCxnSpPr>
          <p:cNvPr id="30" name="직선 연결선 29"/>
          <p:cNvCxnSpPr/>
          <p:nvPr/>
        </p:nvCxnSpPr>
        <p:spPr>
          <a:xfrm>
            <a:off x="737419" y="3841955"/>
            <a:ext cx="429915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직사각형 30"/>
          <p:cNvSpPr/>
          <p:nvPr/>
        </p:nvSpPr>
        <p:spPr>
          <a:xfrm>
            <a:off x="1334729" y="3996481"/>
            <a:ext cx="412955" cy="516193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2" name="직사각형 31"/>
          <p:cNvSpPr/>
          <p:nvPr/>
        </p:nvSpPr>
        <p:spPr>
          <a:xfrm>
            <a:off x="1747684" y="3996480"/>
            <a:ext cx="412955" cy="516193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3" name="직사각형 32"/>
          <p:cNvSpPr/>
          <p:nvPr/>
        </p:nvSpPr>
        <p:spPr>
          <a:xfrm>
            <a:off x="2160639" y="3996479"/>
            <a:ext cx="412955" cy="516193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4" name="직사각형 33"/>
          <p:cNvSpPr/>
          <p:nvPr/>
        </p:nvSpPr>
        <p:spPr>
          <a:xfrm>
            <a:off x="2573594" y="3996478"/>
            <a:ext cx="412955" cy="516193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5" name="직사각형 34"/>
          <p:cNvSpPr/>
          <p:nvPr/>
        </p:nvSpPr>
        <p:spPr>
          <a:xfrm>
            <a:off x="2986549" y="3996477"/>
            <a:ext cx="412955" cy="516193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3399504" y="3996476"/>
            <a:ext cx="412955" cy="516193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812459" y="3996475"/>
            <a:ext cx="412955" cy="516193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4225414" y="3996474"/>
            <a:ext cx="412955" cy="516193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9" name="직사각형 38"/>
          <p:cNvSpPr/>
          <p:nvPr/>
        </p:nvSpPr>
        <p:spPr>
          <a:xfrm>
            <a:off x="1334729" y="2027899"/>
            <a:ext cx="412955" cy="516193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0" name="직사각형 39"/>
          <p:cNvSpPr/>
          <p:nvPr/>
        </p:nvSpPr>
        <p:spPr>
          <a:xfrm>
            <a:off x="1747684" y="2027898"/>
            <a:ext cx="412955" cy="516193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1" name="직사각형 40"/>
          <p:cNvSpPr/>
          <p:nvPr/>
        </p:nvSpPr>
        <p:spPr>
          <a:xfrm>
            <a:off x="2160639" y="2027897"/>
            <a:ext cx="412955" cy="516193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2" name="직사각형 41"/>
          <p:cNvSpPr/>
          <p:nvPr/>
        </p:nvSpPr>
        <p:spPr>
          <a:xfrm>
            <a:off x="2573594" y="2027896"/>
            <a:ext cx="412955" cy="516193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2986549" y="2027895"/>
            <a:ext cx="412955" cy="516193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4" name="직사각형 43"/>
          <p:cNvSpPr/>
          <p:nvPr/>
        </p:nvSpPr>
        <p:spPr>
          <a:xfrm>
            <a:off x="3399504" y="2027894"/>
            <a:ext cx="412955" cy="516193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2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5941083" y="2902593"/>
            <a:ext cx="4937570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smtClean="0">
                <a:latin typeface="Consolas" panose="020B0609020204030204" pitchFamily="49" charset="0"/>
              </a:rPr>
              <a:t>unsigned </a:t>
            </a:r>
            <a:r>
              <a:rPr lang="ko-KR" altLang="en-US" sz="2800" smtClean="0">
                <a:latin typeface="Consolas" panose="020B0609020204030204" pitchFamily="49" charset="0"/>
              </a:rPr>
              <a:t>에서는 </a:t>
            </a:r>
            <a:r>
              <a:rPr lang="en-US" altLang="ko-KR" sz="2800" smtClean="0">
                <a:latin typeface="Consolas" panose="020B0609020204030204" pitchFamily="49" charset="0"/>
              </a:rPr>
              <a:t>C==1 </a:t>
            </a:r>
            <a:r>
              <a:rPr lang="ko-KR" altLang="en-US" sz="2800" smtClean="0">
                <a:latin typeface="Consolas" panose="020B0609020204030204" pitchFamily="49" charset="0"/>
              </a:rPr>
              <a:t>이면</a:t>
            </a:r>
            <a:endParaRPr lang="en-US" altLang="ko-KR" sz="2800" smtClean="0">
              <a:latin typeface="Consolas" panose="020B0609020204030204" pitchFamily="49" charset="0"/>
            </a:endParaRPr>
          </a:p>
          <a:p>
            <a:r>
              <a:rPr lang="ko-KR" altLang="en-US" sz="2800" smtClean="0">
                <a:latin typeface="Consolas" panose="020B0609020204030204" pitchFamily="49" charset="0"/>
              </a:rPr>
              <a:t>앞 숫자가 작다</a:t>
            </a:r>
            <a:r>
              <a:rPr lang="en-US" altLang="ko-KR" sz="2800" smtClean="0">
                <a:latin typeface="Consolas" panose="020B0609020204030204" pitchFamily="49" charset="0"/>
              </a:rPr>
              <a:t>.</a:t>
            </a:r>
            <a:endParaRPr lang="ko-KR" altLang="en-US" sz="2800" smtClean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134046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061884" y="368710"/>
            <a:ext cx="471956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smtClean="0">
                <a:latin typeface="Consolas" panose="020B0609020204030204" pitchFamily="49" charset="0"/>
              </a:rPr>
              <a:t>unsigned char a=4, b=3;</a:t>
            </a:r>
            <a:endParaRPr lang="ko-KR" altLang="en-US" sz="2800" smtClean="0">
              <a:latin typeface="Consolas" panose="020B0609020204030204" pitchFamily="49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61884" y="1238865"/>
            <a:ext cx="590257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smtClean="0">
                <a:latin typeface="Consolas" panose="020B0609020204030204" pitchFamily="49" charset="0"/>
              </a:rPr>
              <a:t>if( a &gt; b )  // cmp a,b ; 4-3</a:t>
            </a:r>
            <a:endParaRPr lang="ko-KR" altLang="en-US" sz="2800" smtClean="0">
              <a:latin typeface="Consolas" panose="020B0609020204030204" pitchFamily="49" charset="0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7942007" y="1105782"/>
            <a:ext cx="619432" cy="656303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400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8561439" y="1105782"/>
            <a:ext cx="619432" cy="656303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9180871" y="1105782"/>
            <a:ext cx="619432" cy="656303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400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9800303" y="1105782"/>
            <a:ext cx="619432" cy="656303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7942007" y="515847"/>
            <a:ext cx="619432" cy="65630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smtClean="0">
                <a:solidFill>
                  <a:schemeClr val="tx1"/>
                </a:solidFill>
                <a:latin typeface="Consolas" panose="020B0609020204030204" pitchFamily="49" charset="0"/>
              </a:rPr>
              <a:t>Z</a:t>
            </a:r>
            <a:endParaRPr lang="ko-KR" altLang="en-US" sz="2400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8561439" y="515847"/>
            <a:ext cx="619432" cy="65630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smtClean="0">
                <a:solidFill>
                  <a:schemeClr val="tx1"/>
                </a:solidFill>
                <a:latin typeface="Consolas" panose="020B0609020204030204" pitchFamily="49" charset="0"/>
              </a:rPr>
              <a:t>S</a:t>
            </a:r>
            <a:endParaRPr lang="ko-KR" altLang="en-US" sz="2400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9180871" y="515847"/>
            <a:ext cx="619432" cy="65630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smtClean="0">
                <a:solidFill>
                  <a:schemeClr val="tx1"/>
                </a:solidFill>
                <a:latin typeface="Consolas" panose="020B0609020204030204" pitchFamily="49" charset="0"/>
              </a:rPr>
              <a:t>C</a:t>
            </a:r>
            <a:endParaRPr lang="ko-KR" altLang="en-US" sz="2400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9800303" y="515847"/>
            <a:ext cx="619432" cy="65630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smtClean="0">
                <a:solidFill>
                  <a:schemeClr val="tx1"/>
                </a:solidFill>
                <a:latin typeface="Consolas" panose="020B0609020204030204" pitchFamily="49" charset="0"/>
              </a:rPr>
              <a:t>V</a:t>
            </a:r>
            <a:endParaRPr lang="ko-KR" altLang="en-US" sz="2400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" name="직사각형 1"/>
          <p:cNvSpPr/>
          <p:nvPr/>
        </p:nvSpPr>
        <p:spPr>
          <a:xfrm>
            <a:off x="1334729" y="2544097"/>
            <a:ext cx="412955" cy="516193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1747684" y="2544096"/>
            <a:ext cx="412955" cy="516193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2160639" y="2544095"/>
            <a:ext cx="412955" cy="516193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2573594" y="2544094"/>
            <a:ext cx="412955" cy="516193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7" name="직사각형 16"/>
          <p:cNvSpPr/>
          <p:nvPr/>
        </p:nvSpPr>
        <p:spPr>
          <a:xfrm>
            <a:off x="2986549" y="2544093"/>
            <a:ext cx="412955" cy="516193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3399504" y="2544092"/>
            <a:ext cx="412955" cy="516193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9" name="직사각형 18"/>
          <p:cNvSpPr/>
          <p:nvPr/>
        </p:nvSpPr>
        <p:spPr>
          <a:xfrm>
            <a:off x="3812459" y="2544091"/>
            <a:ext cx="412955" cy="516193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0" name="직사각형 19"/>
          <p:cNvSpPr/>
          <p:nvPr/>
        </p:nvSpPr>
        <p:spPr>
          <a:xfrm>
            <a:off x="4225414" y="2544090"/>
            <a:ext cx="412955" cy="516193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1334729" y="3171237"/>
            <a:ext cx="412955" cy="516193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1747684" y="3171236"/>
            <a:ext cx="412955" cy="516193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2160639" y="3171235"/>
            <a:ext cx="412955" cy="516193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2573594" y="3171234"/>
            <a:ext cx="412955" cy="516193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2986549" y="3171233"/>
            <a:ext cx="412955" cy="516193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3399504" y="3171232"/>
            <a:ext cx="412955" cy="516193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3812459" y="3171231"/>
            <a:ext cx="412955" cy="516193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25414" y="3171230"/>
            <a:ext cx="412955" cy="516193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920152" y="3164203"/>
            <a:ext cx="3818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smtClean="0">
                <a:latin typeface="Consolas" panose="020B0609020204030204" pitchFamily="49" charset="0"/>
              </a:rPr>
              <a:t>-</a:t>
            </a:r>
            <a:endParaRPr lang="ko-KR" altLang="en-US" sz="2800" smtClean="0">
              <a:latin typeface="Consolas" panose="020B0609020204030204" pitchFamily="49" charset="0"/>
            </a:endParaRPr>
          </a:p>
        </p:txBody>
      </p:sp>
      <p:cxnSp>
        <p:nvCxnSpPr>
          <p:cNvPr id="30" name="직선 연결선 29"/>
          <p:cNvCxnSpPr/>
          <p:nvPr/>
        </p:nvCxnSpPr>
        <p:spPr>
          <a:xfrm>
            <a:off x="737419" y="3841955"/>
            <a:ext cx="429915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직사각형 30"/>
          <p:cNvSpPr/>
          <p:nvPr/>
        </p:nvSpPr>
        <p:spPr>
          <a:xfrm>
            <a:off x="1334729" y="3996481"/>
            <a:ext cx="412955" cy="516193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2" name="직사각형 31"/>
          <p:cNvSpPr/>
          <p:nvPr/>
        </p:nvSpPr>
        <p:spPr>
          <a:xfrm>
            <a:off x="1747684" y="3996480"/>
            <a:ext cx="412955" cy="516193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3" name="직사각형 32"/>
          <p:cNvSpPr/>
          <p:nvPr/>
        </p:nvSpPr>
        <p:spPr>
          <a:xfrm>
            <a:off x="2160639" y="3996479"/>
            <a:ext cx="412955" cy="516193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4" name="직사각형 33"/>
          <p:cNvSpPr/>
          <p:nvPr/>
        </p:nvSpPr>
        <p:spPr>
          <a:xfrm>
            <a:off x="2573594" y="3996478"/>
            <a:ext cx="412955" cy="516193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5" name="직사각형 34"/>
          <p:cNvSpPr/>
          <p:nvPr/>
        </p:nvSpPr>
        <p:spPr>
          <a:xfrm>
            <a:off x="2986549" y="3996477"/>
            <a:ext cx="412955" cy="516193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3399504" y="3996476"/>
            <a:ext cx="412955" cy="516193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812459" y="3996475"/>
            <a:ext cx="412955" cy="516193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4225414" y="3996474"/>
            <a:ext cx="412955" cy="516193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3812459" y="2027898"/>
            <a:ext cx="412955" cy="516193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4" name="직사각형 43"/>
          <p:cNvSpPr/>
          <p:nvPr/>
        </p:nvSpPr>
        <p:spPr>
          <a:xfrm>
            <a:off x="4225414" y="2027897"/>
            <a:ext cx="412955" cy="516193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2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5941083" y="2902593"/>
            <a:ext cx="4937570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smtClean="0">
                <a:latin typeface="Consolas" panose="020B0609020204030204" pitchFamily="49" charset="0"/>
              </a:rPr>
              <a:t>unsigned </a:t>
            </a:r>
            <a:r>
              <a:rPr lang="ko-KR" altLang="en-US" sz="2800" smtClean="0">
                <a:latin typeface="Consolas" panose="020B0609020204030204" pitchFamily="49" charset="0"/>
              </a:rPr>
              <a:t>에서는 </a:t>
            </a:r>
            <a:r>
              <a:rPr lang="en-US" altLang="ko-KR" sz="2800" smtClean="0">
                <a:latin typeface="Consolas" panose="020B0609020204030204" pitchFamily="49" charset="0"/>
              </a:rPr>
              <a:t>C==0 </a:t>
            </a:r>
            <a:r>
              <a:rPr lang="ko-KR" altLang="en-US" sz="2800" smtClean="0">
                <a:latin typeface="Consolas" panose="020B0609020204030204" pitchFamily="49" charset="0"/>
              </a:rPr>
              <a:t>이면</a:t>
            </a:r>
            <a:endParaRPr lang="en-US" altLang="ko-KR" sz="2800" smtClean="0">
              <a:latin typeface="Consolas" panose="020B0609020204030204" pitchFamily="49" charset="0"/>
            </a:endParaRPr>
          </a:p>
          <a:p>
            <a:r>
              <a:rPr lang="ko-KR" altLang="en-US" sz="2800" smtClean="0">
                <a:latin typeface="Consolas" panose="020B0609020204030204" pitchFamily="49" charset="0"/>
              </a:rPr>
              <a:t>앞 숫자가 크다</a:t>
            </a:r>
            <a:r>
              <a:rPr lang="en-US" altLang="ko-KR" sz="2800" smtClean="0">
                <a:latin typeface="Consolas" panose="020B0609020204030204" pitchFamily="49" charset="0"/>
              </a:rPr>
              <a:t>.</a:t>
            </a:r>
            <a:endParaRPr lang="ko-KR" altLang="en-US" sz="2800" smtClean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605492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061884" y="368710"/>
            <a:ext cx="294503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smtClean="0">
                <a:latin typeface="Consolas" panose="020B0609020204030204" pitchFamily="49" charset="0"/>
              </a:rPr>
              <a:t>char a=4, b=3;</a:t>
            </a:r>
            <a:endParaRPr lang="ko-KR" altLang="en-US" sz="2800" smtClean="0">
              <a:latin typeface="Consolas" panose="020B0609020204030204" pitchFamily="49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61884" y="1238865"/>
            <a:ext cx="649408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smtClean="0">
                <a:latin typeface="Consolas" panose="020B0609020204030204" pitchFamily="49" charset="0"/>
              </a:rPr>
              <a:t>if( a &gt; b )  // cmp a,b ; 4+(-3)</a:t>
            </a:r>
            <a:endParaRPr lang="ko-KR" altLang="en-US" sz="2800" smtClean="0">
              <a:latin typeface="Consolas" panose="020B0609020204030204" pitchFamily="49" charset="0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7942007" y="1105782"/>
            <a:ext cx="619432" cy="656303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400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8561439" y="1105782"/>
            <a:ext cx="619432" cy="656303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400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9180871" y="1105782"/>
            <a:ext cx="619432" cy="656303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smtClean="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400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9800303" y="1105782"/>
            <a:ext cx="619432" cy="656303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400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7942007" y="515847"/>
            <a:ext cx="619432" cy="65630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smtClean="0">
                <a:solidFill>
                  <a:schemeClr val="tx1"/>
                </a:solidFill>
                <a:latin typeface="Consolas" panose="020B0609020204030204" pitchFamily="49" charset="0"/>
              </a:rPr>
              <a:t>Z</a:t>
            </a:r>
            <a:endParaRPr lang="ko-KR" altLang="en-US" sz="2400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8561439" y="515847"/>
            <a:ext cx="619432" cy="65630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smtClean="0">
                <a:solidFill>
                  <a:schemeClr val="tx1"/>
                </a:solidFill>
                <a:latin typeface="Consolas" panose="020B0609020204030204" pitchFamily="49" charset="0"/>
              </a:rPr>
              <a:t>S</a:t>
            </a:r>
            <a:endParaRPr lang="ko-KR" altLang="en-US" sz="2400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9180871" y="515847"/>
            <a:ext cx="619432" cy="65630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smtClean="0">
                <a:solidFill>
                  <a:schemeClr val="tx1"/>
                </a:solidFill>
                <a:latin typeface="Consolas" panose="020B0609020204030204" pitchFamily="49" charset="0"/>
              </a:rPr>
              <a:t>C</a:t>
            </a:r>
            <a:endParaRPr lang="ko-KR" altLang="en-US" sz="2400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9800303" y="515847"/>
            <a:ext cx="619432" cy="65630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smtClean="0">
                <a:solidFill>
                  <a:schemeClr val="tx1"/>
                </a:solidFill>
                <a:latin typeface="Consolas" panose="020B0609020204030204" pitchFamily="49" charset="0"/>
              </a:rPr>
              <a:t>V</a:t>
            </a:r>
            <a:endParaRPr lang="ko-KR" altLang="en-US" sz="2400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" name="직사각형 1"/>
          <p:cNvSpPr/>
          <p:nvPr/>
        </p:nvSpPr>
        <p:spPr>
          <a:xfrm>
            <a:off x="1334729" y="2544097"/>
            <a:ext cx="412955" cy="516193"/>
          </a:xfrm>
          <a:prstGeom prst="rect">
            <a:avLst/>
          </a:prstGeom>
          <a:solidFill>
            <a:srgbClr val="FFC0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1747684" y="2544096"/>
            <a:ext cx="412955" cy="516193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2160639" y="2544095"/>
            <a:ext cx="412955" cy="516193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2573594" y="2544094"/>
            <a:ext cx="412955" cy="516193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7" name="직사각형 16"/>
          <p:cNvSpPr/>
          <p:nvPr/>
        </p:nvSpPr>
        <p:spPr>
          <a:xfrm>
            <a:off x="2986549" y="2544093"/>
            <a:ext cx="412955" cy="516193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3399504" y="2544092"/>
            <a:ext cx="412955" cy="516193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9" name="직사각형 18"/>
          <p:cNvSpPr/>
          <p:nvPr/>
        </p:nvSpPr>
        <p:spPr>
          <a:xfrm>
            <a:off x="3812459" y="2544091"/>
            <a:ext cx="412955" cy="516193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0" name="직사각형 19"/>
          <p:cNvSpPr/>
          <p:nvPr/>
        </p:nvSpPr>
        <p:spPr>
          <a:xfrm>
            <a:off x="4225414" y="2544090"/>
            <a:ext cx="412955" cy="516193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1334729" y="3171237"/>
            <a:ext cx="412955" cy="516193"/>
          </a:xfrm>
          <a:prstGeom prst="rect">
            <a:avLst/>
          </a:prstGeom>
          <a:solidFill>
            <a:srgbClr val="FFC0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1747684" y="3171236"/>
            <a:ext cx="412955" cy="516193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2160639" y="3171235"/>
            <a:ext cx="412955" cy="516193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2573594" y="3171234"/>
            <a:ext cx="412955" cy="516193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2986549" y="3171233"/>
            <a:ext cx="412955" cy="516193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3399504" y="3171232"/>
            <a:ext cx="412955" cy="516193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3812459" y="3171231"/>
            <a:ext cx="412955" cy="516193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25414" y="3171230"/>
            <a:ext cx="412955" cy="516193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920152" y="3164203"/>
            <a:ext cx="3818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smtClean="0">
                <a:latin typeface="Consolas" panose="020B0609020204030204" pitchFamily="49" charset="0"/>
              </a:rPr>
              <a:t>+</a:t>
            </a:r>
            <a:endParaRPr lang="ko-KR" altLang="en-US" sz="2800" smtClean="0">
              <a:latin typeface="Consolas" panose="020B0609020204030204" pitchFamily="49" charset="0"/>
            </a:endParaRPr>
          </a:p>
        </p:txBody>
      </p:sp>
      <p:cxnSp>
        <p:nvCxnSpPr>
          <p:cNvPr id="30" name="직선 연결선 29"/>
          <p:cNvCxnSpPr/>
          <p:nvPr/>
        </p:nvCxnSpPr>
        <p:spPr>
          <a:xfrm>
            <a:off x="737419" y="3841955"/>
            <a:ext cx="429915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직사각형 30"/>
          <p:cNvSpPr/>
          <p:nvPr/>
        </p:nvSpPr>
        <p:spPr>
          <a:xfrm>
            <a:off x="1334729" y="3996481"/>
            <a:ext cx="412955" cy="516193"/>
          </a:xfrm>
          <a:prstGeom prst="rect">
            <a:avLst/>
          </a:prstGeom>
          <a:solidFill>
            <a:srgbClr val="FFC0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2" name="직사각형 31"/>
          <p:cNvSpPr/>
          <p:nvPr/>
        </p:nvSpPr>
        <p:spPr>
          <a:xfrm>
            <a:off x="1747684" y="3996480"/>
            <a:ext cx="412955" cy="516193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3" name="직사각형 32"/>
          <p:cNvSpPr/>
          <p:nvPr/>
        </p:nvSpPr>
        <p:spPr>
          <a:xfrm>
            <a:off x="2160639" y="3996479"/>
            <a:ext cx="412955" cy="516193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4" name="직사각형 33"/>
          <p:cNvSpPr/>
          <p:nvPr/>
        </p:nvSpPr>
        <p:spPr>
          <a:xfrm>
            <a:off x="2573594" y="3996478"/>
            <a:ext cx="412955" cy="516193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5" name="직사각형 34"/>
          <p:cNvSpPr/>
          <p:nvPr/>
        </p:nvSpPr>
        <p:spPr>
          <a:xfrm>
            <a:off x="2986549" y="3996477"/>
            <a:ext cx="412955" cy="516193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3399504" y="3996476"/>
            <a:ext cx="412955" cy="516193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812459" y="3996475"/>
            <a:ext cx="412955" cy="516193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4225414" y="3996474"/>
            <a:ext cx="412955" cy="516193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5941083" y="2902593"/>
            <a:ext cx="4543231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smtClean="0">
                <a:latin typeface="Consolas" panose="020B0609020204030204" pitchFamily="49" charset="0"/>
              </a:rPr>
              <a:t>signed </a:t>
            </a:r>
            <a:r>
              <a:rPr lang="ko-KR" altLang="en-US" sz="2800" smtClean="0">
                <a:latin typeface="Consolas" panose="020B0609020204030204" pitchFamily="49" charset="0"/>
              </a:rPr>
              <a:t>에서는 </a:t>
            </a:r>
            <a:r>
              <a:rPr lang="en-US" altLang="ko-KR" sz="2800" smtClean="0">
                <a:latin typeface="Consolas" panose="020B0609020204030204" pitchFamily="49" charset="0"/>
              </a:rPr>
              <a:t>S==V </a:t>
            </a:r>
            <a:r>
              <a:rPr lang="ko-KR" altLang="en-US" sz="2800" smtClean="0">
                <a:latin typeface="Consolas" panose="020B0609020204030204" pitchFamily="49" charset="0"/>
              </a:rPr>
              <a:t>이면</a:t>
            </a:r>
            <a:endParaRPr lang="en-US" altLang="ko-KR" sz="2800" smtClean="0">
              <a:latin typeface="Consolas" panose="020B0609020204030204" pitchFamily="49" charset="0"/>
            </a:endParaRPr>
          </a:p>
          <a:p>
            <a:r>
              <a:rPr lang="ko-KR" altLang="en-US" sz="2800" smtClean="0">
                <a:latin typeface="Consolas" panose="020B0609020204030204" pitchFamily="49" charset="0"/>
              </a:rPr>
              <a:t>앞 숫자가 크다</a:t>
            </a:r>
            <a:r>
              <a:rPr lang="en-US" altLang="ko-KR" sz="2800" smtClean="0">
                <a:latin typeface="Consolas" panose="020B0609020204030204" pitchFamily="49" charset="0"/>
              </a:rPr>
              <a:t>.</a:t>
            </a:r>
            <a:endParaRPr lang="ko-KR" altLang="en-US" sz="2800" smtClean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086937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061884" y="368710"/>
            <a:ext cx="294503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smtClean="0">
                <a:latin typeface="Consolas" panose="020B0609020204030204" pitchFamily="49" charset="0"/>
              </a:rPr>
              <a:t>char a=3, b=4;</a:t>
            </a:r>
            <a:endParaRPr lang="ko-KR" altLang="en-US" sz="2800" smtClean="0">
              <a:latin typeface="Consolas" panose="020B0609020204030204" pitchFamily="49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61884" y="1238865"/>
            <a:ext cx="649408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smtClean="0">
                <a:latin typeface="Consolas" panose="020B0609020204030204" pitchFamily="49" charset="0"/>
              </a:rPr>
              <a:t>if( a &gt; b )  // cmp a,b ; 3+(-4)</a:t>
            </a:r>
            <a:endParaRPr lang="ko-KR" altLang="en-US" sz="2800" smtClean="0">
              <a:latin typeface="Consolas" panose="020B0609020204030204" pitchFamily="49" charset="0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7942007" y="1105782"/>
            <a:ext cx="619432" cy="656303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400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8561439" y="1105782"/>
            <a:ext cx="619432" cy="656303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smtClean="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400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9180871" y="1105782"/>
            <a:ext cx="619432" cy="656303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smtClean="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400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9800303" y="1105782"/>
            <a:ext cx="619432" cy="656303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400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7942007" y="515847"/>
            <a:ext cx="619432" cy="65630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smtClean="0">
                <a:solidFill>
                  <a:schemeClr val="tx1"/>
                </a:solidFill>
                <a:latin typeface="Consolas" panose="020B0609020204030204" pitchFamily="49" charset="0"/>
              </a:rPr>
              <a:t>Z</a:t>
            </a:r>
            <a:endParaRPr lang="ko-KR" altLang="en-US" sz="2400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8561439" y="515847"/>
            <a:ext cx="619432" cy="65630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smtClean="0">
                <a:solidFill>
                  <a:schemeClr val="tx1"/>
                </a:solidFill>
                <a:latin typeface="Consolas" panose="020B0609020204030204" pitchFamily="49" charset="0"/>
              </a:rPr>
              <a:t>S</a:t>
            </a:r>
            <a:endParaRPr lang="ko-KR" altLang="en-US" sz="2400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9180871" y="515847"/>
            <a:ext cx="619432" cy="65630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smtClean="0">
                <a:solidFill>
                  <a:schemeClr val="tx1"/>
                </a:solidFill>
                <a:latin typeface="Consolas" panose="020B0609020204030204" pitchFamily="49" charset="0"/>
              </a:rPr>
              <a:t>C</a:t>
            </a:r>
            <a:endParaRPr lang="ko-KR" altLang="en-US" sz="2400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9800303" y="515847"/>
            <a:ext cx="619432" cy="65630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smtClean="0">
                <a:solidFill>
                  <a:schemeClr val="tx1"/>
                </a:solidFill>
                <a:latin typeface="Consolas" panose="020B0609020204030204" pitchFamily="49" charset="0"/>
              </a:rPr>
              <a:t>V</a:t>
            </a:r>
            <a:endParaRPr lang="ko-KR" altLang="en-US" sz="2400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" name="직사각형 1"/>
          <p:cNvSpPr/>
          <p:nvPr/>
        </p:nvSpPr>
        <p:spPr>
          <a:xfrm>
            <a:off x="1334729" y="2544097"/>
            <a:ext cx="412955" cy="516193"/>
          </a:xfrm>
          <a:prstGeom prst="rect">
            <a:avLst/>
          </a:prstGeom>
          <a:solidFill>
            <a:srgbClr val="FFC0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1747684" y="2544096"/>
            <a:ext cx="412955" cy="516193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2160639" y="2544095"/>
            <a:ext cx="412955" cy="516193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2573594" y="2544094"/>
            <a:ext cx="412955" cy="516193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7" name="직사각형 16"/>
          <p:cNvSpPr/>
          <p:nvPr/>
        </p:nvSpPr>
        <p:spPr>
          <a:xfrm>
            <a:off x="2986549" y="2544093"/>
            <a:ext cx="412955" cy="516193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3399504" y="2544092"/>
            <a:ext cx="412955" cy="516193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9" name="직사각형 18"/>
          <p:cNvSpPr/>
          <p:nvPr/>
        </p:nvSpPr>
        <p:spPr>
          <a:xfrm>
            <a:off x="3812459" y="2544091"/>
            <a:ext cx="412955" cy="516193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0" name="직사각형 19"/>
          <p:cNvSpPr/>
          <p:nvPr/>
        </p:nvSpPr>
        <p:spPr>
          <a:xfrm>
            <a:off x="4225414" y="2544090"/>
            <a:ext cx="412955" cy="516193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1334729" y="3171237"/>
            <a:ext cx="412955" cy="516193"/>
          </a:xfrm>
          <a:prstGeom prst="rect">
            <a:avLst/>
          </a:prstGeom>
          <a:solidFill>
            <a:srgbClr val="FFC0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1747684" y="3171236"/>
            <a:ext cx="412955" cy="516193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2160639" y="3171235"/>
            <a:ext cx="412955" cy="516193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2573594" y="3171234"/>
            <a:ext cx="412955" cy="516193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2986549" y="3171233"/>
            <a:ext cx="412955" cy="516193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3399504" y="3171232"/>
            <a:ext cx="412955" cy="516193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3812459" y="3171231"/>
            <a:ext cx="412955" cy="516193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25414" y="3171230"/>
            <a:ext cx="412955" cy="516193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920152" y="3164203"/>
            <a:ext cx="3818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smtClean="0">
                <a:latin typeface="Consolas" panose="020B0609020204030204" pitchFamily="49" charset="0"/>
              </a:rPr>
              <a:t>+</a:t>
            </a:r>
            <a:endParaRPr lang="ko-KR" altLang="en-US" sz="2800" smtClean="0">
              <a:latin typeface="Consolas" panose="020B0609020204030204" pitchFamily="49" charset="0"/>
            </a:endParaRPr>
          </a:p>
        </p:txBody>
      </p:sp>
      <p:cxnSp>
        <p:nvCxnSpPr>
          <p:cNvPr id="30" name="직선 연결선 29"/>
          <p:cNvCxnSpPr/>
          <p:nvPr/>
        </p:nvCxnSpPr>
        <p:spPr>
          <a:xfrm>
            <a:off x="737419" y="3841955"/>
            <a:ext cx="429915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직사각형 30"/>
          <p:cNvSpPr/>
          <p:nvPr/>
        </p:nvSpPr>
        <p:spPr>
          <a:xfrm>
            <a:off x="1334729" y="3996481"/>
            <a:ext cx="412955" cy="516193"/>
          </a:xfrm>
          <a:prstGeom prst="rect">
            <a:avLst/>
          </a:prstGeom>
          <a:solidFill>
            <a:srgbClr val="FFC0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2" name="직사각형 31"/>
          <p:cNvSpPr/>
          <p:nvPr/>
        </p:nvSpPr>
        <p:spPr>
          <a:xfrm>
            <a:off x="1747684" y="3996480"/>
            <a:ext cx="412955" cy="516193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3" name="직사각형 32"/>
          <p:cNvSpPr/>
          <p:nvPr/>
        </p:nvSpPr>
        <p:spPr>
          <a:xfrm>
            <a:off x="2160639" y="3996479"/>
            <a:ext cx="412955" cy="516193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4" name="직사각형 33"/>
          <p:cNvSpPr/>
          <p:nvPr/>
        </p:nvSpPr>
        <p:spPr>
          <a:xfrm>
            <a:off x="2573594" y="3996478"/>
            <a:ext cx="412955" cy="516193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5" name="직사각형 34"/>
          <p:cNvSpPr/>
          <p:nvPr/>
        </p:nvSpPr>
        <p:spPr>
          <a:xfrm>
            <a:off x="2986549" y="3996477"/>
            <a:ext cx="412955" cy="516193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3399504" y="3996476"/>
            <a:ext cx="412955" cy="516193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812459" y="3996475"/>
            <a:ext cx="412955" cy="516193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4225414" y="3996474"/>
            <a:ext cx="412955" cy="516193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5941083" y="2902593"/>
            <a:ext cx="4543231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smtClean="0">
                <a:latin typeface="Consolas" panose="020B0609020204030204" pitchFamily="49" charset="0"/>
              </a:rPr>
              <a:t>signed </a:t>
            </a:r>
            <a:r>
              <a:rPr lang="ko-KR" altLang="en-US" sz="2800" smtClean="0">
                <a:latin typeface="Consolas" panose="020B0609020204030204" pitchFamily="49" charset="0"/>
              </a:rPr>
              <a:t>에서는 </a:t>
            </a:r>
            <a:r>
              <a:rPr lang="en-US" altLang="ko-KR" sz="2800" smtClean="0">
                <a:latin typeface="Consolas" panose="020B0609020204030204" pitchFamily="49" charset="0"/>
              </a:rPr>
              <a:t>S!=V </a:t>
            </a:r>
            <a:r>
              <a:rPr lang="ko-KR" altLang="en-US" sz="2800" smtClean="0">
                <a:latin typeface="Consolas" panose="020B0609020204030204" pitchFamily="49" charset="0"/>
              </a:rPr>
              <a:t>이면</a:t>
            </a:r>
            <a:endParaRPr lang="en-US" altLang="ko-KR" sz="2800" smtClean="0">
              <a:latin typeface="Consolas" panose="020B0609020204030204" pitchFamily="49" charset="0"/>
            </a:endParaRPr>
          </a:p>
          <a:p>
            <a:r>
              <a:rPr lang="ko-KR" altLang="en-US" sz="2800" smtClean="0">
                <a:latin typeface="Consolas" panose="020B0609020204030204" pitchFamily="49" charset="0"/>
              </a:rPr>
              <a:t>앞 숫자가 </a:t>
            </a:r>
            <a:r>
              <a:rPr lang="ko-KR" altLang="en-US" sz="2800">
                <a:latin typeface="Consolas" panose="020B0609020204030204" pitchFamily="49" charset="0"/>
              </a:rPr>
              <a:t>작</a:t>
            </a:r>
            <a:r>
              <a:rPr lang="ko-KR" altLang="en-US" sz="2800" smtClean="0">
                <a:latin typeface="Consolas" panose="020B0609020204030204" pitchFamily="49" charset="0"/>
              </a:rPr>
              <a:t>다</a:t>
            </a:r>
            <a:r>
              <a:rPr lang="en-US" altLang="ko-KR" sz="2800" smtClean="0">
                <a:latin typeface="Consolas" panose="020B0609020204030204" pitchFamily="49" charset="0"/>
              </a:rPr>
              <a:t>.</a:t>
            </a:r>
            <a:endParaRPr lang="ko-KR" altLang="en-US" sz="2800" smtClean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328875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061884" y="368710"/>
            <a:ext cx="39308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smtClean="0">
                <a:latin typeface="Consolas" panose="020B0609020204030204" pitchFamily="49" charset="0"/>
              </a:rPr>
              <a:t>char a=100, b=-100;</a:t>
            </a:r>
            <a:endParaRPr lang="ko-KR" altLang="en-US" sz="2800" smtClean="0">
              <a:latin typeface="Consolas" panose="020B0609020204030204" pitchFamily="49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61884" y="1238865"/>
            <a:ext cx="68884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smtClean="0">
                <a:latin typeface="Consolas" panose="020B0609020204030204" pitchFamily="49" charset="0"/>
              </a:rPr>
              <a:t>if( a &gt; b )  // cmp a,b ; 100+100</a:t>
            </a:r>
            <a:endParaRPr lang="ko-KR" altLang="en-US" sz="2800" smtClean="0">
              <a:latin typeface="Consolas" panose="020B0609020204030204" pitchFamily="49" charset="0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7942007" y="1105782"/>
            <a:ext cx="619432" cy="656303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400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8561439" y="1105782"/>
            <a:ext cx="619432" cy="656303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smtClean="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400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9180871" y="1105782"/>
            <a:ext cx="619432" cy="656303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smtClean="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400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9800303" y="1105782"/>
            <a:ext cx="619432" cy="656303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smtClean="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400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7942007" y="515847"/>
            <a:ext cx="619432" cy="65630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smtClean="0">
                <a:solidFill>
                  <a:schemeClr val="tx1"/>
                </a:solidFill>
                <a:latin typeface="Consolas" panose="020B0609020204030204" pitchFamily="49" charset="0"/>
              </a:rPr>
              <a:t>Z</a:t>
            </a:r>
            <a:endParaRPr lang="ko-KR" altLang="en-US" sz="2400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8561439" y="515847"/>
            <a:ext cx="619432" cy="65630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smtClean="0">
                <a:solidFill>
                  <a:schemeClr val="tx1"/>
                </a:solidFill>
                <a:latin typeface="Consolas" panose="020B0609020204030204" pitchFamily="49" charset="0"/>
              </a:rPr>
              <a:t>S</a:t>
            </a:r>
            <a:endParaRPr lang="ko-KR" altLang="en-US" sz="2400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9180871" y="515847"/>
            <a:ext cx="619432" cy="65630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smtClean="0">
                <a:solidFill>
                  <a:schemeClr val="tx1"/>
                </a:solidFill>
                <a:latin typeface="Consolas" panose="020B0609020204030204" pitchFamily="49" charset="0"/>
              </a:rPr>
              <a:t>C</a:t>
            </a:r>
            <a:endParaRPr lang="ko-KR" altLang="en-US" sz="2400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9800303" y="515847"/>
            <a:ext cx="619432" cy="65630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smtClean="0">
                <a:solidFill>
                  <a:schemeClr val="tx1"/>
                </a:solidFill>
                <a:latin typeface="Consolas" panose="020B0609020204030204" pitchFamily="49" charset="0"/>
              </a:rPr>
              <a:t>V</a:t>
            </a:r>
            <a:endParaRPr lang="ko-KR" altLang="en-US" sz="2400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" name="직사각형 1"/>
          <p:cNvSpPr/>
          <p:nvPr/>
        </p:nvSpPr>
        <p:spPr>
          <a:xfrm>
            <a:off x="1334729" y="2544097"/>
            <a:ext cx="412955" cy="516193"/>
          </a:xfrm>
          <a:prstGeom prst="rect">
            <a:avLst/>
          </a:prstGeom>
          <a:solidFill>
            <a:srgbClr val="FFC0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1747684" y="2544096"/>
            <a:ext cx="412955" cy="516193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2160639" y="2544095"/>
            <a:ext cx="412955" cy="516193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2573594" y="2544094"/>
            <a:ext cx="412955" cy="516193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7" name="직사각형 16"/>
          <p:cNvSpPr/>
          <p:nvPr/>
        </p:nvSpPr>
        <p:spPr>
          <a:xfrm>
            <a:off x="2986549" y="2544093"/>
            <a:ext cx="412955" cy="516193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3399504" y="2544092"/>
            <a:ext cx="412955" cy="516193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9" name="직사각형 18"/>
          <p:cNvSpPr/>
          <p:nvPr/>
        </p:nvSpPr>
        <p:spPr>
          <a:xfrm>
            <a:off x="3812459" y="2544091"/>
            <a:ext cx="412955" cy="516193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0" name="직사각형 19"/>
          <p:cNvSpPr/>
          <p:nvPr/>
        </p:nvSpPr>
        <p:spPr>
          <a:xfrm>
            <a:off x="4225414" y="2544090"/>
            <a:ext cx="412955" cy="516193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1334729" y="3171237"/>
            <a:ext cx="412955" cy="516193"/>
          </a:xfrm>
          <a:prstGeom prst="rect">
            <a:avLst/>
          </a:prstGeom>
          <a:solidFill>
            <a:srgbClr val="FFC0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1747684" y="3171236"/>
            <a:ext cx="412955" cy="516193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2160639" y="3171235"/>
            <a:ext cx="412955" cy="516193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2573594" y="3171234"/>
            <a:ext cx="412955" cy="516193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2986549" y="3171233"/>
            <a:ext cx="412955" cy="516193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3399504" y="3171232"/>
            <a:ext cx="412955" cy="516193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3812459" y="3171231"/>
            <a:ext cx="412955" cy="516193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25414" y="3171230"/>
            <a:ext cx="412955" cy="516193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920152" y="3164203"/>
            <a:ext cx="3818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smtClean="0">
                <a:latin typeface="Consolas" panose="020B0609020204030204" pitchFamily="49" charset="0"/>
              </a:rPr>
              <a:t>+</a:t>
            </a:r>
            <a:endParaRPr lang="ko-KR" altLang="en-US" sz="2800" smtClean="0">
              <a:latin typeface="Consolas" panose="020B0609020204030204" pitchFamily="49" charset="0"/>
            </a:endParaRPr>
          </a:p>
        </p:txBody>
      </p:sp>
      <p:cxnSp>
        <p:nvCxnSpPr>
          <p:cNvPr id="30" name="직선 연결선 29"/>
          <p:cNvCxnSpPr/>
          <p:nvPr/>
        </p:nvCxnSpPr>
        <p:spPr>
          <a:xfrm>
            <a:off x="737419" y="3841955"/>
            <a:ext cx="429915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직사각형 30"/>
          <p:cNvSpPr/>
          <p:nvPr/>
        </p:nvSpPr>
        <p:spPr>
          <a:xfrm>
            <a:off x="1334729" y="3996481"/>
            <a:ext cx="412955" cy="516193"/>
          </a:xfrm>
          <a:prstGeom prst="rect">
            <a:avLst/>
          </a:prstGeom>
          <a:solidFill>
            <a:srgbClr val="FFC0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2" name="직사각형 31"/>
          <p:cNvSpPr/>
          <p:nvPr/>
        </p:nvSpPr>
        <p:spPr>
          <a:xfrm>
            <a:off x="1747684" y="3996480"/>
            <a:ext cx="412955" cy="516193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3" name="직사각형 32"/>
          <p:cNvSpPr/>
          <p:nvPr/>
        </p:nvSpPr>
        <p:spPr>
          <a:xfrm>
            <a:off x="2160639" y="3996479"/>
            <a:ext cx="412955" cy="516193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4" name="직사각형 33"/>
          <p:cNvSpPr/>
          <p:nvPr/>
        </p:nvSpPr>
        <p:spPr>
          <a:xfrm>
            <a:off x="2573594" y="3996478"/>
            <a:ext cx="412955" cy="516193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5" name="직사각형 34"/>
          <p:cNvSpPr/>
          <p:nvPr/>
        </p:nvSpPr>
        <p:spPr>
          <a:xfrm>
            <a:off x="2986549" y="3996477"/>
            <a:ext cx="412955" cy="516193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3399504" y="3996476"/>
            <a:ext cx="412955" cy="516193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812459" y="3996475"/>
            <a:ext cx="412955" cy="516193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4225414" y="3996474"/>
            <a:ext cx="412955" cy="516193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5941083" y="2902593"/>
            <a:ext cx="4543231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smtClean="0">
                <a:latin typeface="Consolas" panose="020B0609020204030204" pitchFamily="49" charset="0"/>
              </a:rPr>
              <a:t>signed </a:t>
            </a:r>
            <a:r>
              <a:rPr lang="ko-KR" altLang="en-US" sz="2800" smtClean="0">
                <a:latin typeface="Consolas" panose="020B0609020204030204" pitchFamily="49" charset="0"/>
              </a:rPr>
              <a:t>에서는 </a:t>
            </a:r>
            <a:r>
              <a:rPr lang="en-US" altLang="ko-KR" sz="2800" smtClean="0">
                <a:latin typeface="Consolas" panose="020B0609020204030204" pitchFamily="49" charset="0"/>
              </a:rPr>
              <a:t>S==V </a:t>
            </a:r>
            <a:r>
              <a:rPr lang="ko-KR" altLang="en-US" sz="2800" smtClean="0">
                <a:latin typeface="Consolas" panose="020B0609020204030204" pitchFamily="49" charset="0"/>
              </a:rPr>
              <a:t>이면</a:t>
            </a:r>
            <a:endParaRPr lang="en-US" altLang="ko-KR" sz="2800" smtClean="0">
              <a:latin typeface="Consolas" panose="020B0609020204030204" pitchFamily="49" charset="0"/>
            </a:endParaRPr>
          </a:p>
          <a:p>
            <a:r>
              <a:rPr lang="ko-KR" altLang="en-US" sz="2800" smtClean="0">
                <a:latin typeface="Consolas" panose="020B0609020204030204" pitchFamily="49" charset="0"/>
              </a:rPr>
              <a:t>앞 숫자가 크다</a:t>
            </a:r>
            <a:r>
              <a:rPr lang="en-US" altLang="ko-KR" sz="2800" smtClean="0">
                <a:latin typeface="Consolas" panose="020B0609020204030204" pitchFamily="49" charset="0"/>
              </a:rPr>
              <a:t>.</a:t>
            </a:r>
            <a:endParaRPr lang="ko-KR" altLang="en-US" sz="2800" smtClean="0">
              <a:latin typeface="Consolas" panose="020B0609020204030204" pitchFamily="49" charset="0"/>
            </a:endParaRPr>
          </a:p>
        </p:txBody>
      </p:sp>
      <p:sp>
        <p:nvSpPr>
          <p:cNvPr id="39" name="직사각형 38"/>
          <p:cNvSpPr/>
          <p:nvPr/>
        </p:nvSpPr>
        <p:spPr>
          <a:xfrm>
            <a:off x="1346233" y="2049680"/>
            <a:ext cx="412955" cy="5161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smtClean="0">
                <a:solidFill>
                  <a:schemeClr val="tx1"/>
                </a:solidFill>
                <a:latin typeface="Consolas" panose="020B0609020204030204" pitchFamily="49" charset="0"/>
              </a:rPr>
              <a:t>128</a:t>
            </a:r>
            <a:endParaRPr lang="ko-KR" altLang="en-US" sz="1100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0" name="직사각형 39"/>
          <p:cNvSpPr/>
          <p:nvPr/>
        </p:nvSpPr>
        <p:spPr>
          <a:xfrm>
            <a:off x="1759188" y="2049679"/>
            <a:ext cx="412955" cy="5161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smtClean="0">
                <a:solidFill>
                  <a:schemeClr val="tx1"/>
                </a:solidFill>
                <a:latin typeface="Consolas" panose="020B0609020204030204" pitchFamily="49" charset="0"/>
              </a:rPr>
              <a:t>64</a:t>
            </a:r>
            <a:endParaRPr lang="ko-KR" altLang="en-US" sz="1100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1" name="직사각형 40"/>
          <p:cNvSpPr/>
          <p:nvPr/>
        </p:nvSpPr>
        <p:spPr>
          <a:xfrm>
            <a:off x="2172143" y="2049678"/>
            <a:ext cx="412955" cy="5161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smtClean="0">
                <a:solidFill>
                  <a:schemeClr val="tx1"/>
                </a:solidFill>
                <a:latin typeface="Consolas" panose="020B0609020204030204" pitchFamily="49" charset="0"/>
              </a:rPr>
              <a:t>32</a:t>
            </a:r>
            <a:endParaRPr lang="ko-KR" altLang="en-US" sz="1100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2" name="직사각형 41"/>
          <p:cNvSpPr/>
          <p:nvPr/>
        </p:nvSpPr>
        <p:spPr>
          <a:xfrm>
            <a:off x="2585098" y="2049677"/>
            <a:ext cx="412955" cy="5161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smtClean="0">
                <a:solidFill>
                  <a:schemeClr val="tx1"/>
                </a:solidFill>
                <a:latin typeface="Consolas" panose="020B0609020204030204" pitchFamily="49" charset="0"/>
              </a:rPr>
              <a:t>16</a:t>
            </a:r>
            <a:endParaRPr lang="ko-KR" altLang="en-US" sz="1100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2998053" y="2049676"/>
            <a:ext cx="412955" cy="5161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smtClean="0">
                <a:solidFill>
                  <a:schemeClr val="tx1"/>
                </a:solidFill>
                <a:latin typeface="Consolas" panose="020B0609020204030204" pitchFamily="49" charset="0"/>
              </a:rPr>
              <a:t>8</a:t>
            </a:r>
            <a:endParaRPr lang="ko-KR" altLang="en-US" sz="1100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4" name="직사각형 43"/>
          <p:cNvSpPr/>
          <p:nvPr/>
        </p:nvSpPr>
        <p:spPr>
          <a:xfrm>
            <a:off x="3411008" y="2049675"/>
            <a:ext cx="412955" cy="5161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smtClean="0">
                <a:solidFill>
                  <a:schemeClr val="tx1"/>
                </a:solidFill>
                <a:latin typeface="Consolas" panose="020B0609020204030204" pitchFamily="49" charset="0"/>
              </a:rPr>
              <a:t>4</a:t>
            </a:r>
            <a:endParaRPr lang="ko-KR" altLang="en-US" sz="1100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6" name="직사각형 45"/>
          <p:cNvSpPr/>
          <p:nvPr/>
        </p:nvSpPr>
        <p:spPr>
          <a:xfrm>
            <a:off x="3823963" y="2049674"/>
            <a:ext cx="412955" cy="5161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smtClean="0">
                <a:solidFill>
                  <a:schemeClr val="tx1"/>
                </a:solidFill>
                <a:latin typeface="Consolas" panose="020B0609020204030204" pitchFamily="49" charset="0"/>
              </a:rPr>
              <a:t>2</a:t>
            </a:r>
            <a:endParaRPr lang="ko-KR" altLang="en-US" sz="1100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7" name="직사각형 46"/>
          <p:cNvSpPr/>
          <p:nvPr/>
        </p:nvSpPr>
        <p:spPr>
          <a:xfrm>
            <a:off x="4236918" y="2049673"/>
            <a:ext cx="412955" cy="5161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smtClean="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1100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318138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061884" y="368710"/>
            <a:ext cx="39308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smtClean="0">
                <a:latin typeface="Consolas" panose="020B0609020204030204" pitchFamily="49" charset="0"/>
              </a:rPr>
              <a:t>char a=-100, b=100;</a:t>
            </a:r>
            <a:endParaRPr lang="ko-KR" altLang="en-US" sz="2800" smtClean="0">
              <a:latin typeface="Consolas" panose="020B0609020204030204" pitchFamily="49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3996" y="1293646"/>
            <a:ext cx="747993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smtClean="0">
                <a:latin typeface="Consolas" panose="020B0609020204030204" pitchFamily="49" charset="0"/>
              </a:rPr>
              <a:t>if( a &gt; b )  // cmp a,b ; -100+(-100)</a:t>
            </a:r>
            <a:endParaRPr lang="ko-KR" altLang="en-US" sz="2800" smtClean="0">
              <a:latin typeface="Consolas" panose="020B0609020204030204" pitchFamily="49" charset="0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7942007" y="1105782"/>
            <a:ext cx="619432" cy="656303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400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8561439" y="1105782"/>
            <a:ext cx="619432" cy="656303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400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9180871" y="1105782"/>
            <a:ext cx="619432" cy="656303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smtClean="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400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9800303" y="1105782"/>
            <a:ext cx="619432" cy="656303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smtClean="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400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7942007" y="515847"/>
            <a:ext cx="619432" cy="65630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smtClean="0">
                <a:solidFill>
                  <a:schemeClr val="tx1"/>
                </a:solidFill>
                <a:latin typeface="Consolas" panose="020B0609020204030204" pitchFamily="49" charset="0"/>
              </a:rPr>
              <a:t>Z</a:t>
            </a:r>
            <a:endParaRPr lang="ko-KR" altLang="en-US" sz="2400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8561439" y="515847"/>
            <a:ext cx="619432" cy="65630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smtClean="0">
                <a:solidFill>
                  <a:schemeClr val="tx1"/>
                </a:solidFill>
                <a:latin typeface="Consolas" panose="020B0609020204030204" pitchFamily="49" charset="0"/>
              </a:rPr>
              <a:t>S</a:t>
            </a:r>
            <a:endParaRPr lang="ko-KR" altLang="en-US" sz="2400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9180871" y="515847"/>
            <a:ext cx="619432" cy="65630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smtClean="0">
                <a:solidFill>
                  <a:schemeClr val="tx1"/>
                </a:solidFill>
                <a:latin typeface="Consolas" panose="020B0609020204030204" pitchFamily="49" charset="0"/>
              </a:rPr>
              <a:t>C</a:t>
            </a:r>
            <a:endParaRPr lang="ko-KR" altLang="en-US" sz="2400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9800303" y="515847"/>
            <a:ext cx="619432" cy="65630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smtClean="0">
                <a:solidFill>
                  <a:schemeClr val="tx1"/>
                </a:solidFill>
                <a:latin typeface="Consolas" panose="020B0609020204030204" pitchFamily="49" charset="0"/>
              </a:rPr>
              <a:t>V</a:t>
            </a:r>
            <a:endParaRPr lang="ko-KR" altLang="en-US" sz="2400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" name="직사각형 1"/>
          <p:cNvSpPr/>
          <p:nvPr/>
        </p:nvSpPr>
        <p:spPr>
          <a:xfrm>
            <a:off x="1334729" y="2544097"/>
            <a:ext cx="412955" cy="516193"/>
          </a:xfrm>
          <a:prstGeom prst="rect">
            <a:avLst/>
          </a:prstGeom>
          <a:solidFill>
            <a:srgbClr val="FFC0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1747684" y="2544096"/>
            <a:ext cx="412955" cy="516193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2160639" y="2544095"/>
            <a:ext cx="412955" cy="516193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2573594" y="2544094"/>
            <a:ext cx="412955" cy="516193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7" name="직사각형 16"/>
          <p:cNvSpPr/>
          <p:nvPr/>
        </p:nvSpPr>
        <p:spPr>
          <a:xfrm>
            <a:off x="2986549" y="2544093"/>
            <a:ext cx="412955" cy="516193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3399504" y="2544092"/>
            <a:ext cx="412955" cy="516193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9" name="직사각형 18"/>
          <p:cNvSpPr/>
          <p:nvPr/>
        </p:nvSpPr>
        <p:spPr>
          <a:xfrm>
            <a:off x="3812459" y="2544091"/>
            <a:ext cx="412955" cy="516193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0" name="직사각형 19"/>
          <p:cNvSpPr/>
          <p:nvPr/>
        </p:nvSpPr>
        <p:spPr>
          <a:xfrm>
            <a:off x="4225414" y="2544090"/>
            <a:ext cx="412955" cy="516193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1334729" y="3171237"/>
            <a:ext cx="412955" cy="516193"/>
          </a:xfrm>
          <a:prstGeom prst="rect">
            <a:avLst/>
          </a:prstGeom>
          <a:solidFill>
            <a:srgbClr val="FFC0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1747684" y="3171236"/>
            <a:ext cx="412955" cy="516193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2160639" y="3171235"/>
            <a:ext cx="412955" cy="516193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2573594" y="3171234"/>
            <a:ext cx="412955" cy="516193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2986549" y="3171233"/>
            <a:ext cx="412955" cy="516193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3399504" y="3171232"/>
            <a:ext cx="412955" cy="516193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3812459" y="3171231"/>
            <a:ext cx="412955" cy="516193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25414" y="3171230"/>
            <a:ext cx="412955" cy="516193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920152" y="3164203"/>
            <a:ext cx="3818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smtClean="0">
                <a:latin typeface="Consolas" panose="020B0609020204030204" pitchFamily="49" charset="0"/>
              </a:rPr>
              <a:t>+</a:t>
            </a:r>
            <a:endParaRPr lang="ko-KR" altLang="en-US" sz="2800" smtClean="0">
              <a:latin typeface="Consolas" panose="020B0609020204030204" pitchFamily="49" charset="0"/>
            </a:endParaRPr>
          </a:p>
        </p:txBody>
      </p:sp>
      <p:cxnSp>
        <p:nvCxnSpPr>
          <p:cNvPr id="30" name="직선 연결선 29"/>
          <p:cNvCxnSpPr/>
          <p:nvPr/>
        </p:nvCxnSpPr>
        <p:spPr>
          <a:xfrm>
            <a:off x="737419" y="3841955"/>
            <a:ext cx="429915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직사각형 30"/>
          <p:cNvSpPr/>
          <p:nvPr/>
        </p:nvSpPr>
        <p:spPr>
          <a:xfrm>
            <a:off x="1334729" y="3996481"/>
            <a:ext cx="412955" cy="516193"/>
          </a:xfrm>
          <a:prstGeom prst="rect">
            <a:avLst/>
          </a:prstGeom>
          <a:solidFill>
            <a:srgbClr val="FFC0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2" name="직사각형 31"/>
          <p:cNvSpPr/>
          <p:nvPr/>
        </p:nvSpPr>
        <p:spPr>
          <a:xfrm>
            <a:off x="1747684" y="3996480"/>
            <a:ext cx="412955" cy="516193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3" name="직사각형 32"/>
          <p:cNvSpPr/>
          <p:nvPr/>
        </p:nvSpPr>
        <p:spPr>
          <a:xfrm>
            <a:off x="2160639" y="3996479"/>
            <a:ext cx="412955" cy="516193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4" name="직사각형 33"/>
          <p:cNvSpPr/>
          <p:nvPr/>
        </p:nvSpPr>
        <p:spPr>
          <a:xfrm>
            <a:off x="2573594" y="3996478"/>
            <a:ext cx="412955" cy="516193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5" name="직사각형 34"/>
          <p:cNvSpPr/>
          <p:nvPr/>
        </p:nvSpPr>
        <p:spPr>
          <a:xfrm>
            <a:off x="2986549" y="3996477"/>
            <a:ext cx="412955" cy="516193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3399504" y="3996476"/>
            <a:ext cx="412955" cy="516193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812459" y="3996475"/>
            <a:ext cx="412955" cy="516193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4225414" y="3996474"/>
            <a:ext cx="412955" cy="516193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5941083" y="2902593"/>
            <a:ext cx="4543231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smtClean="0">
                <a:latin typeface="Consolas" panose="020B0609020204030204" pitchFamily="49" charset="0"/>
              </a:rPr>
              <a:t>signed </a:t>
            </a:r>
            <a:r>
              <a:rPr lang="ko-KR" altLang="en-US" sz="2800" smtClean="0">
                <a:latin typeface="Consolas" panose="020B0609020204030204" pitchFamily="49" charset="0"/>
              </a:rPr>
              <a:t>에서는 </a:t>
            </a:r>
            <a:r>
              <a:rPr lang="en-US" altLang="ko-KR" sz="2800" smtClean="0">
                <a:latin typeface="Consolas" panose="020B0609020204030204" pitchFamily="49" charset="0"/>
              </a:rPr>
              <a:t>S!=V </a:t>
            </a:r>
            <a:r>
              <a:rPr lang="ko-KR" altLang="en-US" sz="2800" smtClean="0">
                <a:latin typeface="Consolas" panose="020B0609020204030204" pitchFamily="49" charset="0"/>
              </a:rPr>
              <a:t>이면</a:t>
            </a:r>
            <a:endParaRPr lang="en-US" altLang="ko-KR" sz="2800" smtClean="0">
              <a:latin typeface="Consolas" panose="020B0609020204030204" pitchFamily="49" charset="0"/>
            </a:endParaRPr>
          </a:p>
          <a:p>
            <a:r>
              <a:rPr lang="ko-KR" altLang="en-US" sz="2800" smtClean="0">
                <a:latin typeface="Consolas" panose="020B0609020204030204" pitchFamily="49" charset="0"/>
              </a:rPr>
              <a:t>앞 숫자가 </a:t>
            </a:r>
            <a:r>
              <a:rPr lang="ko-KR" altLang="en-US" sz="2800">
                <a:latin typeface="Consolas" panose="020B0609020204030204" pitchFamily="49" charset="0"/>
              </a:rPr>
              <a:t>작</a:t>
            </a:r>
            <a:r>
              <a:rPr lang="ko-KR" altLang="en-US" sz="2800" smtClean="0">
                <a:latin typeface="Consolas" panose="020B0609020204030204" pitchFamily="49" charset="0"/>
              </a:rPr>
              <a:t>다</a:t>
            </a:r>
            <a:r>
              <a:rPr lang="en-US" altLang="ko-KR" sz="2800" smtClean="0">
                <a:latin typeface="Consolas" panose="020B0609020204030204" pitchFamily="49" charset="0"/>
              </a:rPr>
              <a:t>.</a:t>
            </a:r>
            <a:endParaRPr lang="ko-KR" altLang="en-US" sz="2800" smtClean="0">
              <a:latin typeface="Consolas" panose="020B0609020204030204" pitchFamily="49" charset="0"/>
            </a:endParaRPr>
          </a:p>
        </p:txBody>
      </p:sp>
      <p:sp>
        <p:nvSpPr>
          <p:cNvPr id="39" name="직사각형 38"/>
          <p:cNvSpPr/>
          <p:nvPr/>
        </p:nvSpPr>
        <p:spPr>
          <a:xfrm>
            <a:off x="1346233" y="2049680"/>
            <a:ext cx="412955" cy="5161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smtClean="0">
                <a:solidFill>
                  <a:schemeClr val="tx1"/>
                </a:solidFill>
                <a:latin typeface="Consolas" panose="020B0609020204030204" pitchFamily="49" charset="0"/>
              </a:rPr>
              <a:t>128</a:t>
            </a:r>
            <a:endParaRPr lang="ko-KR" altLang="en-US" sz="1100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0" name="직사각형 39"/>
          <p:cNvSpPr/>
          <p:nvPr/>
        </p:nvSpPr>
        <p:spPr>
          <a:xfrm>
            <a:off x="1759188" y="2049679"/>
            <a:ext cx="412955" cy="5161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smtClean="0">
                <a:solidFill>
                  <a:schemeClr val="tx1"/>
                </a:solidFill>
                <a:latin typeface="Consolas" panose="020B0609020204030204" pitchFamily="49" charset="0"/>
              </a:rPr>
              <a:t>64</a:t>
            </a:r>
            <a:endParaRPr lang="ko-KR" altLang="en-US" sz="1100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1" name="직사각형 40"/>
          <p:cNvSpPr/>
          <p:nvPr/>
        </p:nvSpPr>
        <p:spPr>
          <a:xfrm>
            <a:off x="2172143" y="2049678"/>
            <a:ext cx="412955" cy="5161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smtClean="0">
                <a:solidFill>
                  <a:schemeClr val="tx1"/>
                </a:solidFill>
                <a:latin typeface="Consolas" panose="020B0609020204030204" pitchFamily="49" charset="0"/>
              </a:rPr>
              <a:t>32</a:t>
            </a:r>
            <a:endParaRPr lang="ko-KR" altLang="en-US" sz="1100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2" name="직사각형 41"/>
          <p:cNvSpPr/>
          <p:nvPr/>
        </p:nvSpPr>
        <p:spPr>
          <a:xfrm>
            <a:off x="2585098" y="2049677"/>
            <a:ext cx="412955" cy="5161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smtClean="0">
                <a:solidFill>
                  <a:schemeClr val="tx1"/>
                </a:solidFill>
                <a:latin typeface="Consolas" panose="020B0609020204030204" pitchFamily="49" charset="0"/>
              </a:rPr>
              <a:t>16</a:t>
            </a:r>
            <a:endParaRPr lang="ko-KR" altLang="en-US" sz="1100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2998053" y="2049676"/>
            <a:ext cx="412955" cy="5161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smtClean="0">
                <a:solidFill>
                  <a:schemeClr val="tx1"/>
                </a:solidFill>
                <a:latin typeface="Consolas" panose="020B0609020204030204" pitchFamily="49" charset="0"/>
              </a:rPr>
              <a:t>8</a:t>
            </a:r>
            <a:endParaRPr lang="ko-KR" altLang="en-US" sz="1100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4" name="직사각형 43"/>
          <p:cNvSpPr/>
          <p:nvPr/>
        </p:nvSpPr>
        <p:spPr>
          <a:xfrm>
            <a:off x="3411008" y="2049675"/>
            <a:ext cx="412955" cy="5161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smtClean="0">
                <a:solidFill>
                  <a:schemeClr val="tx1"/>
                </a:solidFill>
                <a:latin typeface="Consolas" panose="020B0609020204030204" pitchFamily="49" charset="0"/>
              </a:rPr>
              <a:t>4</a:t>
            </a:r>
            <a:endParaRPr lang="ko-KR" altLang="en-US" sz="1100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6" name="직사각형 45"/>
          <p:cNvSpPr/>
          <p:nvPr/>
        </p:nvSpPr>
        <p:spPr>
          <a:xfrm>
            <a:off x="3823963" y="2049674"/>
            <a:ext cx="412955" cy="5161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smtClean="0">
                <a:solidFill>
                  <a:schemeClr val="tx1"/>
                </a:solidFill>
                <a:latin typeface="Consolas" panose="020B0609020204030204" pitchFamily="49" charset="0"/>
              </a:rPr>
              <a:t>2</a:t>
            </a:r>
            <a:endParaRPr lang="ko-KR" altLang="en-US" sz="1100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7" name="직사각형 46"/>
          <p:cNvSpPr/>
          <p:nvPr/>
        </p:nvSpPr>
        <p:spPr>
          <a:xfrm>
            <a:off x="4236918" y="2049673"/>
            <a:ext cx="412955" cy="5161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smtClean="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1100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944246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973394" y="1799306"/>
            <a:ext cx="3474028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smtClean="0">
                <a:latin typeface="Consolas" panose="020B0609020204030204" pitchFamily="49" charset="0"/>
              </a:rPr>
              <a:t>int main()</a:t>
            </a:r>
          </a:p>
          <a:p>
            <a:r>
              <a:rPr lang="en-US" altLang="ko-KR" sz="2800">
                <a:latin typeface="Consolas" panose="020B0609020204030204" pitchFamily="49" charset="0"/>
              </a:rPr>
              <a:t>{</a:t>
            </a:r>
            <a:endParaRPr lang="en-US" altLang="ko-KR" sz="2800" smtClean="0">
              <a:latin typeface="Consolas" panose="020B0609020204030204" pitchFamily="49" charset="0"/>
            </a:endParaRPr>
          </a:p>
          <a:p>
            <a:r>
              <a:rPr lang="en-US" altLang="ko-KR" sz="2800" smtClean="0">
                <a:latin typeface="Consolas" panose="020B0609020204030204" pitchFamily="49" charset="0"/>
              </a:rPr>
              <a:t>	int a=3;</a:t>
            </a:r>
          </a:p>
          <a:p>
            <a:r>
              <a:rPr lang="en-US" altLang="ko-KR" sz="2800" smtClean="0">
                <a:latin typeface="Consolas" panose="020B0609020204030204" pitchFamily="49" charset="0"/>
              </a:rPr>
              <a:t>	int *p = &amp;a;</a:t>
            </a:r>
          </a:p>
          <a:p>
            <a:r>
              <a:rPr lang="en-US" altLang="ko-KR" sz="2800" smtClean="0">
                <a:latin typeface="Consolas" panose="020B0609020204030204" pitchFamily="49" charset="0"/>
              </a:rPr>
              <a:t>	*p = 4;</a:t>
            </a:r>
          </a:p>
          <a:p>
            <a:r>
              <a:rPr lang="en-US" altLang="ko-KR" sz="2800">
                <a:latin typeface="Consolas" panose="020B0609020204030204" pitchFamily="49" charset="0"/>
              </a:rPr>
              <a:t>}</a:t>
            </a:r>
            <a:endParaRPr lang="ko-KR" altLang="en-US" sz="2800" smtClean="0">
              <a:latin typeface="Consolas" panose="020B0609020204030204" pitchFamily="49" charset="0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7034980" y="235974"/>
            <a:ext cx="2168013" cy="375346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7034980" y="1873047"/>
            <a:ext cx="2168013" cy="553064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4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202993" y="1964913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mtClean="0">
                <a:latin typeface="Consolas" panose="020B0609020204030204" pitchFamily="49" charset="0"/>
              </a:rPr>
              <a:t>a</a:t>
            </a:r>
            <a:endParaRPr lang="ko-KR" altLang="en-US" smtClean="0">
              <a:latin typeface="Consolas" panose="020B0609020204030204" pitchFamily="49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089569" y="1688381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mtClean="0">
                <a:latin typeface="Consolas" panose="020B0609020204030204" pitchFamily="49" charset="0"/>
              </a:rPr>
              <a:t>1000</a:t>
            </a:r>
            <a:endParaRPr lang="ko-KR" altLang="en-US" smtClean="0">
              <a:latin typeface="Consolas" panose="020B0609020204030204" pitchFamily="49" charset="0"/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7034980" y="1319983"/>
            <a:ext cx="2168013" cy="553064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1000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202993" y="1411849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mtClean="0">
                <a:latin typeface="Consolas" panose="020B0609020204030204" pitchFamily="49" charset="0"/>
              </a:rPr>
              <a:t>p</a:t>
            </a:r>
            <a:endParaRPr lang="ko-KR" altLang="en-US" smtClean="0">
              <a:latin typeface="Consolas" panose="020B0609020204030204" pitchFamily="49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216206" y="1135317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mtClean="0">
                <a:latin typeface="Consolas" panose="020B0609020204030204" pitchFamily="49" charset="0"/>
              </a:rPr>
              <a:t>996</a:t>
            </a:r>
            <a:endParaRPr lang="ko-KR" altLang="en-US" smtClean="0">
              <a:latin typeface="Consolas" panose="020B0609020204030204" pitchFamily="49" charset="0"/>
            </a:endParaRPr>
          </a:p>
        </p:txBody>
      </p:sp>
      <p:sp>
        <p:nvSpPr>
          <p:cNvPr id="12" name="타원 11"/>
          <p:cNvSpPr/>
          <p:nvPr/>
        </p:nvSpPr>
        <p:spPr>
          <a:xfrm>
            <a:off x="7026443" y="1799306"/>
            <a:ext cx="147482" cy="147482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14" name="꺾인 연결선 13"/>
          <p:cNvCxnSpPr>
            <a:stCxn id="9" idx="1"/>
            <a:endCxn id="12" idx="2"/>
          </p:cNvCxnSpPr>
          <p:nvPr/>
        </p:nvCxnSpPr>
        <p:spPr>
          <a:xfrm rot="10800000" flipV="1">
            <a:off x="7026444" y="1596515"/>
            <a:ext cx="8537" cy="276532"/>
          </a:xfrm>
          <a:prstGeom prst="bentConnector3">
            <a:avLst>
              <a:gd name="adj1" fmla="val 2777756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896378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501787" y="523571"/>
            <a:ext cx="3142207" cy="44012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smtClean="0">
                <a:latin typeface="Consolas" panose="020B0609020204030204" pitchFamily="49" charset="0"/>
              </a:rPr>
              <a:t>void foo(int a)</a:t>
            </a:r>
          </a:p>
          <a:p>
            <a:r>
              <a:rPr lang="en-US" altLang="ko-KR" sz="2800" smtClean="0">
                <a:latin typeface="Consolas" panose="020B0609020204030204" pitchFamily="49" charset="0"/>
              </a:rPr>
              <a:t>{</a:t>
            </a:r>
          </a:p>
          <a:p>
            <a:r>
              <a:rPr lang="en-US" altLang="ko-KR" sz="2800">
                <a:latin typeface="Consolas" panose="020B0609020204030204" pitchFamily="49" charset="0"/>
              </a:rPr>
              <a:t> </a:t>
            </a:r>
            <a:r>
              <a:rPr lang="en-US" altLang="ko-KR" sz="2800" smtClean="0">
                <a:latin typeface="Consolas" panose="020B0609020204030204" pitchFamily="49" charset="0"/>
              </a:rPr>
              <a:t>    a = 4;</a:t>
            </a:r>
          </a:p>
          <a:p>
            <a:r>
              <a:rPr lang="en-US" altLang="ko-KR" sz="2800">
                <a:latin typeface="Consolas" panose="020B0609020204030204" pitchFamily="49" charset="0"/>
              </a:rPr>
              <a:t>}</a:t>
            </a:r>
            <a:endParaRPr lang="en-US" altLang="ko-KR" sz="2800" smtClean="0">
              <a:latin typeface="Consolas" panose="020B0609020204030204" pitchFamily="49" charset="0"/>
            </a:endParaRPr>
          </a:p>
          <a:p>
            <a:endParaRPr lang="en-US" altLang="ko-KR" sz="2800">
              <a:latin typeface="Consolas" panose="020B0609020204030204" pitchFamily="49" charset="0"/>
            </a:endParaRPr>
          </a:p>
          <a:p>
            <a:r>
              <a:rPr lang="en-US" altLang="ko-KR" sz="2800" smtClean="0">
                <a:latin typeface="Consolas" panose="020B0609020204030204" pitchFamily="49" charset="0"/>
              </a:rPr>
              <a:t>int main()</a:t>
            </a:r>
          </a:p>
          <a:p>
            <a:r>
              <a:rPr lang="en-US" altLang="ko-KR" sz="2800">
                <a:latin typeface="Consolas" panose="020B0609020204030204" pitchFamily="49" charset="0"/>
              </a:rPr>
              <a:t>{</a:t>
            </a:r>
            <a:endParaRPr lang="en-US" altLang="ko-KR" sz="2800" smtClean="0">
              <a:latin typeface="Consolas" panose="020B0609020204030204" pitchFamily="49" charset="0"/>
            </a:endParaRPr>
          </a:p>
          <a:p>
            <a:r>
              <a:rPr lang="en-US" altLang="ko-KR" sz="2800" smtClean="0">
                <a:latin typeface="Consolas" panose="020B0609020204030204" pitchFamily="49" charset="0"/>
              </a:rPr>
              <a:t>	int a=3;</a:t>
            </a:r>
          </a:p>
          <a:p>
            <a:r>
              <a:rPr lang="en-US" altLang="ko-KR" sz="2800" smtClean="0">
                <a:latin typeface="Consolas" panose="020B0609020204030204" pitchFamily="49" charset="0"/>
              </a:rPr>
              <a:t>     foo(a);</a:t>
            </a:r>
          </a:p>
          <a:p>
            <a:r>
              <a:rPr lang="en-US" altLang="ko-KR" sz="2800" smtClean="0">
                <a:latin typeface="Consolas" panose="020B0609020204030204" pitchFamily="49" charset="0"/>
              </a:rPr>
              <a:t>}</a:t>
            </a:r>
            <a:endParaRPr lang="ko-KR" altLang="en-US" sz="2800" smtClean="0">
              <a:latin typeface="Consolas" panose="020B0609020204030204" pitchFamily="49" charset="0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7034980" y="235974"/>
            <a:ext cx="2168013" cy="375346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7034979" y="1920978"/>
            <a:ext cx="2168013" cy="553064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3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202993" y="1964913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mtClean="0">
                <a:latin typeface="Consolas" panose="020B0609020204030204" pitchFamily="49" charset="0"/>
              </a:rPr>
              <a:t>a</a:t>
            </a:r>
            <a:endParaRPr lang="ko-KR" altLang="en-US" smtClean="0">
              <a:latin typeface="Consolas" panose="020B0609020204030204" pitchFamily="49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273924" y="1688381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mtClean="0">
                <a:latin typeface="Consolas" panose="020B0609020204030204" pitchFamily="49" charset="0"/>
              </a:rPr>
              <a:t>1000</a:t>
            </a:r>
            <a:endParaRPr lang="ko-KR" altLang="en-US" smtClean="0">
              <a:latin typeface="Consolas" panose="020B0609020204030204" pitchFamily="49" charset="0"/>
            </a:endParaRPr>
          </a:p>
        </p:txBody>
      </p:sp>
      <p:cxnSp>
        <p:nvCxnSpPr>
          <p:cNvPr id="3" name="직선 연결선 2"/>
          <p:cNvCxnSpPr/>
          <p:nvPr/>
        </p:nvCxnSpPr>
        <p:spPr>
          <a:xfrm>
            <a:off x="5707626" y="1489587"/>
            <a:ext cx="4704735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0080523" y="656303"/>
            <a:ext cx="8178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mtClean="0">
                <a:latin typeface="Consolas" panose="020B0609020204030204" pitchFamily="49" charset="0"/>
              </a:rPr>
              <a:t>foo()</a:t>
            </a:r>
            <a:endParaRPr lang="ko-KR" altLang="en-US" smtClean="0">
              <a:latin typeface="Consolas" panose="020B0609020204030204" pitchFamily="49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0080522" y="1964913"/>
            <a:ext cx="944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mtClean="0">
                <a:latin typeface="Consolas" panose="020B0609020204030204" pitchFamily="49" charset="0"/>
              </a:rPr>
              <a:t>main()</a:t>
            </a:r>
            <a:endParaRPr lang="ko-KR" altLang="en-US" smtClean="0">
              <a:latin typeface="Consolas" panose="020B0609020204030204" pitchFamily="49" charset="0"/>
            </a:endParaRPr>
          </a:p>
        </p:txBody>
      </p:sp>
      <p:sp>
        <p:nvSpPr>
          <p:cNvPr id="17" name="직사각형 16"/>
          <p:cNvSpPr/>
          <p:nvPr/>
        </p:nvSpPr>
        <p:spPr>
          <a:xfrm>
            <a:off x="7034979" y="399896"/>
            <a:ext cx="2168013" cy="553064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4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9202993" y="443831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mtClean="0">
                <a:latin typeface="Consolas" panose="020B0609020204030204" pitchFamily="49" charset="0"/>
              </a:rPr>
              <a:t>a</a:t>
            </a:r>
            <a:endParaRPr lang="ko-KR" altLang="en-US" smtClean="0">
              <a:latin typeface="Consolas" panose="020B0609020204030204" pitchFamily="49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493871" y="199418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mtClean="0">
                <a:latin typeface="Consolas" panose="020B0609020204030204" pitchFamily="49" charset="0"/>
              </a:rPr>
              <a:t>900</a:t>
            </a:r>
            <a:endParaRPr lang="ko-KR" altLang="en-US" smtClean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507738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501787" y="523571"/>
            <a:ext cx="3339376" cy="44012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smtClean="0">
                <a:latin typeface="Consolas" panose="020B0609020204030204" pitchFamily="49" charset="0"/>
              </a:rPr>
              <a:t>void foo(int *p)</a:t>
            </a:r>
          </a:p>
          <a:p>
            <a:r>
              <a:rPr lang="en-US" altLang="ko-KR" sz="2800" smtClean="0">
                <a:latin typeface="Consolas" panose="020B0609020204030204" pitchFamily="49" charset="0"/>
              </a:rPr>
              <a:t>{</a:t>
            </a:r>
          </a:p>
          <a:p>
            <a:r>
              <a:rPr lang="en-US" altLang="ko-KR" sz="2800">
                <a:latin typeface="Consolas" panose="020B0609020204030204" pitchFamily="49" charset="0"/>
              </a:rPr>
              <a:t> </a:t>
            </a:r>
            <a:r>
              <a:rPr lang="en-US" altLang="ko-KR" sz="2800" smtClean="0">
                <a:latin typeface="Consolas" panose="020B0609020204030204" pitchFamily="49" charset="0"/>
              </a:rPr>
              <a:t>    *p = 4;</a:t>
            </a:r>
          </a:p>
          <a:p>
            <a:r>
              <a:rPr lang="en-US" altLang="ko-KR" sz="2800">
                <a:latin typeface="Consolas" panose="020B0609020204030204" pitchFamily="49" charset="0"/>
              </a:rPr>
              <a:t>}</a:t>
            </a:r>
            <a:endParaRPr lang="en-US" altLang="ko-KR" sz="2800" smtClean="0">
              <a:latin typeface="Consolas" panose="020B0609020204030204" pitchFamily="49" charset="0"/>
            </a:endParaRPr>
          </a:p>
          <a:p>
            <a:endParaRPr lang="en-US" altLang="ko-KR" sz="2800">
              <a:latin typeface="Consolas" panose="020B0609020204030204" pitchFamily="49" charset="0"/>
            </a:endParaRPr>
          </a:p>
          <a:p>
            <a:r>
              <a:rPr lang="en-US" altLang="ko-KR" sz="2800" smtClean="0">
                <a:latin typeface="Consolas" panose="020B0609020204030204" pitchFamily="49" charset="0"/>
              </a:rPr>
              <a:t>int main()</a:t>
            </a:r>
          </a:p>
          <a:p>
            <a:r>
              <a:rPr lang="en-US" altLang="ko-KR" sz="2800">
                <a:latin typeface="Consolas" panose="020B0609020204030204" pitchFamily="49" charset="0"/>
              </a:rPr>
              <a:t>{</a:t>
            </a:r>
            <a:endParaRPr lang="en-US" altLang="ko-KR" sz="2800" smtClean="0">
              <a:latin typeface="Consolas" panose="020B0609020204030204" pitchFamily="49" charset="0"/>
            </a:endParaRPr>
          </a:p>
          <a:p>
            <a:r>
              <a:rPr lang="en-US" altLang="ko-KR" sz="2800" smtClean="0">
                <a:latin typeface="Consolas" panose="020B0609020204030204" pitchFamily="49" charset="0"/>
              </a:rPr>
              <a:t>	int a=3;</a:t>
            </a:r>
          </a:p>
          <a:p>
            <a:r>
              <a:rPr lang="en-US" altLang="ko-KR" sz="2800" smtClean="0">
                <a:latin typeface="Consolas" panose="020B0609020204030204" pitchFamily="49" charset="0"/>
              </a:rPr>
              <a:t>     foo(&amp;a);</a:t>
            </a:r>
          </a:p>
          <a:p>
            <a:r>
              <a:rPr lang="en-US" altLang="ko-KR" sz="2800" smtClean="0">
                <a:latin typeface="Consolas" panose="020B0609020204030204" pitchFamily="49" charset="0"/>
              </a:rPr>
              <a:t>}</a:t>
            </a:r>
            <a:endParaRPr lang="ko-KR" altLang="en-US" sz="2800" smtClean="0">
              <a:latin typeface="Consolas" panose="020B0609020204030204" pitchFamily="49" charset="0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7034980" y="235974"/>
            <a:ext cx="2168013" cy="375346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7034979" y="1920978"/>
            <a:ext cx="2168013" cy="553064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4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202993" y="1964913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mtClean="0">
                <a:latin typeface="Consolas" panose="020B0609020204030204" pitchFamily="49" charset="0"/>
              </a:rPr>
              <a:t>a</a:t>
            </a:r>
            <a:endParaRPr lang="ko-KR" altLang="en-US" smtClean="0">
              <a:latin typeface="Consolas" panose="020B0609020204030204" pitchFamily="49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273924" y="1688381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mtClean="0">
                <a:latin typeface="Consolas" panose="020B0609020204030204" pitchFamily="49" charset="0"/>
              </a:rPr>
              <a:t>1000</a:t>
            </a:r>
            <a:endParaRPr lang="ko-KR" altLang="en-US" smtClean="0">
              <a:latin typeface="Consolas" panose="020B0609020204030204" pitchFamily="49" charset="0"/>
            </a:endParaRPr>
          </a:p>
        </p:txBody>
      </p:sp>
      <p:cxnSp>
        <p:nvCxnSpPr>
          <p:cNvPr id="3" name="직선 연결선 2"/>
          <p:cNvCxnSpPr/>
          <p:nvPr/>
        </p:nvCxnSpPr>
        <p:spPr>
          <a:xfrm>
            <a:off x="5707626" y="1489587"/>
            <a:ext cx="4704735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0080523" y="656303"/>
            <a:ext cx="8178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mtClean="0">
                <a:latin typeface="Consolas" panose="020B0609020204030204" pitchFamily="49" charset="0"/>
              </a:rPr>
              <a:t>foo()</a:t>
            </a:r>
            <a:endParaRPr lang="ko-KR" altLang="en-US" smtClean="0">
              <a:latin typeface="Consolas" panose="020B0609020204030204" pitchFamily="49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0080522" y="1964913"/>
            <a:ext cx="944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mtClean="0">
                <a:latin typeface="Consolas" panose="020B0609020204030204" pitchFamily="49" charset="0"/>
              </a:rPr>
              <a:t>main()</a:t>
            </a:r>
            <a:endParaRPr lang="ko-KR" altLang="en-US" smtClean="0">
              <a:latin typeface="Consolas" panose="020B0609020204030204" pitchFamily="49" charset="0"/>
            </a:endParaRPr>
          </a:p>
        </p:txBody>
      </p:sp>
      <p:sp>
        <p:nvSpPr>
          <p:cNvPr id="17" name="직사각형 16"/>
          <p:cNvSpPr/>
          <p:nvPr/>
        </p:nvSpPr>
        <p:spPr>
          <a:xfrm>
            <a:off x="7034979" y="399896"/>
            <a:ext cx="2168013" cy="553064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1000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9202993" y="443831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mtClean="0">
                <a:latin typeface="Consolas" panose="020B0609020204030204" pitchFamily="49" charset="0"/>
              </a:rPr>
              <a:t>p</a:t>
            </a:r>
            <a:endParaRPr lang="ko-KR" altLang="en-US" smtClean="0">
              <a:latin typeface="Consolas" panose="020B0609020204030204" pitchFamily="49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493871" y="199418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mtClean="0">
                <a:latin typeface="Consolas" panose="020B0609020204030204" pitchFamily="49" charset="0"/>
              </a:rPr>
              <a:t>900</a:t>
            </a:r>
            <a:endParaRPr lang="ko-KR" altLang="en-US" smtClean="0">
              <a:latin typeface="Consolas" panose="020B0609020204030204" pitchFamily="49" charset="0"/>
            </a:endParaRPr>
          </a:p>
        </p:txBody>
      </p:sp>
      <p:sp>
        <p:nvSpPr>
          <p:cNvPr id="2" name="타원 1"/>
          <p:cNvSpPr/>
          <p:nvPr/>
        </p:nvSpPr>
        <p:spPr>
          <a:xfrm>
            <a:off x="7043149" y="1839554"/>
            <a:ext cx="136735" cy="136735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10" name="꺾인 연결선 9"/>
          <p:cNvCxnSpPr>
            <a:stCxn id="17" idx="1"/>
            <a:endCxn id="2" idx="2"/>
          </p:cNvCxnSpPr>
          <p:nvPr/>
        </p:nvCxnSpPr>
        <p:spPr>
          <a:xfrm rot="10800000" flipH="1" flipV="1">
            <a:off x="7034979" y="676428"/>
            <a:ext cx="8170" cy="1231494"/>
          </a:xfrm>
          <a:prstGeom prst="bentConnector3">
            <a:avLst>
              <a:gd name="adj1" fmla="val -2798042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5845693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501787" y="523571"/>
            <a:ext cx="5705408" cy="44012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smtClean="0">
                <a:latin typeface="Consolas" panose="020B0609020204030204" pitchFamily="49" charset="0"/>
              </a:rPr>
              <a:t>int main()</a:t>
            </a:r>
          </a:p>
          <a:p>
            <a:r>
              <a:rPr lang="en-US" altLang="ko-KR" sz="2800">
                <a:latin typeface="Consolas" panose="020B0609020204030204" pitchFamily="49" charset="0"/>
              </a:rPr>
              <a:t>{</a:t>
            </a:r>
            <a:endParaRPr lang="en-US" altLang="ko-KR" sz="2800" smtClean="0">
              <a:latin typeface="Consolas" panose="020B0609020204030204" pitchFamily="49" charset="0"/>
            </a:endParaRPr>
          </a:p>
          <a:p>
            <a:r>
              <a:rPr lang="en-US" altLang="ko-KR" sz="2800" smtClean="0">
                <a:latin typeface="Consolas" panose="020B0609020204030204" pitchFamily="49" charset="0"/>
              </a:rPr>
              <a:t>	int a[4] = {1,2,3,4};</a:t>
            </a:r>
          </a:p>
          <a:p>
            <a:r>
              <a:rPr lang="en-US" altLang="ko-KR" sz="2800">
                <a:latin typeface="Consolas" panose="020B0609020204030204" pitchFamily="49" charset="0"/>
              </a:rPr>
              <a:t> </a:t>
            </a:r>
            <a:r>
              <a:rPr lang="en-US" altLang="ko-KR" sz="2800" smtClean="0">
                <a:latin typeface="Consolas" panose="020B0609020204030204" pitchFamily="49" charset="0"/>
              </a:rPr>
              <a:t>    int *p = a;</a:t>
            </a:r>
          </a:p>
          <a:p>
            <a:endParaRPr lang="en-US" altLang="ko-KR" sz="2800">
              <a:latin typeface="Consolas" panose="020B0609020204030204" pitchFamily="49" charset="0"/>
            </a:endParaRPr>
          </a:p>
          <a:p>
            <a:r>
              <a:rPr lang="en-US" altLang="ko-KR" sz="2800" smtClean="0">
                <a:latin typeface="Consolas" panose="020B0609020204030204" pitchFamily="49" charset="0"/>
              </a:rPr>
              <a:t>     sizeof(p);       //  8 </a:t>
            </a:r>
          </a:p>
          <a:p>
            <a:r>
              <a:rPr lang="en-US" altLang="ko-KR" sz="2800" smtClean="0">
                <a:latin typeface="Consolas" panose="020B0609020204030204" pitchFamily="49" charset="0"/>
              </a:rPr>
              <a:t>     sizeof(</a:t>
            </a:r>
            <a:r>
              <a:rPr lang="en-US" altLang="ko-KR" sz="2800">
                <a:latin typeface="Consolas" panose="020B0609020204030204" pitchFamily="49" charset="0"/>
              </a:rPr>
              <a:t>int </a:t>
            </a:r>
            <a:r>
              <a:rPr lang="en-US" altLang="ko-KR" sz="2800" smtClean="0">
                <a:latin typeface="Consolas" panose="020B0609020204030204" pitchFamily="49" charset="0"/>
              </a:rPr>
              <a:t>*);   //  </a:t>
            </a:r>
            <a:r>
              <a:rPr lang="en-US" altLang="ko-KR" sz="2800">
                <a:latin typeface="Consolas" panose="020B0609020204030204" pitchFamily="49" charset="0"/>
              </a:rPr>
              <a:t>8</a:t>
            </a:r>
            <a:endParaRPr lang="en-US" altLang="ko-KR" sz="2800" smtClean="0">
              <a:latin typeface="Consolas" panose="020B0609020204030204" pitchFamily="49" charset="0"/>
            </a:endParaRPr>
          </a:p>
          <a:p>
            <a:r>
              <a:rPr lang="en-US" altLang="ko-KR" sz="2800">
                <a:latin typeface="Consolas" panose="020B0609020204030204" pitchFamily="49" charset="0"/>
              </a:rPr>
              <a:t> </a:t>
            </a:r>
            <a:r>
              <a:rPr lang="en-US" altLang="ko-KR" sz="2800" smtClean="0">
                <a:latin typeface="Consolas" panose="020B0609020204030204" pitchFamily="49" charset="0"/>
              </a:rPr>
              <a:t>    sizeof(a);       // 16</a:t>
            </a:r>
          </a:p>
          <a:p>
            <a:r>
              <a:rPr lang="en-US" altLang="ko-KR" sz="2800">
                <a:latin typeface="Consolas" panose="020B0609020204030204" pitchFamily="49" charset="0"/>
              </a:rPr>
              <a:t> </a:t>
            </a:r>
            <a:r>
              <a:rPr lang="en-US" altLang="ko-KR" sz="2800" smtClean="0">
                <a:latin typeface="Consolas" panose="020B0609020204030204" pitchFamily="49" charset="0"/>
              </a:rPr>
              <a:t>    sizeof(</a:t>
            </a:r>
            <a:r>
              <a:rPr lang="en-US" altLang="ko-KR" sz="2800">
                <a:latin typeface="Consolas" panose="020B0609020204030204" pitchFamily="49" charset="0"/>
              </a:rPr>
              <a:t>int </a:t>
            </a:r>
            <a:r>
              <a:rPr lang="en-US" altLang="ko-KR" sz="2800" smtClean="0">
                <a:latin typeface="Consolas" panose="020B0609020204030204" pitchFamily="49" charset="0"/>
              </a:rPr>
              <a:t>[</a:t>
            </a:r>
            <a:r>
              <a:rPr lang="en-US" altLang="ko-KR" sz="2800">
                <a:latin typeface="Consolas" panose="020B0609020204030204" pitchFamily="49" charset="0"/>
              </a:rPr>
              <a:t>4</a:t>
            </a:r>
            <a:r>
              <a:rPr lang="en-US" altLang="ko-KR" sz="2800" smtClean="0">
                <a:latin typeface="Consolas" panose="020B0609020204030204" pitchFamily="49" charset="0"/>
              </a:rPr>
              <a:t>]); </a:t>
            </a:r>
            <a:r>
              <a:rPr lang="en-US" altLang="ko-KR" sz="2800">
                <a:latin typeface="Consolas" panose="020B0609020204030204" pitchFamily="49" charset="0"/>
              </a:rPr>
              <a:t>// 16</a:t>
            </a:r>
            <a:endParaRPr lang="en-US" altLang="ko-KR" sz="2800" smtClean="0">
              <a:latin typeface="Consolas" panose="020B0609020204030204" pitchFamily="49" charset="0"/>
            </a:endParaRPr>
          </a:p>
          <a:p>
            <a:r>
              <a:rPr lang="en-US" altLang="ko-KR" sz="2800" smtClean="0">
                <a:latin typeface="Consolas" panose="020B0609020204030204" pitchFamily="49" charset="0"/>
              </a:rPr>
              <a:t>}</a:t>
            </a:r>
            <a:endParaRPr lang="ko-KR" altLang="en-US" sz="2800" smtClean="0">
              <a:latin typeface="Consolas" panose="020B0609020204030204" pitchFamily="49" charset="0"/>
            </a:endParaRPr>
          </a:p>
        </p:txBody>
      </p:sp>
      <p:sp>
        <p:nvSpPr>
          <p:cNvPr id="20" name="직사각형 19"/>
          <p:cNvSpPr/>
          <p:nvPr/>
        </p:nvSpPr>
        <p:spPr>
          <a:xfrm>
            <a:off x="8722507" y="685799"/>
            <a:ext cx="2168013" cy="426965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8722507" y="2322872"/>
            <a:ext cx="2168013" cy="553064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2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912270" y="2154787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mtClean="0">
                <a:latin typeface="Consolas" panose="020B0609020204030204" pitchFamily="49" charset="0"/>
              </a:rPr>
              <a:t>1004</a:t>
            </a:r>
            <a:endParaRPr lang="ko-KR" altLang="en-US" smtClean="0">
              <a:latin typeface="Consolas" panose="020B0609020204030204" pitchFamily="49" charset="0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8722507" y="1769808"/>
            <a:ext cx="2168013" cy="553064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0899057" y="1861674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mtClean="0">
                <a:latin typeface="Consolas" panose="020B0609020204030204" pitchFamily="49" charset="0"/>
              </a:rPr>
              <a:t>a[0]</a:t>
            </a:r>
            <a:endParaRPr lang="ko-KR" altLang="en-US" smtClean="0">
              <a:latin typeface="Consolas" panose="020B0609020204030204" pitchFamily="49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7912270" y="1585142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mtClean="0">
                <a:latin typeface="Consolas" panose="020B0609020204030204" pitchFamily="49" charset="0"/>
              </a:rPr>
              <a:t>1000</a:t>
            </a:r>
            <a:endParaRPr lang="ko-KR" altLang="en-US" smtClean="0">
              <a:latin typeface="Consolas" panose="020B0609020204030204" pitchFamily="49" charset="0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8722507" y="3429000"/>
            <a:ext cx="2168013" cy="553064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4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0" name="직사각형 29"/>
          <p:cNvSpPr/>
          <p:nvPr/>
        </p:nvSpPr>
        <p:spPr>
          <a:xfrm>
            <a:off x="8722507" y="2875936"/>
            <a:ext cx="2168013" cy="553064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3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7912270" y="2691270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mtClean="0">
                <a:latin typeface="Consolas" panose="020B0609020204030204" pitchFamily="49" charset="0"/>
              </a:rPr>
              <a:t>1008</a:t>
            </a:r>
            <a:endParaRPr lang="ko-KR" altLang="en-US" smtClean="0">
              <a:latin typeface="Consolas" panose="020B0609020204030204" pitchFamily="49" charset="0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7912269" y="3244334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mtClean="0">
                <a:latin typeface="Consolas" panose="020B0609020204030204" pitchFamily="49" charset="0"/>
              </a:rPr>
              <a:t>1012</a:t>
            </a:r>
            <a:endParaRPr lang="ko-KR" altLang="en-US" smtClean="0">
              <a:latin typeface="Consolas" panose="020B0609020204030204" pitchFamily="49" charset="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0890520" y="2414738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mtClean="0">
                <a:latin typeface="Consolas" panose="020B0609020204030204" pitchFamily="49" charset="0"/>
              </a:rPr>
              <a:t>a[1]</a:t>
            </a:r>
            <a:endParaRPr lang="ko-KR" altLang="en-US" smtClean="0">
              <a:latin typeface="Consolas" panose="020B0609020204030204" pitchFamily="49" charset="0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10881983" y="2967802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mtClean="0">
                <a:latin typeface="Consolas" panose="020B0609020204030204" pitchFamily="49" charset="0"/>
              </a:rPr>
              <a:t>a[2]</a:t>
            </a:r>
            <a:endParaRPr lang="ko-KR" altLang="en-US" smtClean="0">
              <a:latin typeface="Consolas" panose="020B0609020204030204" pitchFamily="49" charset="0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10873446" y="3520866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mtClean="0">
                <a:latin typeface="Consolas" panose="020B0609020204030204" pitchFamily="49" charset="0"/>
              </a:rPr>
              <a:t>a[3]</a:t>
            </a:r>
            <a:endParaRPr lang="ko-KR" altLang="en-US" smtClean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988305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501787" y="523571"/>
            <a:ext cx="5705408" cy="44012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smtClean="0">
                <a:latin typeface="Consolas" panose="020B0609020204030204" pitchFamily="49" charset="0"/>
              </a:rPr>
              <a:t>int main()</a:t>
            </a:r>
          </a:p>
          <a:p>
            <a:r>
              <a:rPr lang="en-US" altLang="ko-KR" sz="2800">
                <a:latin typeface="Consolas" panose="020B0609020204030204" pitchFamily="49" charset="0"/>
              </a:rPr>
              <a:t>{</a:t>
            </a:r>
            <a:endParaRPr lang="en-US" altLang="ko-KR" sz="2800" smtClean="0">
              <a:latin typeface="Consolas" panose="020B0609020204030204" pitchFamily="49" charset="0"/>
            </a:endParaRPr>
          </a:p>
          <a:p>
            <a:r>
              <a:rPr lang="en-US" altLang="ko-KR" sz="2800" smtClean="0">
                <a:latin typeface="Consolas" panose="020B0609020204030204" pitchFamily="49" charset="0"/>
              </a:rPr>
              <a:t>	int a[4] = {1,2,3,4};</a:t>
            </a:r>
          </a:p>
          <a:p>
            <a:r>
              <a:rPr lang="en-US" altLang="ko-KR" sz="2800">
                <a:latin typeface="Consolas" panose="020B0609020204030204" pitchFamily="49" charset="0"/>
              </a:rPr>
              <a:t> </a:t>
            </a:r>
            <a:r>
              <a:rPr lang="en-US" altLang="ko-KR" sz="2800" smtClean="0">
                <a:latin typeface="Consolas" panose="020B0609020204030204" pitchFamily="49" charset="0"/>
              </a:rPr>
              <a:t>    int *p = a; // &amp;a[0]</a:t>
            </a:r>
          </a:p>
          <a:p>
            <a:endParaRPr lang="en-US" altLang="ko-KR" sz="2800">
              <a:latin typeface="Consolas" panose="020B0609020204030204" pitchFamily="49" charset="0"/>
            </a:endParaRPr>
          </a:p>
          <a:p>
            <a:r>
              <a:rPr lang="en-US" altLang="ko-KR" sz="2800" smtClean="0">
                <a:latin typeface="Consolas" panose="020B0609020204030204" pitchFamily="49" charset="0"/>
              </a:rPr>
              <a:t>     sizeof(p);       //  8 </a:t>
            </a:r>
          </a:p>
          <a:p>
            <a:r>
              <a:rPr lang="en-US" altLang="ko-KR" sz="2800" smtClean="0">
                <a:latin typeface="Consolas" panose="020B0609020204030204" pitchFamily="49" charset="0"/>
              </a:rPr>
              <a:t>     sizeof(</a:t>
            </a:r>
            <a:r>
              <a:rPr lang="en-US" altLang="ko-KR" sz="2800">
                <a:latin typeface="Consolas" panose="020B0609020204030204" pitchFamily="49" charset="0"/>
              </a:rPr>
              <a:t>int </a:t>
            </a:r>
            <a:r>
              <a:rPr lang="en-US" altLang="ko-KR" sz="2800" smtClean="0">
                <a:latin typeface="Consolas" panose="020B0609020204030204" pitchFamily="49" charset="0"/>
              </a:rPr>
              <a:t>*);   //  </a:t>
            </a:r>
            <a:r>
              <a:rPr lang="en-US" altLang="ko-KR" sz="2800">
                <a:latin typeface="Consolas" panose="020B0609020204030204" pitchFamily="49" charset="0"/>
              </a:rPr>
              <a:t>8</a:t>
            </a:r>
            <a:endParaRPr lang="en-US" altLang="ko-KR" sz="2800" smtClean="0">
              <a:latin typeface="Consolas" panose="020B0609020204030204" pitchFamily="49" charset="0"/>
            </a:endParaRPr>
          </a:p>
          <a:p>
            <a:r>
              <a:rPr lang="en-US" altLang="ko-KR" sz="2800">
                <a:latin typeface="Consolas" panose="020B0609020204030204" pitchFamily="49" charset="0"/>
              </a:rPr>
              <a:t> </a:t>
            </a:r>
            <a:r>
              <a:rPr lang="en-US" altLang="ko-KR" sz="2800" smtClean="0">
                <a:latin typeface="Consolas" panose="020B0609020204030204" pitchFamily="49" charset="0"/>
              </a:rPr>
              <a:t>    sizeof(a);       // 16</a:t>
            </a:r>
          </a:p>
          <a:p>
            <a:r>
              <a:rPr lang="en-US" altLang="ko-KR" sz="2800">
                <a:latin typeface="Consolas" panose="020B0609020204030204" pitchFamily="49" charset="0"/>
              </a:rPr>
              <a:t> </a:t>
            </a:r>
            <a:r>
              <a:rPr lang="en-US" altLang="ko-KR" sz="2800" smtClean="0">
                <a:latin typeface="Consolas" panose="020B0609020204030204" pitchFamily="49" charset="0"/>
              </a:rPr>
              <a:t>    sizeof(</a:t>
            </a:r>
            <a:r>
              <a:rPr lang="en-US" altLang="ko-KR" sz="2800">
                <a:latin typeface="Consolas" panose="020B0609020204030204" pitchFamily="49" charset="0"/>
              </a:rPr>
              <a:t>int </a:t>
            </a:r>
            <a:r>
              <a:rPr lang="en-US" altLang="ko-KR" sz="2800" smtClean="0">
                <a:latin typeface="Consolas" panose="020B0609020204030204" pitchFamily="49" charset="0"/>
              </a:rPr>
              <a:t>[</a:t>
            </a:r>
            <a:r>
              <a:rPr lang="en-US" altLang="ko-KR" sz="2800">
                <a:latin typeface="Consolas" panose="020B0609020204030204" pitchFamily="49" charset="0"/>
              </a:rPr>
              <a:t>4</a:t>
            </a:r>
            <a:r>
              <a:rPr lang="en-US" altLang="ko-KR" sz="2800" smtClean="0">
                <a:latin typeface="Consolas" panose="020B0609020204030204" pitchFamily="49" charset="0"/>
              </a:rPr>
              <a:t>]); </a:t>
            </a:r>
            <a:r>
              <a:rPr lang="en-US" altLang="ko-KR" sz="2800">
                <a:latin typeface="Consolas" panose="020B0609020204030204" pitchFamily="49" charset="0"/>
              </a:rPr>
              <a:t>// 16</a:t>
            </a:r>
            <a:endParaRPr lang="en-US" altLang="ko-KR" sz="2800" smtClean="0">
              <a:latin typeface="Consolas" panose="020B0609020204030204" pitchFamily="49" charset="0"/>
            </a:endParaRPr>
          </a:p>
          <a:p>
            <a:r>
              <a:rPr lang="en-US" altLang="ko-KR" sz="2800" smtClean="0">
                <a:latin typeface="Consolas" panose="020B0609020204030204" pitchFamily="49" charset="0"/>
              </a:rPr>
              <a:t>}</a:t>
            </a:r>
            <a:endParaRPr lang="ko-KR" altLang="en-US" sz="2800" smtClean="0">
              <a:latin typeface="Consolas" panose="020B0609020204030204" pitchFamily="49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7801897" y="715297"/>
            <a:ext cx="4113627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smtClean="0">
                <a:latin typeface="Consolas" panose="020B0609020204030204" pitchFamily="49" charset="0"/>
              </a:rPr>
              <a:t>decay : </a:t>
            </a:r>
            <a:r>
              <a:rPr lang="ko-KR" altLang="en-US" sz="2800" smtClean="0">
                <a:latin typeface="Consolas" panose="020B0609020204030204" pitchFamily="49" charset="0"/>
              </a:rPr>
              <a:t>배열의 이름은</a:t>
            </a:r>
            <a:endParaRPr lang="en-US" altLang="ko-KR" sz="2800" smtClean="0">
              <a:latin typeface="Consolas" panose="020B0609020204030204" pitchFamily="49" charset="0"/>
            </a:endParaRPr>
          </a:p>
          <a:p>
            <a:r>
              <a:rPr lang="ko-KR" altLang="en-US" sz="2800" smtClean="0">
                <a:latin typeface="Consolas" panose="020B0609020204030204" pitchFamily="49" charset="0"/>
              </a:rPr>
              <a:t>일반적으로 배열의 </a:t>
            </a:r>
            <a:endParaRPr lang="en-US" altLang="ko-KR" sz="2800" smtClean="0">
              <a:latin typeface="Consolas" panose="020B0609020204030204" pitchFamily="49" charset="0"/>
            </a:endParaRPr>
          </a:p>
          <a:p>
            <a:r>
              <a:rPr lang="ko-KR" altLang="en-US" sz="2800" smtClean="0">
                <a:latin typeface="Consolas" panose="020B0609020204030204" pitchFamily="49" charset="0"/>
              </a:rPr>
              <a:t>첫번째 원소의 주소로</a:t>
            </a:r>
            <a:endParaRPr lang="en-US" altLang="ko-KR" sz="2800" smtClean="0">
              <a:latin typeface="Consolas" panose="020B0609020204030204" pitchFamily="49" charset="0"/>
            </a:endParaRPr>
          </a:p>
          <a:p>
            <a:r>
              <a:rPr lang="ko-KR" altLang="en-US" sz="2800" smtClean="0">
                <a:latin typeface="Consolas" panose="020B0609020204030204" pitchFamily="49" charset="0"/>
              </a:rPr>
              <a:t>해석된다</a:t>
            </a:r>
            <a:r>
              <a:rPr lang="en-US" altLang="ko-KR" sz="2800" smtClean="0">
                <a:latin typeface="Consolas" panose="020B0609020204030204" pitchFamily="49" charset="0"/>
              </a:rPr>
              <a:t>.</a:t>
            </a:r>
          </a:p>
          <a:p>
            <a:r>
              <a:rPr lang="ko-KR" altLang="en-US" sz="2800" smtClean="0">
                <a:latin typeface="Consolas" panose="020B0609020204030204" pitchFamily="49" charset="0"/>
              </a:rPr>
              <a:t>예외</a:t>
            </a:r>
            <a:r>
              <a:rPr lang="en-US" altLang="ko-KR" sz="2800" smtClean="0">
                <a:latin typeface="Consolas" panose="020B0609020204030204" pitchFamily="49" charset="0"/>
              </a:rPr>
              <a:t>) sizeof</a:t>
            </a:r>
            <a:endParaRPr lang="ko-KR" altLang="en-US" sz="2800" smtClean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207016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501787" y="523571"/>
            <a:ext cx="5248553" cy="56938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smtClean="0">
                <a:latin typeface="Consolas" panose="020B0609020204030204" pitchFamily="49" charset="0"/>
              </a:rPr>
              <a:t>void foo(int *p)</a:t>
            </a:r>
          </a:p>
          <a:p>
            <a:r>
              <a:rPr lang="en-US" altLang="ko-KR" sz="2800" smtClean="0">
                <a:latin typeface="Consolas" panose="020B0609020204030204" pitchFamily="49" charset="0"/>
              </a:rPr>
              <a:t>{</a:t>
            </a:r>
          </a:p>
          <a:p>
            <a:r>
              <a:rPr lang="en-US" altLang="ko-KR" sz="2800">
                <a:latin typeface="Consolas" panose="020B0609020204030204" pitchFamily="49" charset="0"/>
              </a:rPr>
              <a:t> </a:t>
            </a:r>
            <a:r>
              <a:rPr lang="en-US" altLang="ko-KR" sz="2800" smtClean="0">
                <a:latin typeface="Consolas" panose="020B0609020204030204" pitchFamily="49" charset="0"/>
              </a:rPr>
              <a:t> p[3] = 100;</a:t>
            </a:r>
          </a:p>
          <a:p>
            <a:r>
              <a:rPr lang="en-US" altLang="ko-KR" sz="2800">
                <a:latin typeface="Consolas" panose="020B0609020204030204" pitchFamily="49" charset="0"/>
              </a:rPr>
              <a:t>}</a:t>
            </a:r>
            <a:endParaRPr lang="en-US" altLang="ko-KR" sz="2800" smtClean="0">
              <a:latin typeface="Consolas" panose="020B0609020204030204" pitchFamily="49" charset="0"/>
            </a:endParaRPr>
          </a:p>
          <a:p>
            <a:endParaRPr lang="en-US" altLang="ko-KR" sz="2800">
              <a:latin typeface="Consolas" panose="020B0609020204030204" pitchFamily="49" charset="0"/>
            </a:endParaRPr>
          </a:p>
          <a:p>
            <a:r>
              <a:rPr lang="en-US" altLang="ko-KR" sz="2800" smtClean="0">
                <a:latin typeface="Consolas" panose="020B0609020204030204" pitchFamily="49" charset="0"/>
              </a:rPr>
              <a:t>int main()</a:t>
            </a:r>
          </a:p>
          <a:p>
            <a:r>
              <a:rPr lang="en-US" altLang="ko-KR" sz="2800">
                <a:latin typeface="Consolas" panose="020B0609020204030204" pitchFamily="49" charset="0"/>
              </a:rPr>
              <a:t>{</a:t>
            </a:r>
            <a:endParaRPr lang="en-US" altLang="ko-KR" sz="2800" smtClean="0">
              <a:latin typeface="Consolas" panose="020B0609020204030204" pitchFamily="49" charset="0"/>
            </a:endParaRPr>
          </a:p>
          <a:p>
            <a:r>
              <a:rPr lang="en-US" altLang="ko-KR" sz="2800" smtClean="0">
                <a:latin typeface="Consolas" panose="020B0609020204030204" pitchFamily="49" charset="0"/>
              </a:rPr>
              <a:t>	int a[4] = {1,2,3,4};</a:t>
            </a:r>
          </a:p>
          <a:p>
            <a:r>
              <a:rPr lang="en-US" altLang="ko-KR" sz="2800">
                <a:latin typeface="Consolas" panose="020B0609020204030204" pitchFamily="49" charset="0"/>
              </a:rPr>
              <a:t> </a:t>
            </a:r>
            <a:r>
              <a:rPr lang="en-US" altLang="ko-KR" sz="2800" smtClean="0">
                <a:latin typeface="Consolas" panose="020B0609020204030204" pitchFamily="49" charset="0"/>
              </a:rPr>
              <a:t>    </a:t>
            </a:r>
          </a:p>
          <a:p>
            <a:r>
              <a:rPr lang="en-US" altLang="ko-KR" sz="2800" smtClean="0">
                <a:latin typeface="Consolas" panose="020B0609020204030204" pitchFamily="49" charset="0"/>
              </a:rPr>
              <a:t>     foo(a);</a:t>
            </a:r>
            <a:endParaRPr lang="en-US" altLang="ko-KR" sz="2800">
              <a:latin typeface="Consolas" panose="020B0609020204030204" pitchFamily="49" charset="0"/>
            </a:endParaRPr>
          </a:p>
          <a:p>
            <a:r>
              <a:rPr lang="en-US" altLang="ko-KR" sz="2800" smtClean="0">
                <a:latin typeface="Consolas" panose="020B0609020204030204" pitchFamily="49" charset="0"/>
              </a:rPr>
              <a:t>}</a:t>
            </a:r>
          </a:p>
          <a:p>
            <a:endParaRPr lang="en-US" altLang="ko-KR" sz="2800">
              <a:latin typeface="Consolas" panose="020B0609020204030204" pitchFamily="49" charset="0"/>
            </a:endParaRPr>
          </a:p>
          <a:p>
            <a:r>
              <a:rPr lang="en-US" altLang="ko-KR" sz="2800" smtClean="0">
                <a:latin typeface="Consolas" panose="020B0609020204030204" pitchFamily="49" charset="0"/>
              </a:rPr>
              <a:t>p+3 =&gt; p+3*sizeof(*p)</a:t>
            </a:r>
            <a:endParaRPr lang="ko-KR" altLang="en-US" sz="2800" smtClean="0">
              <a:latin typeface="Consolas" panose="020B0609020204030204" pitchFamily="49" charset="0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8722507" y="685799"/>
            <a:ext cx="2168013" cy="426965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8722507" y="2322872"/>
            <a:ext cx="2168013" cy="553064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2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912270" y="2154787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mtClean="0">
                <a:latin typeface="Consolas" panose="020B0609020204030204" pitchFamily="49" charset="0"/>
              </a:rPr>
              <a:t>1004</a:t>
            </a:r>
            <a:endParaRPr lang="ko-KR" altLang="en-US" smtClean="0">
              <a:latin typeface="Consolas" panose="020B0609020204030204" pitchFamily="49" charset="0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8722507" y="1769808"/>
            <a:ext cx="2168013" cy="553064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899057" y="1861674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mtClean="0">
                <a:latin typeface="Consolas" panose="020B0609020204030204" pitchFamily="49" charset="0"/>
              </a:rPr>
              <a:t>a[0]</a:t>
            </a:r>
            <a:endParaRPr lang="ko-KR" altLang="en-US" smtClean="0">
              <a:latin typeface="Consolas" panose="020B0609020204030204" pitchFamily="49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912270" y="1585142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mtClean="0">
                <a:latin typeface="Consolas" panose="020B0609020204030204" pitchFamily="49" charset="0"/>
              </a:rPr>
              <a:t>1000</a:t>
            </a:r>
            <a:endParaRPr lang="ko-KR" altLang="en-US" smtClean="0">
              <a:latin typeface="Consolas" panose="020B0609020204030204" pitchFamily="49" charset="0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8722507" y="3429000"/>
            <a:ext cx="2168013" cy="553064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100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8722507" y="2875936"/>
            <a:ext cx="2168013" cy="553064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3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912270" y="2691270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mtClean="0">
                <a:latin typeface="Consolas" panose="020B0609020204030204" pitchFamily="49" charset="0"/>
              </a:rPr>
              <a:t>1008</a:t>
            </a:r>
            <a:endParaRPr lang="ko-KR" altLang="en-US" smtClean="0">
              <a:latin typeface="Consolas" panose="020B0609020204030204" pitchFamily="49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912269" y="3244334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mtClean="0">
                <a:latin typeface="Consolas" panose="020B0609020204030204" pitchFamily="49" charset="0"/>
              </a:rPr>
              <a:t>1012</a:t>
            </a:r>
            <a:endParaRPr lang="ko-KR" altLang="en-US" smtClean="0">
              <a:latin typeface="Consolas" panose="020B0609020204030204" pitchFamily="49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890520" y="2414738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mtClean="0">
                <a:latin typeface="Consolas" panose="020B0609020204030204" pitchFamily="49" charset="0"/>
              </a:rPr>
              <a:t>a[1]</a:t>
            </a:r>
            <a:endParaRPr lang="ko-KR" altLang="en-US" smtClean="0">
              <a:latin typeface="Consolas" panose="020B0609020204030204" pitchFamily="49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0881983" y="2967802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mtClean="0">
                <a:latin typeface="Consolas" panose="020B0609020204030204" pitchFamily="49" charset="0"/>
              </a:rPr>
              <a:t>a[2]</a:t>
            </a:r>
            <a:endParaRPr lang="ko-KR" altLang="en-US" smtClean="0">
              <a:latin typeface="Consolas" panose="020B0609020204030204" pitchFamily="49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873446" y="3520866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mtClean="0">
                <a:latin typeface="Consolas" panose="020B0609020204030204" pitchFamily="49" charset="0"/>
              </a:rPr>
              <a:t>a[3]</a:t>
            </a:r>
            <a:endParaRPr lang="ko-KR" altLang="en-US" smtClean="0">
              <a:latin typeface="Consolas" panose="020B0609020204030204" pitchFamily="49" charset="0"/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8731044" y="667990"/>
            <a:ext cx="2168013" cy="553064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1000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0899057" y="764451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mtClean="0">
                <a:latin typeface="Consolas" panose="020B0609020204030204" pitchFamily="49" charset="0"/>
              </a:rPr>
              <a:t>p</a:t>
            </a:r>
            <a:endParaRPr lang="ko-KR" altLang="en-US" smtClean="0">
              <a:latin typeface="Consolas" panose="020B0609020204030204" pitchFamily="49" charset="0"/>
            </a:endParaRPr>
          </a:p>
        </p:txBody>
      </p:sp>
      <p:sp>
        <p:nvSpPr>
          <p:cNvPr id="3" name="타원 2"/>
          <p:cNvSpPr/>
          <p:nvPr/>
        </p:nvSpPr>
        <p:spPr>
          <a:xfrm>
            <a:off x="8722507" y="1703441"/>
            <a:ext cx="110614" cy="132734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21" name="꺾인 연결선 20"/>
          <p:cNvCxnSpPr>
            <a:stCxn id="18" idx="1"/>
            <a:endCxn id="3" idx="2"/>
          </p:cNvCxnSpPr>
          <p:nvPr/>
        </p:nvCxnSpPr>
        <p:spPr>
          <a:xfrm rot="10800000" flipV="1">
            <a:off x="8722508" y="944522"/>
            <a:ext cx="8537" cy="825286"/>
          </a:xfrm>
          <a:prstGeom prst="bentConnector3">
            <a:avLst>
              <a:gd name="adj1" fmla="val 2777756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타원 26"/>
          <p:cNvSpPr/>
          <p:nvPr/>
        </p:nvSpPr>
        <p:spPr>
          <a:xfrm>
            <a:off x="8713970" y="3358323"/>
            <a:ext cx="110614" cy="132734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30" name="직선 연결선 29"/>
          <p:cNvCxnSpPr/>
          <p:nvPr/>
        </p:nvCxnSpPr>
        <p:spPr>
          <a:xfrm>
            <a:off x="7425813" y="1445342"/>
            <a:ext cx="425491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0312609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97780" y="29003"/>
            <a:ext cx="6037230" cy="48320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smtClean="0">
                <a:latin typeface="Consolas" panose="020B0609020204030204" pitchFamily="49" charset="0"/>
              </a:rPr>
              <a:t>void foo(int *p)</a:t>
            </a:r>
          </a:p>
          <a:p>
            <a:r>
              <a:rPr lang="en-US" altLang="ko-KR" sz="2800" smtClean="0">
                <a:latin typeface="Consolas" panose="020B0609020204030204" pitchFamily="49" charset="0"/>
              </a:rPr>
              <a:t>{</a:t>
            </a:r>
          </a:p>
          <a:p>
            <a:r>
              <a:rPr lang="en-US" altLang="ko-KR" sz="2800">
                <a:latin typeface="Consolas" panose="020B0609020204030204" pitchFamily="49" charset="0"/>
              </a:rPr>
              <a:t> </a:t>
            </a:r>
            <a:r>
              <a:rPr lang="en-US" altLang="ko-KR" sz="2800" smtClean="0">
                <a:latin typeface="Consolas" panose="020B0609020204030204" pitchFamily="49" charset="0"/>
              </a:rPr>
              <a:t> p[1][1] = 100;</a:t>
            </a:r>
          </a:p>
          <a:p>
            <a:r>
              <a:rPr lang="en-US" altLang="ko-KR" sz="2800">
                <a:latin typeface="Consolas" panose="020B0609020204030204" pitchFamily="49" charset="0"/>
              </a:rPr>
              <a:t>}</a:t>
            </a:r>
            <a:endParaRPr lang="en-US" altLang="ko-KR" sz="2800" smtClean="0">
              <a:latin typeface="Consolas" panose="020B0609020204030204" pitchFamily="49" charset="0"/>
            </a:endParaRPr>
          </a:p>
          <a:p>
            <a:endParaRPr lang="en-US" altLang="ko-KR" sz="2800">
              <a:latin typeface="Consolas" panose="020B0609020204030204" pitchFamily="49" charset="0"/>
            </a:endParaRPr>
          </a:p>
          <a:p>
            <a:r>
              <a:rPr lang="en-US" altLang="ko-KR" sz="2800" smtClean="0">
                <a:latin typeface="Consolas" panose="020B0609020204030204" pitchFamily="49" charset="0"/>
              </a:rPr>
              <a:t>int main()</a:t>
            </a:r>
          </a:p>
          <a:p>
            <a:r>
              <a:rPr lang="en-US" altLang="ko-KR" sz="2800">
                <a:latin typeface="Consolas" panose="020B0609020204030204" pitchFamily="49" charset="0"/>
              </a:rPr>
              <a:t>{</a:t>
            </a:r>
            <a:endParaRPr lang="en-US" altLang="ko-KR" sz="2800" smtClean="0">
              <a:latin typeface="Consolas" panose="020B0609020204030204" pitchFamily="49" charset="0"/>
            </a:endParaRPr>
          </a:p>
          <a:p>
            <a:r>
              <a:rPr lang="en-US" altLang="ko-KR" sz="2800" smtClean="0">
                <a:latin typeface="Consolas" panose="020B0609020204030204" pitchFamily="49" charset="0"/>
              </a:rPr>
              <a:t>	int  a[2][2] = {1,2,3,4};</a:t>
            </a:r>
          </a:p>
          <a:p>
            <a:r>
              <a:rPr lang="en-US" altLang="ko-KR" sz="2800">
                <a:latin typeface="Consolas" panose="020B0609020204030204" pitchFamily="49" charset="0"/>
              </a:rPr>
              <a:t> </a:t>
            </a:r>
            <a:r>
              <a:rPr lang="en-US" altLang="ko-KR" sz="2800" smtClean="0">
                <a:latin typeface="Consolas" panose="020B0609020204030204" pitchFamily="49" charset="0"/>
              </a:rPr>
              <a:t>    </a:t>
            </a:r>
          </a:p>
          <a:p>
            <a:r>
              <a:rPr lang="en-US" altLang="ko-KR" sz="2800" smtClean="0">
                <a:latin typeface="Consolas" panose="020B0609020204030204" pitchFamily="49" charset="0"/>
              </a:rPr>
              <a:t>     foo(a);</a:t>
            </a:r>
            <a:endParaRPr lang="en-US" altLang="ko-KR" sz="2800">
              <a:latin typeface="Consolas" panose="020B0609020204030204" pitchFamily="49" charset="0"/>
            </a:endParaRPr>
          </a:p>
          <a:p>
            <a:r>
              <a:rPr lang="en-US" altLang="ko-KR" sz="2800" smtClean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5" name="직사각형 4"/>
          <p:cNvSpPr/>
          <p:nvPr/>
        </p:nvSpPr>
        <p:spPr>
          <a:xfrm>
            <a:off x="8722507" y="685799"/>
            <a:ext cx="2168013" cy="426965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8722507" y="2322872"/>
            <a:ext cx="2168013" cy="553064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2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912270" y="2154787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mtClean="0">
                <a:latin typeface="Consolas" panose="020B0609020204030204" pitchFamily="49" charset="0"/>
              </a:rPr>
              <a:t>1004</a:t>
            </a:r>
            <a:endParaRPr lang="ko-KR" altLang="en-US" smtClean="0">
              <a:latin typeface="Consolas" panose="020B0609020204030204" pitchFamily="49" charset="0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8722507" y="1769808"/>
            <a:ext cx="2168013" cy="553064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899057" y="1861674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mtClean="0">
                <a:latin typeface="Consolas" panose="020B0609020204030204" pitchFamily="49" charset="0"/>
              </a:rPr>
              <a:t>a[0]</a:t>
            </a:r>
            <a:endParaRPr lang="ko-KR" altLang="en-US" smtClean="0">
              <a:latin typeface="Consolas" panose="020B0609020204030204" pitchFamily="49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912270" y="1585142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mtClean="0">
                <a:latin typeface="Consolas" panose="020B0609020204030204" pitchFamily="49" charset="0"/>
              </a:rPr>
              <a:t>1000</a:t>
            </a:r>
            <a:endParaRPr lang="ko-KR" altLang="en-US" smtClean="0">
              <a:latin typeface="Consolas" panose="020B0609020204030204" pitchFamily="49" charset="0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8722507" y="3429000"/>
            <a:ext cx="2168013" cy="553064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100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8722507" y="2875936"/>
            <a:ext cx="2168013" cy="553064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3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912270" y="2691270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mtClean="0">
                <a:latin typeface="Consolas" panose="020B0609020204030204" pitchFamily="49" charset="0"/>
              </a:rPr>
              <a:t>1008</a:t>
            </a:r>
            <a:endParaRPr lang="ko-KR" altLang="en-US" smtClean="0">
              <a:latin typeface="Consolas" panose="020B0609020204030204" pitchFamily="49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912269" y="3244334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mtClean="0">
                <a:latin typeface="Consolas" panose="020B0609020204030204" pitchFamily="49" charset="0"/>
              </a:rPr>
              <a:t>1012</a:t>
            </a:r>
            <a:endParaRPr lang="ko-KR" altLang="en-US" smtClean="0">
              <a:latin typeface="Consolas" panose="020B0609020204030204" pitchFamily="49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890520" y="2414738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mtClean="0">
                <a:latin typeface="Consolas" panose="020B0609020204030204" pitchFamily="49" charset="0"/>
              </a:rPr>
              <a:t>a[1]</a:t>
            </a:r>
            <a:endParaRPr lang="ko-KR" altLang="en-US" smtClean="0">
              <a:latin typeface="Consolas" panose="020B0609020204030204" pitchFamily="49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0881983" y="2967802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mtClean="0">
                <a:latin typeface="Consolas" panose="020B0609020204030204" pitchFamily="49" charset="0"/>
              </a:rPr>
              <a:t>a[2]</a:t>
            </a:r>
            <a:endParaRPr lang="ko-KR" altLang="en-US" smtClean="0">
              <a:latin typeface="Consolas" panose="020B0609020204030204" pitchFamily="49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873446" y="3520866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mtClean="0">
                <a:latin typeface="Consolas" panose="020B0609020204030204" pitchFamily="49" charset="0"/>
              </a:rPr>
              <a:t>a[3]</a:t>
            </a:r>
            <a:endParaRPr lang="ko-KR" altLang="en-US" smtClean="0">
              <a:latin typeface="Consolas" panose="020B0609020204030204" pitchFamily="49" charset="0"/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8731044" y="667990"/>
            <a:ext cx="2168013" cy="553064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1000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0899057" y="764451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mtClean="0">
                <a:latin typeface="Consolas" panose="020B0609020204030204" pitchFamily="49" charset="0"/>
              </a:rPr>
              <a:t>p</a:t>
            </a:r>
            <a:endParaRPr lang="ko-KR" altLang="en-US" smtClean="0">
              <a:latin typeface="Consolas" panose="020B0609020204030204" pitchFamily="49" charset="0"/>
            </a:endParaRPr>
          </a:p>
        </p:txBody>
      </p:sp>
      <p:sp>
        <p:nvSpPr>
          <p:cNvPr id="3" name="타원 2"/>
          <p:cNvSpPr/>
          <p:nvPr/>
        </p:nvSpPr>
        <p:spPr>
          <a:xfrm>
            <a:off x="8722507" y="1703441"/>
            <a:ext cx="110614" cy="132734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21" name="꺾인 연결선 20"/>
          <p:cNvCxnSpPr>
            <a:stCxn id="18" idx="1"/>
            <a:endCxn id="3" idx="2"/>
          </p:cNvCxnSpPr>
          <p:nvPr/>
        </p:nvCxnSpPr>
        <p:spPr>
          <a:xfrm rot="10800000" flipV="1">
            <a:off x="8722508" y="944522"/>
            <a:ext cx="8537" cy="825286"/>
          </a:xfrm>
          <a:prstGeom prst="bentConnector3">
            <a:avLst>
              <a:gd name="adj1" fmla="val 2777756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타원 26"/>
          <p:cNvSpPr/>
          <p:nvPr/>
        </p:nvSpPr>
        <p:spPr>
          <a:xfrm>
            <a:off x="8713970" y="3358323"/>
            <a:ext cx="110614" cy="132734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30" name="직선 연결선 29"/>
          <p:cNvCxnSpPr/>
          <p:nvPr/>
        </p:nvCxnSpPr>
        <p:spPr>
          <a:xfrm>
            <a:off x="7425813" y="1445342"/>
            <a:ext cx="425491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944906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97780" y="29003"/>
            <a:ext cx="3536546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smtClean="0">
                <a:latin typeface="Consolas" panose="020B0609020204030204" pitchFamily="49" charset="0"/>
              </a:rPr>
              <a:t>void foo(int **p)</a:t>
            </a:r>
          </a:p>
          <a:p>
            <a:r>
              <a:rPr lang="en-US" altLang="ko-KR" sz="2800" smtClean="0">
                <a:latin typeface="Consolas" panose="020B0609020204030204" pitchFamily="49" charset="0"/>
              </a:rPr>
              <a:t>{</a:t>
            </a:r>
          </a:p>
          <a:p>
            <a:r>
              <a:rPr lang="en-US" altLang="ko-KR" sz="2800">
                <a:latin typeface="Consolas" panose="020B0609020204030204" pitchFamily="49" charset="0"/>
              </a:rPr>
              <a:t> </a:t>
            </a:r>
            <a:r>
              <a:rPr lang="en-US" altLang="ko-KR" sz="2800" smtClean="0">
                <a:latin typeface="Consolas" panose="020B0609020204030204" pitchFamily="49" charset="0"/>
              </a:rPr>
              <a:t> p[1][1] = 100;</a:t>
            </a:r>
          </a:p>
          <a:p>
            <a:r>
              <a:rPr lang="en-US" altLang="ko-KR" sz="2800" smtClean="0">
                <a:latin typeface="Consolas" panose="020B0609020204030204" pitchFamily="49" charset="0"/>
              </a:rPr>
              <a:t>}</a:t>
            </a:r>
          </a:p>
          <a:p>
            <a:endParaRPr lang="en-US" altLang="ko-KR" sz="2800">
              <a:latin typeface="Consolas" panose="020B0609020204030204" pitchFamily="49" charset="0"/>
            </a:endParaRPr>
          </a:p>
          <a:p>
            <a:r>
              <a:rPr lang="en-US" altLang="ko-KR" sz="2800" smtClean="0">
                <a:latin typeface="Consolas" panose="020B0609020204030204" pitchFamily="49" charset="0"/>
              </a:rPr>
              <a:t>int a[2][2];</a:t>
            </a:r>
          </a:p>
        </p:txBody>
      </p:sp>
      <p:sp>
        <p:nvSpPr>
          <p:cNvPr id="5" name="직사각형 4"/>
          <p:cNvSpPr/>
          <p:nvPr/>
        </p:nvSpPr>
        <p:spPr>
          <a:xfrm>
            <a:off x="8722507" y="685799"/>
            <a:ext cx="2168013" cy="426965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8722507" y="2322872"/>
            <a:ext cx="2168013" cy="553064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2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912270" y="2154787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mtClean="0">
                <a:latin typeface="Consolas" panose="020B0609020204030204" pitchFamily="49" charset="0"/>
              </a:rPr>
              <a:t>1004</a:t>
            </a:r>
            <a:endParaRPr lang="ko-KR" altLang="en-US" smtClean="0">
              <a:latin typeface="Consolas" panose="020B0609020204030204" pitchFamily="49" charset="0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8722507" y="1769808"/>
            <a:ext cx="2168013" cy="553064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899057" y="1861674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mtClean="0">
                <a:latin typeface="Consolas" panose="020B0609020204030204" pitchFamily="49" charset="0"/>
              </a:rPr>
              <a:t>a[0]</a:t>
            </a:r>
            <a:endParaRPr lang="ko-KR" altLang="en-US" smtClean="0">
              <a:latin typeface="Consolas" panose="020B0609020204030204" pitchFamily="49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912270" y="1585142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mtClean="0">
                <a:latin typeface="Consolas" panose="020B0609020204030204" pitchFamily="49" charset="0"/>
              </a:rPr>
              <a:t>1000</a:t>
            </a:r>
            <a:endParaRPr lang="ko-KR" altLang="en-US" smtClean="0">
              <a:latin typeface="Consolas" panose="020B0609020204030204" pitchFamily="49" charset="0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8722507" y="3429000"/>
            <a:ext cx="2168013" cy="553064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100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8722507" y="2875936"/>
            <a:ext cx="2168013" cy="553064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3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912270" y="2691270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mtClean="0">
                <a:latin typeface="Consolas" panose="020B0609020204030204" pitchFamily="49" charset="0"/>
              </a:rPr>
              <a:t>1008</a:t>
            </a:r>
            <a:endParaRPr lang="ko-KR" altLang="en-US" smtClean="0">
              <a:latin typeface="Consolas" panose="020B0609020204030204" pitchFamily="49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912269" y="3244334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mtClean="0">
                <a:latin typeface="Consolas" panose="020B0609020204030204" pitchFamily="49" charset="0"/>
              </a:rPr>
              <a:t>1012</a:t>
            </a:r>
            <a:endParaRPr lang="ko-KR" altLang="en-US" smtClean="0">
              <a:latin typeface="Consolas" panose="020B0609020204030204" pitchFamily="49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890520" y="2414738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mtClean="0">
                <a:latin typeface="Consolas" panose="020B0609020204030204" pitchFamily="49" charset="0"/>
              </a:rPr>
              <a:t>a[1]</a:t>
            </a:r>
            <a:endParaRPr lang="ko-KR" altLang="en-US" smtClean="0">
              <a:latin typeface="Consolas" panose="020B0609020204030204" pitchFamily="49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0881983" y="2967802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mtClean="0">
                <a:latin typeface="Consolas" panose="020B0609020204030204" pitchFamily="49" charset="0"/>
              </a:rPr>
              <a:t>a[2]</a:t>
            </a:r>
            <a:endParaRPr lang="ko-KR" altLang="en-US" smtClean="0">
              <a:latin typeface="Consolas" panose="020B0609020204030204" pitchFamily="49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873446" y="3520866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mtClean="0">
                <a:latin typeface="Consolas" panose="020B0609020204030204" pitchFamily="49" charset="0"/>
              </a:rPr>
              <a:t>a[3]</a:t>
            </a:r>
            <a:endParaRPr lang="ko-KR" altLang="en-US" smtClean="0">
              <a:latin typeface="Consolas" panose="020B0609020204030204" pitchFamily="49" charset="0"/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8731044" y="667990"/>
            <a:ext cx="2168013" cy="553064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1000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0899057" y="764451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mtClean="0">
                <a:latin typeface="Consolas" panose="020B0609020204030204" pitchFamily="49" charset="0"/>
              </a:rPr>
              <a:t>p</a:t>
            </a:r>
            <a:endParaRPr lang="ko-KR" altLang="en-US" smtClean="0">
              <a:latin typeface="Consolas" panose="020B0609020204030204" pitchFamily="49" charset="0"/>
            </a:endParaRPr>
          </a:p>
        </p:txBody>
      </p:sp>
      <p:sp>
        <p:nvSpPr>
          <p:cNvPr id="3" name="타원 2"/>
          <p:cNvSpPr/>
          <p:nvPr/>
        </p:nvSpPr>
        <p:spPr>
          <a:xfrm>
            <a:off x="8722507" y="1703441"/>
            <a:ext cx="110614" cy="132734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21" name="꺾인 연결선 20"/>
          <p:cNvCxnSpPr>
            <a:stCxn id="18" idx="1"/>
            <a:endCxn id="3" idx="2"/>
          </p:cNvCxnSpPr>
          <p:nvPr/>
        </p:nvCxnSpPr>
        <p:spPr>
          <a:xfrm rot="10800000" flipV="1">
            <a:off x="8722508" y="944522"/>
            <a:ext cx="8537" cy="825286"/>
          </a:xfrm>
          <a:prstGeom prst="bentConnector3">
            <a:avLst>
              <a:gd name="adj1" fmla="val 2777756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타원 26"/>
          <p:cNvSpPr/>
          <p:nvPr/>
        </p:nvSpPr>
        <p:spPr>
          <a:xfrm>
            <a:off x="8713970" y="2247601"/>
            <a:ext cx="110614" cy="132734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30" name="직선 연결선 29"/>
          <p:cNvCxnSpPr/>
          <p:nvPr/>
        </p:nvCxnSpPr>
        <p:spPr>
          <a:xfrm>
            <a:off x="7425813" y="1445342"/>
            <a:ext cx="425491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23141" y="3060602"/>
            <a:ext cx="3536546" cy="35394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smtClean="0">
                <a:latin typeface="Consolas" panose="020B0609020204030204" pitchFamily="49" charset="0"/>
              </a:rPr>
              <a:t>p[1][1]</a:t>
            </a:r>
          </a:p>
          <a:p>
            <a:r>
              <a:rPr lang="en-US" altLang="ko-KR" sz="2800" smtClean="0">
                <a:latin typeface="Consolas" panose="020B0609020204030204" pitchFamily="49" charset="0"/>
              </a:rPr>
              <a:t>(*(p+1))[1]</a:t>
            </a:r>
          </a:p>
          <a:p>
            <a:r>
              <a:rPr lang="en-US" altLang="ko-KR" sz="2800" smtClean="0">
                <a:latin typeface="Consolas" panose="020B0609020204030204" pitchFamily="49" charset="0"/>
              </a:rPr>
              <a:t>*(*(p+1)+1)</a:t>
            </a:r>
            <a:endParaRPr lang="en-US" altLang="ko-KR" sz="2800">
              <a:latin typeface="Consolas" panose="020B0609020204030204" pitchFamily="49" charset="0"/>
            </a:endParaRPr>
          </a:p>
          <a:p>
            <a:r>
              <a:rPr lang="en-US" altLang="ko-KR" sz="2800" smtClean="0">
                <a:latin typeface="Consolas" panose="020B0609020204030204" pitchFamily="49" charset="0"/>
              </a:rPr>
              <a:t>*(*(1000+1</a:t>
            </a:r>
            <a:r>
              <a:rPr lang="en-US" altLang="ko-KR" sz="2800">
                <a:latin typeface="Consolas" panose="020B0609020204030204" pitchFamily="49" charset="0"/>
              </a:rPr>
              <a:t>)+</a:t>
            </a:r>
            <a:r>
              <a:rPr lang="en-US" altLang="ko-KR" sz="2800">
                <a:latin typeface="Consolas" panose="020B0609020204030204" pitchFamily="49" charset="0"/>
              </a:rPr>
              <a:t>1</a:t>
            </a:r>
            <a:r>
              <a:rPr lang="en-US" altLang="ko-KR" sz="2800" smtClean="0">
                <a:latin typeface="Consolas" panose="020B0609020204030204" pitchFamily="49" charset="0"/>
              </a:rPr>
              <a:t>)</a:t>
            </a:r>
          </a:p>
          <a:p>
            <a:r>
              <a:rPr lang="en-US" altLang="ko-KR" sz="2800" smtClean="0">
                <a:latin typeface="Consolas" panose="020B0609020204030204" pitchFamily="49" charset="0"/>
              </a:rPr>
              <a:t>*(*1004+1)</a:t>
            </a:r>
          </a:p>
          <a:p>
            <a:r>
              <a:rPr lang="en-US" altLang="ko-KR" sz="2800" smtClean="0">
                <a:latin typeface="Consolas" panose="020B0609020204030204" pitchFamily="49" charset="0"/>
              </a:rPr>
              <a:t>*(2+1)</a:t>
            </a:r>
          </a:p>
          <a:p>
            <a:r>
              <a:rPr lang="en-US" altLang="ko-KR" sz="2800" smtClean="0">
                <a:latin typeface="Consolas" panose="020B0609020204030204" pitchFamily="49" charset="0"/>
              </a:rPr>
              <a:t>*3  compile error</a:t>
            </a:r>
            <a:endParaRPr lang="en-US" altLang="ko-KR" sz="2800">
              <a:latin typeface="Consolas" panose="020B0609020204030204" pitchFamily="49" charset="0"/>
            </a:endParaRPr>
          </a:p>
          <a:p>
            <a:endParaRPr lang="en-US" altLang="ko-KR" sz="2800" smtClean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868523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97780" y="29003"/>
            <a:ext cx="4325223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>
                <a:latin typeface="Consolas" panose="020B0609020204030204" pitchFamily="49" charset="0"/>
              </a:rPr>
              <a:t>void </a:t>
            </a:r>
            <a:r>
              <a:rPr lang="en-US" altLang="ko-KR" sz="2800">
                <a:latin typeface="Consolas" panose="020B0609020204030204" pitchFamily="49" charset="0"/>
              </a:rPr>
              <a:t>foo(int </a:t>
            </a:r>
            <a:r>
              <a:rPr lang="en-US" altLang="ko-KR" sz="2800" smtClean="0">
                <a:latin typeface="Consolas" panose="020B0609020204030204" pitchFamily="49" charset="0"/>
              </a:rPr>
              <a:t>(*p)[</a:t>
            </a:r>
            <a:r>
              <a:rPr lang="en-US" altLang="ko-KR" sz="2800">
                <a:latin typeface="Consolas" panose="020B0609020204030204" pitchFamily="49" charset="0"/>
              </a:rPr>
              <a:t>2])</a:t>
            </a:r>
          </a:p>
          <a:p>
            <a:r>
              <a:rPr lang="en-US" altLang="ko-KR" sz="2800" smtClean="0">
                <a:latin typeface="Consolas" panose="020B0609020204030204" pitchFamily="49" charset="0"/>
              </a:rPr>
              <a:t>{</a:t>
            </a:r>
          </a:p>
          <a:p>
            <a:r>
              <a:rPr lang="en-US" altLang="ko-KR" sz="2800">
                <a:latin typeface="Consolas" panose="020B0609020204030204" pitchFamily="49" charset="0"/>
              </a:rPr>
              <a:t> </a:t>
            </a:r>
            <a:r>
              <a:rPr lang="en-US" altLang="ko-KR" sz="2800" smtClean="0">
                <a:latin typeface="Consolas" panose="020B0609020204030204" pitchFamily="49" charset="0"/>
              </a:rPr>
              <a:t> p[1][1] = 100;</a:t>
            </a:r>
          </a:p>
          <a:p>
            <a:r>
              <a:rPr lang="en-US" altLang="ko-KR" sz="2800" smtClean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5" name="직사각형 4"/>
          <p:cNvSpPr/>
          <p:nvPr/>
        </p:nvSpPr>
        <p:spPr>
          <a:xfrm>
            <a:off x="8722507" y="685799"/>
            <a:ext cx="2168013" cy="426965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8722507" y="2322872"/>
            <a:ext cx="2168013" cy="553064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2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912270" y="2154787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mtClean="0">
                <a:latin typeface="Consolas" panose="020B0609020204030204" pitchFamily="49" charset="0"/>
              </a:rPr>
              <a:t>1004</a:t>
            </a:r>
            <a:endParaRPr lang="ko-KR" altLang="en-US" smtClean="0">
              <a:latin typeface="Consolas" panose="020B0609020204030204" pitchFamily="49" charset="0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8722507" y="1769808"/>
            <a:ext cx="2168013" cy="553064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899057" y="1861674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mtClean="0">
                <a:latin typeface="Consolas" panose="020B0609020204030204" pitchFamily="49" charset="0"/>
              </a:rPr>
              <a:t>a[0]</a:t>
            </a:r>
            <a:endParaRPr lang="ko-KR" altLang="en-US" smtClean="0">
              <a:latin typeface="Consolas" panose="020B0609020204030204" pitchFamily="49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912270" y="1585142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mtClean="0">
                <a:latin typeface="Consolas" panose="020B0609020204030204" pitchFamily="49" charset="0"/>
              </a:rPr>
              <a:t>1000</a:t>
            </a:r>
            <a:endParaRPr lang="ko-KR" altLang="en-US" smtClean="0">
              <a:latin typeface="Consolas" panose="020B0609020204030204" pitchFamily="49" charset="0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8722507" y="3429000"/>
            <a:ext cx="2168013" cy="553064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4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8722507" y="2875936"/>
            <a:ext cx="2168013" cy="553064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3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912270" y="2691270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mtClean="0">
                <a:latin typeface="Consolas" panose="020B0609020204030204" pitchFamily="49" charset="0"/>
              </a:rPr>
              <a:t>1008</a:t>
            </a:r>
            <a:endParaRPr lang="ko-KR" altLang="en-US" smtClean="0">
              <a:latin typeface="Consolas" panose="020B0609020204030204" pitchFamily="49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912269" y="3244334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mtClean="0">
                <a:latin typeface="Consolas" panose="020B0609020204030204" pitchFamily="49" charset="0"/>
              </a:rPr>
              <a:t>1012</a:t>
            </a:r>
            <a:endParaRPr lang="ko-KR" altLang="en-US" smtClean="0">
              <a:latin typeface="Consolas" panose="020B0609020204030204" pitchFamily="49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890520" y="2414738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mtClean="0">
                <a:latin typeface="Consolas" panose="020B0609020204030204" pitchFamily="49" charset="0"/>
              </a:rPr>
              <a:t>a[1]</a:t>
            </a:r>
            <a:endParaRPr lang="ko-KR" altLang="en-US" smtClean="0">
              <a:latin typeface="Consolas" panose="020B0609020204030204" pitchFamily="49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0881983" y="2967802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mtClean="0">
                <a:latin typeface="Consolas" panose="020B0609020204030204" pitchFamily="49" charset="0"/>
              </a:rPr>
              <a:t>a[2]</a:t>
            </a:r>
            <a:endParaRPr lang="ko-KR" altLang="en-US" smtClean="0">
              <a:latin typeface="Consolas" panose="020B0609020204030204" pitchFamily="49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873446" y="3520866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mtClean="0">
                <a:latin typeface="Consolas" panose="020B0609020204030204" pitchFamily="49" charset="0"/>
              </a:rPr>
              <a:t>a[3]</a:t>
            </a:r>
            <a:endParaRPr lang="ko-KR" altLang="en-US" smtClean="0">
              <a:latin typeface="Consolas" panose="020B0609020204030204" pitchFamily="49" charset="0"/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8731044" y="667990"/>
            <a:ext cx="2168013" cy="553064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1000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0899057" y="764451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mtClean="0">
                <a:latin typeface="Consolas" panose="020B0609020204030204" pitchFamily="49" charset="0"/>
              </a:rPr>
              <a:t>p</a:t>
            </a:r>
            <a:endParaRPr lang="ko-KR" altLang="en-US" smtClean="0">
              <a:latin typeface="Consolas" panose="020B0609020204030204" pitchFamily="49" charset="0"/>
            </a:endParaRPr>
          </a:p>
        </p:txBody>
      </p:sp>
      <p:sp>
        <p:nvSpPr>
          <p:cNvPr id="3" name="타원 2"/>
          <p:cNvSpPr/>
          <p:nvPr/>
        </p:nvSpPr>
        <p:spPr>
          <a:xfrm>
            <a:off x="8722507" y="1703441"/>
            <a:ext cx="110614" cy="132734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21" name="꺾인 연결선 20"/>
          <p:cNvCxnSpPr>
            <a:stCxn id="18" idx="1"/>
            <a:endCxn id="3" idx="2"/>
          </p:cNvCxnSpPr>
          <p:nvPr/>
        </p:nvCxnSpPr>
        <p:spPr>
          <a:xfrm rot="10800000" flipV="1">
            <a:off x="8722508" y="944522"/>
            <a:ext cx="8537" cy="825286"/>
          </a:xfrm>
          <a:prstGeom prst="bentConnector3">
            <a:avLst>
              <a:gd name="adj1" fmla="val 2777756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타원 26"/>
          <p:cNvSpPr/>
          <p:nvPr/>
        </p:nvSpPr>
        <p:spPr>
          <a:xfrm>
            <a:off x="8683490" y="2819099"/>
            <a:ext cx="110614" cy="132734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30" name="직선 연결선 29"/>
          <p:cNvCxnSpPr/>
          <p:nvPr/>
        </p:nvCxnSpPr>
        <p:spPr>
          <a:xfrm>
            <a:off x="7425813" y="1445342"/>
            <a:ext cx="425491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직사각형 1"/>
          <p:cNvSpPr/>
          <p:nvPr/>
        </p:nvSpPr>
        <p:spPr>
          <a:xfrm>
            <a:off x="8713970" y="2875936"/>
            <a:ext cx="2185087" cy="110612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224116" y="2231006"/>
            <a:ext cx="333937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smtClean="0">
                <a:latin typeface="Consolas" panose="020B0609020204030204" pitchFamily="49" charset="0"/>
              </a:rPr>
              <a:t>int a[2][2];</a:t>
            </a:r>
          </a:p>
          <a:p>
            <a:r>
              <a:rPr lang="en-US" altLang="ko-KR" sz="2800" smtClean="0">
                <a:latin typeface="Consolas" panose="020B0609020204030204" pitchFamily="49" charset="0"/>
              </a:rPr>
              <a:t>int (*p)[2] = a;</a:t>
            </a:r>
            <a:endParaRPr lang="ko-KR" altLang="en-US" sz="2800" smtClean="0">
              <a:latin typeface="Consolas" panose="020B0609020204030204" pitchFamily="49" charset="0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8713970" y="1760904"/>
            <a:ext cx="2185087" cy="110612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850593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97780" y="29003"/>
            <a:ext cx="333937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smtClean="0">
                <a:latin typeface="Consolas" panose="020B0609020204030204" pitchFamily="49" charset="0"/>
              </a:rPr>
              <a:t>int a[2][2];</a:t>
            </a:r>
          </a:p>
          <a:p>
            <a:r>
              <a:rPr lang="en-US" altLang="ko-KR" sz="2800" smtClean="0">
                <a:latin typeface="Consolas" panose="020B0609020204030204" pitchFamily="49" charset="0"/>
              </a:rPr>
              <a:t>int (*p)[2] = a;</a:t>
            </a:r>
            <a:endParaRPr lang="en-US" altLang="ko-KR" sz="2800" smtClean="0">
              <a:latin typeface="Consolas" panose="020B0609020204030204" pitchFamily="49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93644" y="1857803"/>
            <a:ext cx="3930884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>
                <a:latin typeface="Consolas" panose="020B0609020204030204" pitchFamily="49" charset="0"/>
              </a:rPr>
              <a:t>int </a:t>
            </a:r>
            <a:r>
              <a:rPr lang="en-US" altLang="ko-KR" sz="2800">
                <a:latin typeface="Consolas" panose="020B0609020204030204" pitchFamily="49" charset="0"/>
              </a:rPr>
              <a:t>a[2</a:t>
            </a:r>
            <a:r>
              <a:rPr lang="en-US" altLang="ko-KR" sz="2800" smtClean="0">
                <a:latin typeface="Consolas" panose="020B0609020204030204" pitchFamily="49" charset="0"/>
              </a:rPr>
              <a:t>][</a:t>
            </a:r>
            <a:r>
              <a:rPr lang="en-US" altLang="ko-KR" sz="2800">
                <a:latin typeface="Consolas" panose="020B0609020204030204" pitchFamily="49" charset="0"/>
              </a:rPr>
              <a:t>2][2] ;</a:t>
            </a:r>
          </a:p>
          <a:p>
            <a:r>
              <a:rPr lang="en-US" altLang="ko-KR" sz="2800" smtClean="0">
                <a:latin typeface="Consolas" panose="020B0609020204030204" pitchFamily="49" charset="0"/>
              </a:rPr>
              <a:t>int (*p)[2][2] = a;</a:t>
            </a:r>
            <a:endParaRPr lang="en-US" altLang="ko-KR" sz="2800" smtClean="0">
              <a:latin typeface="Consolas" panose="020B0609020204030204" pitchFamily="49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93644" y="3140913"/>
            <a:ext cx="4522392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>
                <a:latin typeface="Consolas" panose="020B0609020204030204" pitchFamily="49" charset="0"/>
              </a:rPr>
              <a:t>int </a:t>
            </a:r>
            <a:r>
              <a:rPr lang="en-US" altLang="ko-KR" sz="2800">
                <a:latin typeface="Consolas" panose="020B0609020204030204" pitchFamily="49" charset="0"/>
              </a:rPr>
              <a:t>a[2</a:t>
            </a:r>
            <a:r>
              <a:rPr lang="en-US" altLang="ko-KR" sz="2800" smtClean="0">
                <a:latin typeface="Consolas" panose="020B0609020204030204" pitchFamily="49" charset="0"/>
              </a:rPr>
              <a:t>][</a:t>
            </a:r>
            <a:r>
              <a:rPr lang="en-US" altLang="ko-KR" sz="2800">
                <a:latin typeface="Consolas" panose="020B0609020204030204" pitchFamily="49" charset="0"/>
              </a:rPr>
              <a:t>2][</a:t>
            </a:r>
            <a:r>
              <a:rPr lang="en-US" altLang="ko-KR" sz="2800">
                <a:latin typeface="Consolas" panose="020B0609020204030204" pitchFamily="49" charset="0"/>
              </a:rPr>
              <a:t>2</a:t>
            </a:r>
            <a:r>
              <a:rPr lang="en-US" altLang="ko-KR" sz="2800" smtClean="0">
                <a:latin typeface="Consolas" panose="020B0609020204030204" pitchFamily="49" charset="0"/>
              </a:rPr>
              <a:t>][2] </a:t>
            </a:r>
            <a:r>
              <a:rPr lang="en-US" altLang="ko-KR" sz="2800"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2800" smtClean="0">
                <a:latin typeface="Consolas" panose="020B0609020204030204" pitchFamily="49" charset="0"/>
              </a:rPr>
              <a:t>int (*p)[2][2][2] = a;</a:t>
            </a:r>
            <a:endParaRPr lang="en-US" altLang="ko-KR" sz="2800" smtClean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109774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17561" y="102745"/>
            <a:ext cx="2945037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smtClean="0">
                <a:latin typeface="Consolas" panose="020B0609020204030204" pitchFamily="49" charset="0"/>
              </a:rPr>
              <a:t>int foo()</a:t>
            </a:r>
          </a:p>
          <a:p>
            <a:r>
              <a:rPr lang="en-US" altLang="ko-KR" sz="2800" smtClean="0">
                <a:latin typeface="Consolas" panose="020B0609020204030204" pitchFamily="49" charset="0"/>
              </a:rPr>
              <a:t>{</a:t>
            </a:r>
          </a:p>
          <a:p>
            <a:r>
              <a:rPr lang="en-US" altLang="ko-KR" sz="2800">
                <a:latin typeface="Consolas" panose="020B0609020204030204" pitchFamily="49" charset="0"/>
              </a:rPr>
              <a:t> </a:t>
            </a:r>
            <a:r>
              <a:rPr lang="en-US" altLang="ko-KR" sz="2800" smtClean="0">
                <a:latin typeface="Consolas" panose="020B0609020204030204" pitchFamily="49" charset="0"/>
              </a:rPr>
              <a:t>  int i = 10;</a:t>
            </a:r>
          </a:p>
          <a:p>
            <a:r>
              <a:rPr lang="en-US" altLang="ko-KR" sz="2800">
                <a:latin typeface="Consolas" panose="020B0609020204030204" pitchFamily="49" charset="0"/>
              </a:rPr>
              <a:t> </a:t>
            </a:r>
            <a:r>
              <a:rPr lang="en-US" altLang="ko-KR" sz="2800" smtClean="0">
                <a:latin typeface="Consolas" panose="020B0609020204030204" pitchFamily="49" charset="0"/>
              </a:rPr>
              <a:t>  return i;</a:t>
            </a:r>
          </a:p>
          <a:p>
            <a:r>
              <a:rPr lang="en-US" altLang="ko-KR" sz="2800">
                <a:latin typeface="Consolas" panose="020B0609020204030204" pitchFamily="49" charset="0"/>
              </a:rPr>
              <a:t>}</a:t>
            </a:r>
            <a:endParaRPr lang="en-US" altLang="ko-KR" sz="2800" smtClean="0">
              <a:latin typeface="Consolas" panose="020B0609020204030204" pitchFamily="49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790806" y="102745"/>
            <a:ext cx="4325223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smtClean="0">
                <a:latin typeface="Consolas" panose="020B0609020204030204" pitchFamily="49" charset="0"/>
              </a:rPr>
              <a:t>int * foo()</a:t>
            </a:r>
          </a:p>
          <a:p>
            <a:r>
              <a:rPr lang="en-US" altLang="ko-KR" sz="2800" smtClean="0">
                <a:latin typeface="Consolas" panose="020B0609020204030204" pitchFamily="49" charset="0"/>
              </a:rPr>
              <a:t>{</a:t>
            </a:r>
          </a:p>
          <a:p>
            <a:r>
              <a:rPr lang="en-US" altLang="ko-KR" sz="2800">
                <a:latin typeface="Consolas" panose="020B0609020204030204" pitchFamily="49" charset="0"/>
              </a:rPr>
              <a:t> </a:t>
            </a:r>
            <a:r>
              <a:rPr lang="en-US" altLang="ko-KR" sz="2800" smtClean="0">
                <a:latin typeface="Consolas" panose="020B0609020204030204" pitchFamily="49" charset="0"/>
              </a:rPr>
              <a:t>  static int i = 10;</a:t>
            </a:r>
          </a:p>
          <a:p>
            <a:r>
              <a:rPr lang="en-US" altLang="ko-KR" sz="2800">
                <a:latin typeface="Consolas" panose="020B0609020204030204" pitchFamily="49" charset="0"/>
              </a:rPr>
              <a:t> </a:t>
            </a:r>
            <a:r>
              <a:rPr lang="en-US" altLang="ko-KR" sz="2800" smtClean="0">
                <a:latin typeface="Consolas" panose="020B0609020204030204" pitchFamily="49" charset="0"/>
              </a:rPr>
              <a:t>  return &amp;i;</a:t>
            </a:r>
          </a:p>
          <a:p>
            <a:r>
              <a:rPr lang="en-US" altLang="ko-KR" sz="2800" smtClean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7561" y="3258900"/>
            <a:ext cx="6296917" cy="31085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smtClean="0">
                <a:latin typeface="Consolas" panose="020B0609020204030204" pitchFamily="49" charset="0"/>
              </a:rPr>
              <a:t>int *foo()</a:t>
            </a:r>
          </a:p>
          <a:p>
            <a:r>
              <a:rPr lang="en-US" altLang="ko-KR" sz="2800" smtClean="0">
                <a:latin typeface="Consolas" panose="020B0609020204030204" pitchFamily="49" charset="0"/>
              </a:rPr>
              <a:t>{</a:t>
            </a:r>
          </a:p>
          <a:p>
            <a:r>
              <a:rPr lang="en-US" altLang="ko-KR" sz="2800">
                <a:latin typeface="Consolas" panose="020B0609020204030204" pitchFamily="49" charset="0"/>
              </a:rPr>
              <a:t> </a:t>
            </a:r>
            <a:r>
              <a:rPr lang="en-US" altLang="ko-KR" sz="2800" smtClean="0">
                <a:latin typeface="Consolas" panose="020B0609020204030204" pitchFamily="49" charset="0"/>
              </a:rPr>
              <a:t>  static int a[4] = {1,2,3,4};</a:t>
            </a:r>
          </a:p>
          <a:p>
            <a:r>
              <a:rPr lang="en-US" altLang="ko-KR" sz="2800">
                <a:latin typeface="Consolas" panose="020B0609020204030204" pitchFamily="49" charset="0"/>
              </a:rPr>
              <a:t> </a:t>
            </a:r>
            <a:r>
              <a:rPr lang="en-US" altLang="ko-KR" sz="2800" smtClean="0">
                <a:latin typeface="Consolas" panose="020B0609020204030204" pitchFamily="49" charset="0"/>
              </a:rPr>
              <a:t>  return a;</a:t>
            </a:r>
          </a:p>
          <a:p>
            <a:r>
              <a:rPr lang="en-US" altLang="ko-KR" sz="2800" smtClean="0">
                <a:latin typeface="Consolas" panose="020B0609020204030204" pitchFamily="49" charset="0"/>
              </a:rPr>
              <a:t>}</a:t>
            </a:r>
          </a:p>
          <a:p>
            <a:endParaRPr lang="en-US" altLang="ko-KR" sz="2800">
              <a:latin typeface="Consolas" panose="020B0609020204030204" pitchFamily="49" charset="0"/>
            </a:endParaRPr>
          </a:p>
          <a:p>
            <a:r>
              <a:rPr lang="en-US" altLang="ko-KR" sz="2800" smtClean="0">
                <a:latin typeface="Consolas" panose="020B0609020204030204" pitchFamily="49" charset="0"/>
              </a:rPr>
              <a:t>foo()[3] = 10;</a:t>
            </a:r>
          </a:p>
        </p:txBody>
      </p:sp>
    </p:spTree>
    <p:extLst>
      <p:ext uri="{BB962C8B-B14F-4D97-AF65-F5344CB8AC3E}">
        <p14:creationId xmlns:p14="http://schemas.microsoft.com/office/powerpoint/2010/main" val="240583322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369180" y="250229"/>
            <a:ext cx="6888424" cy="31085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smtClean="0">
                <a:latin typeface="Consolas" panose="020B0609020204030204" pitchFamily="49" charset="0"/>
              </a:rPr>
              <a:t>int (</a:t>
            </a:r>
            <a:r>
              <a:rPr lang="ko-KR" altLang="en-US" sz="2800" smtClean="0">
                <a:latin typeface="Consolas" panose="020B0609020204030204" pitchFamily="49" charset="0"/>
              </a:rPr>
              <a:t>* </a:t>
            </a:r>
            <a:r>
              <a:rPr lang="en-US" altLang="ko-KR" sz="2800" smtClean="0">
                <a:latin typeface="Consolas" panose="020B0609020204030204" pitchFamily="49" charset="0"/>
              </a:rPr>
              <a:t>foo() )[2] </a:t>
            </a:r>
            <a:endParaRPr lang="en-US" altLang="ko-KR" sz="2800">
              <a:latin typeface="Consolas" panose="020B0609020204030204" pitchFamily="49" charset="0"/>
            </a:endParaRPr>
          </a:p>
          <a:p>
            <a:r>
              <a:rPr lang="en-US" altLang="ko-KR" sz="2800" smtClean="0">
                <a:latin typeface="Consolas" panose="020B0609020204030204" pitchFamily="49" charset="0"/>
              </a:rPr>
              <a:t>{</a:t>
            </a:r>
          </a:p>
          <a:p>
            <a:r>
              <a:rPr lang="en-US" altLang="ko-KR" sz="2800">
                <a:latin typeface="Consolas" panose="020B0609020204030204" pitchFamily="49" charset="0"/>
              </a:rPr>
              <a:t> </a:t>
            </a:r>
            <a:r>
              <a:rPr lang="en-US" altLang="ko-KR" sz="2800" smtClean="0">
                <a:latin typeface="Consolas" panose="020B0609020204030204" pitchFamily="49" charset="0"/>
              </a:rPr>
              <a:t>  static int a[2][2] = {1,2,3,4};</a:t>
            </a:r>
          </a:p>
          <a:p>
            <a:r>
              <a:rPr lang="en-US" altLang="ko-KR" sz="2800">
                <a:latin typeface="Consolas" panose="020B0609020204030204" pitchFamily="49" charset="0"/>
              </a:rPr>
              <a:t> </a:t>
            </a:r>
            <a:r>
              <a:rPr lang="en-US" altLang="ko-KR" sz="2800" smtClean="0">
                <a:latin typeface="Consolas" panose="020B0609020204030204" pitchFamily="49" charset="0"/>
              </a:rPr>
              <a:t>  return a;</a:t>
            </a:r>
          </a:p>
          <a:p>
            <a:r>
              <a:rPr lang="en-US" altLang="ko-KR" sz="2800" smtClean="0">
                <a:latin typeface="Consolas" panose="020B0609020204030204" pitchFamily="49" charset="0"/>
              </a:rPr>
              <a:t>}</a:t>
            </a:r>
          </a:p>
          <a:p>
            <a:endParaRPr lang="en-US" altLang="ko-KR" sz="2800">
              <a:latin typeface="Consolas" panose="020B0609020204030204" pitchFamily="49" charset="0"/>
            </a:endParaRPr>
          </a:p>
          <a:p>
            <a:r>
              <a:rPr lang="en-US" altLang="ko-KR" sz="2800" smtClean="0">
                <a:latin typeface="Consolas" panose="020B0609020204030204" pitchFamily="49" charset="0"/>
              </a:rPr>
              <a:t>foo()[1][1] = 10;</a:t>
            </a:r>
          </a:p>
        </p:txBody>
      </p:sp>
    </p:spTree>
    <p:extLst>
      <p:ext uri="{BB962C8B-B14F-4D97-AF65-F5344CB8AC3E}">
        <p14:creationId xmlns:p14="http://schemas.microsoft.com/office/powerpoint/2010/main" val="299019201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Box 26"/>
          <p:cNvSpPr txBox="1"/>
          <p:nvPr/>
        </p:nvSpPr>
        <p:spPr>
          <a:xfrm>
            <a:off x="663677" y="235974"/>
            <a:ext cx="1367682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smtClean="0">
                <a:latin typeface="Consolas" panose="020B0609020204030204" pitchFamily="49" charset="0"/>
              </a:rPr>
              <a:t>int i;</a:t>
            </a:r>
          </a:p>
          <a:p>
            <a:r>
              <a:rPr lang="en-US" altLang="ko-KR" sz="2800" smtClean="0">
                <a:latin typeface="Consolas" panose="020B0609020204030204" pitchFamily="49" charset="0"/>
              </a:rPr>
              <a:t>// int</a:t>
            </a:r>
            <a:endParaRPr lang="ko-KR" altLang="en-US" sz="2800" smtClean="0">
              <a:latin typeface="Consolas" panose="020B0609020204030204" pitchFamily="49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2698955" y="235974"/>
            <a:ext cx="2747868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smtClean="0">
                <a:latin typeface="Consolas" panose="020B0609020204030204" pitchFamily="49" charset="0"/>
              </a:rPr>
              <a:t>int a[2];</a:t>
            </a:r>
          </a:p>
          <a:p>
            <a:r>
              <a:rPr lang="en-US" altLang="ko-KR" sz="2800" smtClean="0">
                <a:latin typeface="Consolas" panose="020B0609020204030204" pitchFamily="49" charset="0"/>
              </a:rPr>
              <a:t>// array of 2</a:t>
            </a:r>
          </a:p>
          <a:p>
            <a:r>
              <a:rPr lang="en-US" altLang="ko-KR" sz="2800" smtClean="0">
                <a:latin typeface="Consolas" panose="020B0609020204030204" pitchFamily="49" charset="0"/>
              </a:rPr>
              <a:t>// int</a:t>
            </a:r>
            <a:endParaRPr lang="ko-KR" altLang="en-US" sz="2800" smtClean="0">
              <a:latin typeface="Consolas" panose="020B0609020204030204" pitchFamily="49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024716" y="235973"/>
            <a:ext cx="2747868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smtClean="0">
                <a:latin typeface="Consolas" panose="020B0609020204030204" pitchFamily="49" charset="0"/>
              </a:rPr>
              <a:t>int </a:t>
            </a:r>
            <a:r>
              <a:rPr lang="ko-KR" altLang="en-US" sz="2800" smtClean="0">
                <a:latin typeface="Consolas" panose="020B0609020204030204" pitchFamily="49" charset="0"/>
              </a:rPr>
              <a:t>*</a:t>
            </a:r>
            <a:r>
              <a:rPr lang="en-US" altLang="ko-KR" sz="2800" smtClean="0">
                <a:latin typeface="Consolas" panose="020B0609020204030204" pitchFamily="49" charset="0"/>
              </a:rPr>
              <a:t>p;</a:t>
            </a:r>
          </a:p>
          <a:p>
            <a:r>
              <a:rPr lang="en-US" altLang="ko-KR" sz="2800" smtClean="0">
                <a:latin typeface="Consolas" panose="020B0609020204030204" pitchFamily="49" charset="0"/>
              </a:rPr>
              <a:t>// pointer to</a:t>
            </a:r>
          </a:p>
          <a:p>
            <a:r>
              <a:rPr lang="en-US" altLang="ko-KR" sz="2800" smtClean="0">
                <a:latin typeface="Consolas" panose="020B0609020204030204" pitchFamily="49" charset="0"/>
              </a:rPr>
              <a:t>// int</a:t>
            </a:r>
            <a:endParaRPr lang="ko-KR" altLang="en-US" sz="2800" smtClean="0">
              <a:latin typeface="Consolas" panose="020B0609020204030204" pitchFamily="49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545690" y="2227005"/>
            <a:ext cx="2747868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smtClean="0">
                <a:latin typeface="Consolas" panose="020B0609020204030204" pitchFamily="49" charset="0"/>
              </a:rPr>
              <a:t>int </a:t>
            </a:r>
            <a:r>
              <a:rPr lang="ko-KR" altLang="en-US" sz="2800" smtClean="0">
                <a:latin typeface="Consolas" panose="020B0609020204030204" pitchFamily="49" charset="0"/>
              </a:rPr>
              <a:t>**</a:t>
            </a:r>
            <a:r>
              <a:rPr lang="en-US" altLang="ko-KR" sz="2800" smtClean="0">
                <a:latin typeface="Consolas" panose="020B0609020204030204" pitchFamily="49" charset="0"/>
              </a:rPr>
              <a:t>p;</a:t>
            </a:r>
          </a:p>
          <a:p>
            <a:r>
              <a:rPr lang="en-US" altLang="ko-KR" sz="2800" smtClean="0">
                <a:latin typeface="Consolas" panose="020B0609020204030204" pitchFamily="49" charset="0"/>
              </a:rPr>
              <a:t>// pointer to</a:t>
            </a:r>
          </a:p>
          <a:p>
            <a:r>
              <a:rPr lang="en-US" altLang="ko-KR" sz="2800" smtClean="0">
                <a:latin typeface="Consolas" panose="020B0609020204030204" pitchFamily="49" charset="0"/>
              </a:rPr>
              <a:t>// pointer to</a:t>
            </a:r>
          </a:p>
          <a:p>
            <a:r>
              <a:rPr lang="en-US" altLang="ko-KR" sz="2800" smtClean="0">
                <a:latin typeface="Consolas" panose="020B0609020204030204" pitchFamily="49" charset="0"/>
              </a:rPr>
              <a:t>// int</a:t>
            </a:r>
            <a:endParaRPr lang="ko-KR" altLang="en-US" sz="2800" smtClean="0">
              <a:latin typeface="Consolas" panose="020B0609020204030204" pitchFamily="49" charset="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3982064" y="2227005"/>
            <a:ext cx="2747868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smtClean="0">
                <a:latin typeface="Consolas" panose="020B0609020204030204" pitchFamily="49" charset="0"/>
              </a:rPr>
              <a:t>int a[2][2];</a:t>
            </a:r>
          </a:p>
          <a:p>
            <a:r>
              <a:rPr lang="en-US" altLang="ko-KR" sz="2800" smtClean="0">
                <a:latin typeface="Consolas" panose="020B0609020204030204" pitchFamily="49" charset="0"/>
              </a:rPr>
              <a:t>// array of 2</a:t>
            </a:r>
          </a:p>
          <a:p>
            <a:r>
              <a:rPr lang="en-US" altLang="ko-KR" sz="2800" smtClean="0">
                <a:latin typeface="Consolas" panose="020B0609020204030204" pitchFamily="49" charset="0"/>
              </a:rPr>
              <a:t>// array of 2</a:t>
            </a:r>
          </a:p>
          <a:p>
            <a:r>
              <a:rPr lang="en-US" altLang="ko-KR" sz="2800" smtClean="0">
                <a:latin typeface="Consolas" panose="020B0609020204030204" pitchFamily="49" charset="0"/>
              </a:rPr>
              <a:t>// int</a:t>
            </a:r>
            <a:endParaRPr lang="ko-KR" altLang="en-US" sz="2800" smtClean="0">
              <a:latin typeface="Consolas" panose="020B0609020204030204" pitchFamily="49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7728155" y="2116392"/>
            <a:ext cx="2747868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smtClean="0">
                <a:latin typeface="Consolas" panose="020B0609020204030204" pitchFamily="49" charset="0"/>
              </a:rPr>
              <a:t>int (</a:t>
            </a:r>
            <a:r>
              <a:rPr lang="ko-KR" altLang="en-US" sz="2800" smtClean="0">
                <a:latin typeface="Consolas" panose="020B0609020204030204" pitchFamily="49" charset="0"/>
              </a:rPr>
              <a:t>*</a:t>
            </a:r>
            <a:r>
              <a:rPr lang="en-US" altLang="ko-KR" sz="2800" smtClean="0">
                <a:latin typeface="Consolas" panose="020B0609020204030204" pitchFamily="49" charset="0"/>
              </a:rPr>
              <a:t>p)[2];</a:t>
            </a:r>
          </a:p>
          <a:p>
            <a:r>
              <a:rPr lang="en-US" altLang="ko-KR" sz="2800" smtClean="0">
                <a:latin typeface="Consolas" panose="020B0609020204030204" pitchFamily="49" charset="0"/>
              </a:rPr>
              <a:t>// pointer to</a:t>
            </a:r>
          </a:p>
          <a:p>
            <a:r>
              <a:rPr lang="en-US" altLang="ko-KR" sz="2800" smtClean="0">
                <a:latin typeface="Consolas" panose="020B0609020204030204" pitchFamily="49" charset="0"/>
              </a:rPr>
              <a:t>// array of 2</a:t>
            </a:r>
          </a:p>
          <a:p>
            <a:r>
              <a:rPr lang="en-US" altLang="ko-KR" sz="2800" smtClean="0">
                <a:latin typeface="Consolas" panose="020B0609020204030204" pitchFamily="49" charset="0"/>
              </a:rPr>
              <a:t>// int</a:t>
            </a:r>
            <a:endParaRPr lang="ko-KR" altLang="en-US" sz="2800" smtClean="0">
              <a:latin typeface="Consolas" panose="020B0609020204030204" pitchFamily="49" charset="0"/>
            </a:endParaRPr>
          </a:p>
        </p:txBody>
      </p:sp>
      <p:sp>
        <p:nvSpPr>
          <p:cNvPr id="33" name="직사각형 32"/>
          <p:cNvSpPr/>
          <p:nvPr/>
        </p:nvSpPr>
        <p:spPr>
          <a:xfrm>
            <a:off x="9955161" y="4350774"/>
            <a:ext cx="811162" cy="427703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4" name="직사각형 33"/>
          <p:cNvSpPr/>
          <p:nvPr/>
        </p:nvSpPr>
        <p:spPr>
          <a:xfrm>
            <a:off x="9955161" y="4769274"/>
            <a:ext cx="811162" cy="427703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2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5" name="직사각형 34"/>
          <p:cNvSpPr/>
          <p:nvPr/>
        </p:nvSpPr>
        <p:spPr>
          <a:xfrm>
            <a:off x="7883013" y="4427698"/>
            <a:ext cx="811162" cy="427703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37" name="직선 화살표 연결선 36"/>
          <p:cNvCxnSpPr>
            <a:stCxn id="35" idx="3"/>
          </p:cNvCxnSpPr>
          <p:nvPr/>
        </p:nvCxnSpPr>
        <p:spPr>
          <a:xfrm flipV="1">
            <a:off x="8694175" y="4350774"/>
            <a:ext cx="1260986" cy="29077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8109873" y="4878199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mtClean="0">
                <a:latin typeface="Consolas" panose="020B0609020204030204" pitchFamily="49" charset="0"/>
              </a:rPr>
              <a:t>p</a:t>
            </a:r>
            <a:endParaRPr lang="ko-KR" altLang="en-US" smtClean="0">
              <a:latin typeface="Consolas" panose="020B0609020204030204" pitchFamily="49" charset="0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637868" y="4572675"/>
            <a:ext cx="2747868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smtClean="0">
                <a:latin typeface="Consolas" panose="020B0609020204030204" pitchFamily="49" charset="0"/>
              </a:rPr>
              <a:t>int </a:t>
            </a:r>
            <a:r>
              <a:rPr lang="ko-KR" altLang="en-US" sz="2800" smtClean="0">
                <a:latin typeface="Consolas" panose="020B0609020204030204" pitchFamily="49" charset="0"/>
              </a:rPr>
              <a:t>*</a:t>
            </a:r>
            <a:r>
              <a:rPr lang="en-US" altLang="ko-KR" sz="2800" smtClean="0">
                <a:latin typeface="Consolas" panose="020B0609020204030204" pitchFamily="49" charset="0"/>
              </a:rPr>
              <a:t>p[2];</a:t>
            </a:r>
          </a:p>
          <a:p>
            <a:r>
              <a:rPr lang="en-US" altLang="ko-KR" sz="2800" smtClean="0">
                <a:latin typeface="Consolas" panose="020B0609020204030204" pitchFamily="49" charset="0"/>
              </a:rPr>
              <a:t>// array of 2</a:t>
            </a:r>
          </a:p>
          <a:p>
            <a:r>
              <a:rPr lang="en-US" altLang="ko-KR" sz="2800" smtClean="0">
                <a:latin typeface="Consolas" panose="020B0609020204030204" pitchFamily="49" charset="0"/>
              </a:rPr>
              <a:t>// pointer to</a:t>
            </a:r>
          </a:p>
          <a:p>
            <a:r>
              <a:rPr lang="en-US" altLang="ko-KR" sz="2800" smtClean="0">
                <a:latin typeface="Consolas" panose="020B0609020204030204" pitchFamily="49" charset="0"/>
              </a:rPr>
              <a:t>// int</a:t>
            </a:r>
            <a:endParaRPr lang="ko-KR" altLang="en-US" sz="2800" smtClean="0">
              <a:latin typeface="Consolas" panose="020B0609020204030204" pitchFamily="49" charset="0"/>
            </a:endParaRPr>
          </a:p>
        </p:txBody>
      </p:sp>
      <p:sp>
        <p:nvSpPr>
          <p:cNvPr id="40" name="직사각형 39"/>
          <p:cNvSpPr/>
          <p:nvPr/>
        </p:nvSpPr>
        <p:spPr>
          <a:xfrm>
            <a:off x="4505025" y="4911213"/>
            <a:ext cx="811162" cy="427703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>
                <a:solidFill>
                  <a:schemeClr val="tx1"/>
                </a:solidFill>
                <a:latin typeface="Consolas" panose="020B0609020204030204" pitchFamily="49" charset="0"/>
              </a:rPr>
              <a:t>*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1" name="직사각형 40"/>
          <p:cNvSpPr/>
          <p:nvPr/>
        </p:nvSpPr>
        <p:spPr>
          <a:xfrm>
            <a:off x="4505025" y="5329713"/>
            <a:ext cx="811162" cy="427703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>
                <a:solidFill>
                  <a:schemeClr val="tx1"/>
                </a:solidFill>
                <a:latin typeface="Consolas" panose="020B0609020204030204" pitchFamily="49" charset="0"/>
              </a:rPr>
              <a:t>*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2" name="직사각형 41"/>
          <p:cNvSpPr/>
          <p:nvPr/>
        </p:nvSpPr>
        <p:spPr>
          <a:xfrm>
            <a:off x="6076032" y="4597980"/>
            <a:ext cx="811162" cy="427703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6076032" y="5480616"/>
            <a:ext cx="811162" cy="427703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2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44" name="직선 화살표 연결선 43"/>
          <p:cNvCxnSpPr>
            <a:stCxn id="40" idx="3"/>
            <a:endCxn id="42" idx="1"/>
          </p:cNvCxnSpPr>
          <p:nvPr/>
        </p:nvCxnSpPr>
        <p:spPr>
          <a:xfrm flipV="1">
            <a:off x="5316187" y="4811832"/>
            <a:ext cx="759845" cy="31323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직선 화살표 연결선 46"/>
          <p:cNvCxnSpPr>
            <a:stCxn id="41" idx="3"/>
            <a:endCxn id="43" idx="1"/>
          </p:cNvCxnSpPr>
          <p:nvPr/>
        </p:nvCxnSpPr>
        <p:spPr>
          <a:xfrm>
            <a:off x="5316187" y="5543565"/>
            <a:ext cx="759845" cy="15090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276778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Box 26"/>
          <p:cNvSpPr txBox="1"/>
          <p:nvPr/>
        </p:nvSpPr>
        <p:spPr>
          <a:xfrm>
            <a:off x="663677" y="235974"/>
            <a:ext cx="649408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smtClean="0">
                <a:latin typeface="Consolas" panose="020B0609020204030204" pitchFamily="49" charset="0"/>
              </a:rPr>
              <a:t>void foo(void)</a:t>
            </a:r>
          </a:p>
          <a:p>
            <a:r>
              <a:rPr lang="en-US" altLang="ko-KR" sz="2800" smtClean="0">
                <a:latin typeface="Consolas" panose="020B0609020204030204" pitchFamily="49" charset="0"/>
              </a:rPr>
              <a:t>// function(void) retruning void</a:t>
            </a:r>
            <a:endParaRPr lang="ko-KR" altLang="en-US" sz="2800" smtClean="0">
              <a:latin typeface="Consolas" panose="020B0609020204030204" pitchFamily="49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63677" y="1592825"/>
            <a:ext cx="6296917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smtClean="0">
                <a:latin typeface="Consolas" panose="020B0609020204030204" pitchFamily="49" charset="0"/>
              </a:rPr>
              <a:t>int foo(void)</a:t>
            </a:r>
          </a:p>
          <a:p>
            <a:r>
              <a:rPr lang="en-US" altLang="ko-KR" sz="2800" smtClean="0">
                <a:latin typeface="Consolas" panose="020B0609020204030204" pitchFamily="49" charset="0"/>
              </a:rPr>
              <a:t>// function(void) retruning int</a:t>
            </a:r>
            <a:endParaRPr lang="ko-KR" altLang="en-US" sz="2800" smtClean="0">
              <a:latin typeface="Consolas" panose="020B0609020204030204" pitchFamily="49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62260" y="2949676"/>
            <a:ext cx="6099747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smtClean="0">
                <a:latin typeface="Consolas" panose="020B0609020204030204" pitchFamily="49" charset="0"/>
              </a:rPr>
              <a:t>int foo(int)</a:t>
            </a:r>
          </a:p>
          <a:p>
            <a:r>
              <a:rPr lang="en-US" altLang="ko-KR" sz="2800" smtClean="0">
                <a:latin typeface="Consolas" panose="020B0609020204030204" pitchFamily="49" charset="0"/>
              </a:rPr>
              <a:t>// function(int) retruning int</a:t>
            </a:r>
            <a:endParaRPr lang="ko-KR" altLang="en-US" sz="2800" smtClean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161916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Box 26"/>
          <p:cNvSpPr txBox="1"/>
          <p:nvPr/>
        </p:nvSpPr>
        <p:spPr>
          <a:xfrm>
            <a:off x="663677" y="235974"/>
            <a:ext cx="5508239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smtClean="0">
                <a:latin typeface="Consolas" panose="020B0609020204030204" pitchFamily="49" charset="0"/>
              </a:rPr>
              <a:t>int</a:t>
            </a:r>
            <a:r>
              <a:rPr lang="ko-KR" altLang="en-US" sz="2800" smtClean="0">
                <a:latin typeface="Consolas" panose="020B0609020204030204" pitchFamily="49" charset="0"/>
              </a:rPr>
              <a:t>*</a:t>
            </a:r>
            <a:r>
              <a:rPr lang="en-US" altLang="ko-KR" sz="2800" smtClean="0">
                <a:latin typeface="Consolas" panose="020B0609020204030204" pitchFamily="49" charset="0"/>
              </a:rPr>
              <a:t> foo(void)</a:t>
            </a:r>
          </a:p>
          <a:p>
            <a:r>
              <a:rPr lang="en-US" altLang="ko-KR" sz="2800" smtClean="0">
                <a:latin typeface="Consolas" panose="020B0609020204030204" pitchFamily="49" charset="0"/>
              </a:rPr>
              <a:t>// function(void) retruning</a:t>
            </a:r>
          </a:p>
          <a:p>
            <a:r>
              <a:rPr lang="en-US" altLang="ko-KR" sz="2800" smtClean="0">
                <a:latin typeface="Consolas" panose="020B0609020204030204" pitchFamily="49" charset="0"/>
              </a:rPr>
              <a:t>// pointer to</a:t>
            </a:r>
          </a:p>
          <a:p>
            <a:r>
              <a:rPr lang="en-US" altLang="ko-KR" sz="2800" smtClean="0">
                <a:latin typeface="Consolas" panose="020B0609020204030204" pitchFamily="49" charset="0"/>
              </a:rPr>
              <a:t>// int</a:t>
            </a:r>
            <a:endParaRPr lang="ko-KR" altLang="en-US" sz="2800" smtClean="0">
              <a:latin typeface="Consolas" panose="020B0609020204030204" pitchFamily="49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63676" y="2831690"/>
            <a:ext cx="5508239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smtClean="0">
                <a:latin typeface="Consolas" panose="020B0609020204030204" pitchFamily="49" charset="0"/>
              </a:rPr>
              <a:t>int (</a:t>
            </a:r>
            <a:r>
              <a:rPr lang="ko-KR" altLang="en-US" sz="2800" smtClean="0">
                <a:latin typeface="Consolas" panose="020B0609020204030204" pitchFamily="49" charset="0"/>
              </a:rPr>
              <a:t>*</a:t>
            </a:r>
            <a:r>
              <a:rPr lang="en-US" altLang="ko-KR" sz="2800" smtClean="0">
                <a:latin typeface="Consolas" panose="020B0609020204030204" pitchFamily="49" charset="0"/>
              </a:rPr>
              <a:t>foo(void))[2]</a:t>
            </a:r>
          </a:p>
          <a:p>
            <a:r>
              <a:rPr lang="en-US" altLang="ko-KR" sz="2800" smtClean="0">
                <a:latin typeface="Consolas" panose="020B0609020204030204" pitchFamily="49" charset="0"/>
              </a:rPr>
              <a:t>// function(void) retruning</a:t>
            </a:r>
          </a:p>
          <a:p>
            <a:r>
              <a:rPr lang="en-US" altLang="ko-KR" sz="2800" smtClean="0">
                <a:latin typeface="Consolas" panose="020B0609020204030204" pitchFamily="49" charset="0"/>
              </a:rPr>
              <a:t>// pointer to</a:t>
            </a:r>
          </a:p>
          <a:p>
            <a:r>
              <a:rPr lang="en-US" altLang="ko-KR" sz="2800" smtClean="0">
                <a:latin typeface="Consolas" panose="020B0609020204030204" pitchFamily="49" charset="0"/>
              </a:rPr>
              <a:t>// array of 2</a:t>
            </a:r>
          </a:p>
          <a:p>
            <a:r>
              <a:rPr lang="en-US" altLang="ko-KR" sz="2800" smtClean="0">
                <a:latin typeface="Consolas" panose="020B0609020204030204" pitchFamily="49" charset="0"/>
              </a:rPr>
              <a:t>// int</a:t>
            </a:r>
            <a:endParaRPr lang="ko-KR" altLang="en-US" sz="2800" smtClean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906213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737417" y="184354"/>
            <a:ext cx="5508239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smtClean="0">
                <a:latin typeface="Consolas" panose="020B0609020204030204" pitchFamily="49" charset="0"/>
              </a:rPr>
              <a:t>int (</a:t>
            </a:r>
            <a:r>
              <a:rPr lang="ko-KR" altLang="en-US" sz="2800" smtClean="0">
                <a:latin typeface="Consolas" panose="020B0609020204030204" pitchFamily="49" charset="0"/>
              </a:rPr>
              <a:t>*</a:t>
            </a:r>
            <a:r>
              <a:rPr lang="en-US" altLang="ko-KR" sz="2800" smtClean="0">
                <a:latin typeface="Consolas" panose="020B0609020204030204" pitchFamily="49" charset="0"/>
              </a:rPr>
              <a:t>foo(void))[2][2]</a:t>
            </a:r>
          </a:p>
          <a:p>
            <a:r>
              <a:rPr lang="en-US" altLang="ko-KR" sz="2800" smtClean="0">
                <a:latin typeface="Consolas" panose="020B0609020204030204" pitchFamily="49" charset="0"/>
              </a:rPr>
              <a:t>// function(void) retruning</a:t>
            </a:r>
          </a:p>
          <a:p>
            <a:r>
              <a:rPr lang="en-US" altLang="ko-KR" sz="2800" smtClean="0">
                <a:latin typeface="Consolas" panose="020B0609020204030204" pitchFamily="49" charset="0"/>
              </a:rPr>
              <a:t>// pointer to</a:t>
            </a:r>
          </a:p>
          <a:p>
            <a:r>
              <a:rPr lang="en-US" altLang="ko-KR" sz="2800" smtClean="0">
                <a:latin typeface="Consolas" panose="020B0609020204030204" pitchFamily="49" charset="0"/>
              </a:rPr>
              <a:t>// array of 2</a:t>
            </a:r>
          </a:p>
          <a:p>
            <a:r>
              <a:rPr lang="en-US" altLang="ko-KR" sz="2800" smtClean="0">
                <a:latin typeface="Consolas" panose="020B0609020204030204" pitchFamily="49" charset="0"/>
              </a:rPr>
              <a:t>// array of 2</a:t>
            </a:r>
          </a:p>
          <a:p>
            <a:r>
              <a:rPr lang="en-US" altLang="ko-KR" sz="2800" smtClean="0">
                <a:latin typeface="Consolas" panose="020B0609020204030204" pitchFamily="49" charset="0"/>
              </a:rPr>
              <a:t>// int</a:t>
            </a:r>
            <a:endParaRPr lang="ko-KR" altLang="en-US" sz="2800" smtClean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387675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82562" y="117987"/>
            <a:ext cx="3922869" cy="37856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smtClean="0">
                <a:latin typeface="Consolas" panose="020B0609020204030204" pitchFamily="49" charset="0"/>
              </a:rPr>
              <a:t>void foo(void)</a:t>
            </a:r>
          </a:p>
          <a:p>
            <a:r>
              <a:rPr lang="en-US" altLang="ko-KR" sz="2400" smtClean="0">
                <a:latin typeface="Consolas" panose="020B0609020204030204" pitchFamily="49" charset="0"/>
              </a:rPr>
              <a:t>{</a:t>
            </a:r>
          </a:p>
          <a:p>
            <a:r>
              <a:rPr lang="en-US" altLang="ko-KR" sz="2400">
                <a:latin typeface="Consolas" panose="020B0609020204030204" pitchFamily="49" charset="0"/>
              </a:rPr>
              <a:t> </a:t>
            </a:r>
            <a:r>
              <a:rPr lang="en-US" altLang="ko-KR" sz="2400" smtClean="0">
                <a:latin typeface="Consolas" panose="020B0609020204030204" pitchFamily="49" charset="0"/>
              </a:rPr>
              <a:t>   printf("foo()\n");</a:t>
            </a:r>
          </a:p>
          <a:p>
            <a:r>
              <a:rPr lang="en-US" altLang="ko-KR" sz="2400" smtClean="0">
                <a:latin typeface="Consolas" panose="020B0609020204030204" pitchFamily="49" charset="0"/>
              </a:rPr>
              <a:t>}</a:t>
            </a:r>
          </a:p>
          <a:p>
            <a:endParaRPr lang="en-US" altLang="ko-KR" sz="2400">
              <a:latin typeface="Consolas" panose="020B0609020204030204" pitchFamily="49" charset="0"/>
            </a:endParaRPr>
          </a:p>
          <a:p>
            <a:endParaRPr lang="en-US" altLang="ko-KR" sz="2400" smtClean="0">
              <a:latin typeface="Consolas" panose="020B0609020204030204" pitchFamily="49" charset="0"/>
            </a:endParaRPr>
          </a:p>
          <a:p>
            <a:r>
              <a:rPr lang="en-US" altLang="ko-KR" sz="2400" smtClean="0">
                <a:latin typeface="Consolas" panose="020B0609020204030204" pitchFamily="49" charset="0"/>
              </a:rPr>
              <a:t>int main()</a:t>
            </a:r>
          </a:p>
          <a:p>
            <a:r>
              <a:rPr lang="en-US" altLang="ko-KR" sz="2400" smtClean="0">
                <a:latin typeface="Consolas" panose="020B0609020204030204" pitchFamily="49" charset="0"/>
              </a:rPr>
              <a:t>{</a:t>
            </a:r>
          </a:p>
          <a:p>
            <a:r>
              <a:rPr lang="en-US" altLang="ko-KR" sz="2400">
                <a:latin typeface="Consolas" panose="020B0609020204030204" pitchFamily="49" charset="0"/>
              </a:rPr>
              <a:t> </a:t>
            </a:r>
            <a:r>
              <a:rPr lang="en-US" altLang="ko-KR" sz="2400" smtClean="0">
                <a:latin typeface="Consolas" panose="020B0609020204030204" pitchFamily="49" charset="0"/>
              </a:rPr>
              <a:t>   foo();</a:t>
            </a:r>
          </a:p>
          <a:p>
            <a:r>
              <a:rPr lang="en-US" altLang="ko-KR" sz="2400" smtClean="0">
                <a:latin typeface="Consolas" panose="020B0609020204030204" pitchFamily="49" charset="0"/>
              </a:rPr>
              <a:t>}</a:t>
            </a:r>
            <a:endParaRPr lang="ko-KR" altLang="en-US" sz="2400" smtClean="0">
              <a:latin typeface="Consolas" panose="020B0609020204030204" pitchFamily="49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0" y="66366"/>
            <a:ext cx="9555821" cy="53553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Consolas" panose="020B0609020204030204" pitchFamily="49" charset="0"/>
              </a:rPr>
              <a:t>0000000000001149 &lt;foo&gt;:</a:t>
            </a:r>
          </a:p>
          <a:p>
            <a:r>
              <a:rPr lang="en-US" altLang="ko-KR">
                <a:latin typeface="Consolas" panose="020B0609020204030204" pitchFamily="49" charset="0"/>
              </a:rPr>
              <a:t>    1149</a:t>
            </a:r>
            <a:r>
              <a:rPr lang="en-US" altLang="ko-KR">
                <a:latin typeface="Consolas" panose="020B0609020204030204" pitchFamily="49" charset="0"/>
              </a:rPr>
              <a:t>:       </a:t>
            </a:r>
            <a:r>
              <a:rPr lang="en-US" altLang="ko-KR" smtClean="0">
                <a:latin typeface="Consolas" panose="020B0609020204030204" pitchFamily="49" charset="0"/>
              </a:rPr>
              <a:t>endbr64</a:t>
            </a:r>
            <a:endParaRPr lang="en-US" altLang="ko-KR">
              <a:latin typeface="Consolas" panose="020B0609020204030204" pitchFamily="49" charset="0"/>
            </a:endParaRPr>
          </a:p>
          <a:p>
            <a:r>
              <a:rPr lang="en-US" altLang="ko-KR">
                <a:latin typeface="Consolas" panose="020B0609020204030204" pitchFamily="49" charset="0"/>
              </a:rPr>
              <a:t>    114d</a:t>
            </a:r>
            <a:r>
              <a:rPr lang="en-US" altLang="ko-KR">
                <a:latin typeface="Consolas" panose="020B0609020204030204" pitchFamily="49" charset="0"/>
              </a:rPr>
              <a:t>:       </a:t>
            </a:r>
            <a:r>
              <a:rPr lang="en-US" altLang="ko-KR" smtClean="0">
                <a:latin typeface="Consolas" panose="020B0609020204030204" pitchFamily="49" charset="0"/>
              </a:rPr>
              <a:t>push   </a:t>
            </a:r>
            <a:r>
              <a:rPr lang="en-US" altLang="ko-KR">
                <a:latin typeface="Consolas" panose="020B0609020204030204" pitchFamily="49" charset="0"/>
              </a:rPr>
              <a:t>%rbp</a:t>
            </a:r>
          </a:p>
          <a:p>
            <a:r>
              <a:rPr lang="en-US" altLang="ko-KR">
                <a:latin typeface="Consolas" panose="020B0609020204030204" pitchFamily="49" charset="0"/>
              </a:rPr>
              <a:t>    114e</a:t>
            </a:r>
            <a:r>
              <a:rPr lang="en-US" altLang="ko-KR">
                <a:latin typeface="Consolas" panose="020B0609020204030204" pitchFamily="49" charset="0"/>
              </a:rPr>
              <a:t>:       </a:t>
            </a:r>
            <a:r>
              <a:rPr lang="en-US" altLang="ko-KR" smtClean="0">
                <a:latin typeface="Consolas" panose="020B0609020204030204" pitchFamily="49" charset="0"/>
              </a:rPr>
              <a:t>mov    </a:t>
            </a:r>
            <a:r>
              <a:rPr lang="en-US" altLang="ko-KR">
                <a:latin typeface="Consolas" panose="020B0609020204030204" pitchFamily="49" charset="0"/>
              </a:rPr>
              <a:t>%rsp,%rbp</a:t>
            </a:r>
          </a:p>
          <a:p>
            <a:r>
              <a:rPr lang="en-US" altLang="ko-KR">
                <a:latin typeface="Consolas" panose="020B0609020204030204" pitchFamily="49" charset="0"/>
              </a:rPr>
              <a:t>    1151</a:t>
            </a:r>
            <a:r>
              <a:rPr lang="en-US" altLang="ko-KR">
                <a:latin typeface="Consolas" panose="020B0609020204030204" pitchFamily="49" charset="0"/>
              </a:rPr>
              <a:t>:       </a:t>
            </a:r>
            <a:r>
              <a:rPr lang="en-US" altLang="ko-KR" smtClean="0">
                <a:latin typeface="Consolas" panose="020B0609020204030204" pitchFamily="49" charset="0"/>
              </a:rPr>
              <a:t>lea    </a:t>
            </a:r>
            <a:r>
              <a:rPr lang="en-US" altLang="ko-KR">
                <a:latin typeface="Consolas" panose="020B0609020204030204" pitchFamily="49" charset="0"/>
              </a:rPr>
              <a:t>0xeac(%rip),%rax        # 2004 &lt;_IO_stdin_used+0x4&gt;</a:t>
            </a:r>
          </a:p>
          <a:p>
            <a:r>
              <a:rPr lang="en-US" altLang="ko-KR">
                <a:latin typeface="Consolas" panose="020B0609020204030204" pitchFamily="49" charset="0"/>
              </a:rPr>
              <a:t>    1158</a:t>
            </a:r>
            <a:r>
              <a:rPr lang="en-US" altLang="ko-KR">
                <a:latin typeface="Consolas" panose="020B0609020204030204" pitchFamily="49" charset="0"/>
              </a:rPr>
              <a:t>:       </a:t>
            </a:r>
            <a:r>
              <a:rPr lang="en-US" altLang="ko-KR" smtClean="0">
                <a:latin typeface="Consolas" panose="020B0609020204030204" pitchFamily="49" charset="0"/>
              </a:rPr>
              <a:t>mov    </a:t>
            </a:r>
            <a:r>
              <a:rPr lang="en-US" altLang="ko-KR">
                <a:latin typeface="Consolas" panose="020B0609020204030204" pitchFamily="49" charset="0"/>
              </a:rPr>
              <a:t>%rax,%rdi</a:t>
            </a:r>
          </a:p>
          <a:p>
            <a:r>
              <a:rPr lang="en-US" altLang="ko-KR">
                <a:latin typeface="Consolas" panose="020B0609020204030204" pitchFamily="49" charset="0"/>
              </a:rPr>
              <a:t>    115b</a:t>
            </a:r>
            <a:r>
              <a:rPr lang="en-US" altLang="ko-KR">
                <a:latin typeface="Consolas" panose="020B0609020204030204" pitchFamily="49" charset="0"/>
              </a:rPr>
              <a:t>:       </a:t>
            </a:r>
            <a:r>
              <a:rPr lang="en-US" altLang="ko-KR" smtClean="0">
                <a:latin typeface="Consolas" panose="020B0609020204030204" pitchFamily="49" charset="0"/>
              </a:rPr>
              <a:t>call   </a:t>
            </a:r>
            <a:r>
              <a:rPr lang="en-US" altLang="ko-KR">
                <a:latin typeface="Consolas" panose="020B0609020204030204" pitchFamily="49" charset="0"/>
              </a:rPr>
              <a:t>1050 &lt;puts@plt&gt;</a:t>
            </a:r>
          </a:p>
          <a:p>
            <a:r>
              <a:rPr lang="en-US" altLang="ko-KR">
                <a:latin typeface="Consolas" panose="020B0609020204030204" pitchFamily="49" charset="0"/>
              </a:rPr>
              <a:t>    1160</a:t>
            </a:r>
            <a:r>
              <a:rPr lang="en-US" altLang="ko-KR">
                <a:latin typeface="Consolas" panose="020B0609020204030204" pitchFamily="49" charset="0"/>
              </a:rPr>
              <a:t>:       </a:t>
            </a:r>
            <a:r>
              <a:rPr lang="en-US" altLang="ko-KR" smtClean="0">
                <a:latin typeface="Consolas" panose="020B0609020204030204" pitchFamily="49" charset="0"/>
              </a:rPr>
              <a:t>nop</a:t>
            </a:r>
            <a:endParaRPr lang="en-US" altLang="ko-KR">
              <a:latin typeface="Consolas" panose="020B0609020204030204" pitchFamily="49" charset="0"/>
            </a:endParaRPr>
          </a:p>
          <a:p>
            <a:r>
              <a:rPr lang="en-US" altLang="ko-KR">
                <a:latin typeface="Consolas" panose="020B0609020204030204" pitchFamily="49" charset="0"/>
              </a:rPr>
              <a:t>    1161</a:t>
            </a:r>
            <a:r>
              <a:rPr lang="en-US" altLang="ko-KR">
                <a:latin typeface="Consolas" panose="020B0609020204030204" pitchFamily="49" charset="0"/>
              </a:rPr>
              <a:t>:       </a:t>
            </a:r>
            <a:r>
              <a:rPr lang="en-US" altLang="ko-KR" smtClean="0">
                <a:latin typeface="Consolas" panose="020B0609020204030204" pitchFamily="49" charset="0"/>
              </a:rPr>
              <a:t>pop    %rax</a:t>
            </a:r>
          </a:p>
          <a:p>
            <a:r>
              <a:rPr lang="en-US" altLang="ko-KR" smtClean="0">
                <a:latin typeface="Consolas" panose="020B0609020204030204" pitchFamily="49" charset="0"/>
              </a:rPr>
              <a:t>    </a:t>
            </a:r>
            <a:r>
              <a:rPr lang="en-US" altLang="ko-KR">
                <a:latin typeface="Consolas" panose="020B0609020204030204" pitchFamily="49" charset="0"/>
              </a:rPr>
              <a:t>1162</a:t>
            </a:r>
            <a:r>
              <a:rPr lang="en-US" altLang="ko-KR">
                <a:latin typeface="Consolas" panose="020B0609020204030204" pitchFamily="49" charset="0"/>
              </a:rPr>
              <a:t>:       </a:t>
            </a:r>
            <a:r>
              <a:rPr lang="en-US" altLang="ko-KR" smtClean="0">
                <a:latin typeface="Consolas" panose="020B0609020204030204" pitchFamily="49" charset="0"/>
              </a:rPr>
              <a:t>jmp    %rax</a:t>
            </a:r>
            <a:endParaRPr lang="en-US" altLang="ko-KR">
              <a:latin typeface="Consolas" panose="020B0609020204030204" pitchFamily="49" charset="0"/>
            </a:endParaRPr>
          </a:p>
          <a:p>
            <a:endParaRPr lang="en-US" altLang="ko-KR">
              <a:latin typeface="Consolas" panose="020B0609020204030204" pitchFamily="49" charset="0"/>
            </a:endParaRPr>
          </a:p>
          <a:p>
            <a:r>
              <a:rPr lang="en-US" altLang="ko-KR">
                <a:latin typeface="Consolas" panose="020B0609020204030204" pitchFamily="49" charset="0"/>
              </a:rPr>
              <a:t>0000000000001163 &lt;main&gt;:</a:t>
            </a:r>
          </a:p>
          <a:p>
            <a:r>
              <a:rPr lang="en-US" altLang="ko-KR">
                <a:latin typeface="Consolas" panose="020B0609020204030204" pitchFamily="49" charset="0"/>
              </a:rPr>
              <a:t>    1163</a:t>
            </a:r>
            <a:r>
              <a:rPr lang="en-US" altLang="ko-KR">
                <a:latin typeface="Consolas" panose="020B0609020204030204" pitchFamily="49" charset="0"/>
              </a:rPr>
              <a:t>:       </a:t>
            </a:r>
            <a:r>
              <a:rPr lang="en-US" altLang="ko-KR" smtClean="0">
                <a:latin typeface="Consolas" panose="020B0609020204030204" pitchFamily="49" charset="0"/>
              </a:rPr>
              <a:t>endbr64</a:t>
            </a:r>
            <a:endParaRPr lang="en-US" altLang="ko-KR">
              <a:latin typeface="Consolas" panose="020B0609020204030204" pitchFamily="49" charset="0"/>
            </a:endParaRPr>
          </a:p>
          <a:p>
            <a:r>
              <a:rPr lang="en-US" altLang="ko-KR">
                <a:latin typeface="Consolas" panose="020B0609020204030204" pitchFamily="49" charset="0"/>
              </a:rPr>
              <a:t>    1167</a:t>
            </a:r>
            <a:r>
              <a:rPr lang="en-US" altLang="ko-KR">
                <a:latin typeface="Consolas" panose="020B0609020204030204" pitchFamily="49" charset="0"/>
              </a:rPr>
              <a:t>:       </a:t>
            </a:r>
            <a:r>
              <a:rPr lang="en-US" altLang="ko-KR" smtClean="0">
                <a:latin typeface="Consolas" panose="020B0609020204030204" pitchFamily="49" charset="0"/>
              </a:rPr>
              <a:t>push   </a:t>
            </a:r>
            <a:r>
              <a:rPr lang="en-US" altLang="ko-KR">
                <a:latin typeface="Consolas" panose="020B0609020204030204" pitchFamily="49" charset="0"/>
              </a:rPr>
              <a:t>%rbp</a:t>
            </a:r>
          </a:p>
          <a:p>
            <a:r>
              <a:rPr lang="en-US" altLang="ko-KR">
                <a:latin typeface="Consolas" panose="020B0609020204030204" pitchFamily="49" charset="0"/>
              </a:rPr>
              <a:t>    1168</a:t>
            </a:r>
            <a:r>
              <a:rPr lang="en-US" altLang="ko-KR">
                <a:latin typeface="Consolas" panose="020B0609020204030204" pitchFamily="49" charset="0"/>
              </a:rPr>
              <a:t>:       </a:t>
            </a:r>
            <a:r>
              <a:rPr lang="en-US" altLang="ko-KR" smtClean="0">
                <a:latin typeface="Consolas" panose="020B0609020204030204" pitchFamily="49" charset="0"/>
              </a:rPr>
              <a:t>push   1170 </a:t>
            </a:r>
            <a:endParaRPr lang="en-US" altLang="ko-KR">
              <a:latin typeface="Consolas" panose="020B0609020204030204" pitchFamily="49" charset="0"/>
            </a:endParaRPr>
          </a:p>
          <a:p>
            <a:r>
              <a:rPr lang="en-US" altLang="ko-KR">
                <a:latin typeface="Consolas" panose="020B0609020204030204" pitchFamily="49" charset="0"/>
              </a:rPr>
              <a:t>    116b</a:t>
            </a:r>
            <a:r>
              <a:rPr lang="en-US" altLang="ko-KR">
                <a:latin typeface="Consolas" panose="020B0609020204030204" pitchFamily="49" charset="0"/>
              </a:rPr>
              <a:t>:       </a:t>
            </a:r>
            <a:r>
              <a:rPr lang="en-US" altLang="ko-KR" smtClean="0">
                <a:latin typeface="Consolas" panose="020B0609020204030204" pitchFamily="49" charset="0"/>
              </a:rPr>
              <a:t>jmp    </a:t>
            </a:r>
            <a:r>
              <a:rPr lang="en-US" altLang="ko-KR">
                <a:latin typeface="Consolas" panose="020B0609020204030204" pitchFamily="49" charset="0"/>
              </a:rPr>
              <a:t>1149 &lt;foo&gt;</a:t>
            </a:r>
          </a:p>
          <a:p>
            <a:r>
              <a:rPr lang="en-US" altLang="ko-KR">
                <a:latin typeface="Consolas" panose="020B0609020204030204" pitchFamily="49" charset="0"/>
              </a:rPr>
              <a:t>    1170</a:t>
            </a:r>
            <a:r>
              <a:rPr lang="en-US" altLang="ko-KR">
                <a:latin typeface="Consolas" panose="020B0609020204030204" pitchFamily="49" charset="0"/>
              </a:rPr>
              <a:t>:       </a:t>
            </a:r>
            <a:r>
              <a:rPr lang="en-US" altLang="ko-KR" smtClean="0">
                <a:latin typeface="Consolas" panose="020B0609020204030204" pitchFamily="49" charset="0"/>
              </a:rPr>
              <a:t>mov    </a:t>
            </a:r>
            <a:r>
              <a:rPr lang="en-US" altLang="ko-KR">
                <a:latin typeface="Consolas" panose="020B0609020204030204" pitchFamily="49" charset="0"/>
              </a:rPr>
              <a:t>$0x0,%eax</a:t>
            </a:r>
          </a:p>
          <a:p>
            <a:r>
              <a:rPr lang="en-US" altLang="ko-KR">
                <a:latin typeface="Consolas" panose="020B0609020204030204" pitchFamily="49" charset="0"/>
              </a:rPr>
              <a:t>    1175</a:t>
            </a:r>
            <a:r>
              <a:rPr lang="en-US" altLang="ko-KR">
                <a:latin typeface="Consolas" panose="020B0609020204030204" pitchFamily="49" charset="0"/>
              </a:rPr>
              <a:t>:       </a:t>
            </a:r>
            <a:r>
              <a:rPr lang="en-US" altLang="ko-KR" smtClean="0">
                <a:latin typeface="Consolas" panose="020B0609020204030204" pitchFamily="49" charset="0"/>
              </a:rPr>
              <a:t>pop    </a:t>
            </a:r>
            <a:r>
              <a:rPr lang="en-US" altLang="ko-KR">
                <a:latin typeface="Consolas" panose="020B0609020204030204" pitchFamily="49" charset="0"/>
              </a:rPr>
              <a:t>%rbp</a:t>
            </a:r>
          </a:p>
          <a:p>
            <a:r>
              <a:rPr lang="en-US" altLang="ko-KR">
                <a:latin typeface="Consolas" panose="020B0609020204030204" pitchFamily="49" charset="0"/>
              </a:rPr>
              <a:t>    1176</a:t>
            </a:r>
            <a:r>
              <a:rPr lang="en-US" altLang="ko-KR">
                <a:latin typeface="Consolas" panose="020B0609020204030204" pitchFamily="49" charset="0"/>
              </a:rPr>
              <a:t>:       </a:t>
            </a:r>
            <a:r>
              <a:rPr lang="en-US" altLang="ko-KR" smtClean="0">
                <a:latin typeface="Consolas" panose="020B0609020204030204" pitchFamily="49" charset="0"/>
              </a:rPr>
              <a:t>ret</a:t>
            </a:r>
            <a:endParaRPr lang="en-US" altLang="ko-KR">
              <a:latin typeface="Consolas" panose="020B0609020204030204" pitchFamily="49" charset="0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1570704" y="4181168"/>
            <a:ext cx="1061884" cy="390833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1170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791930" y="3871452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mtClean="0">
                <a:latin typeface="Consolas" panose="020B0609020204030204" pitchFamily="49" charset="0"/>
              </a:rPr>
              <a:t>PC</a:t>
            </a:r>
            <a:endParaRPr lang="ko-KR" altLang="en-US" smtClean="0">
              <a:latin typeface="Consolas" panose="020B0609020204030204" pitchFamily="49" charset="0"/>
            </a:endParaRPr>
          </a:p>
        </p:txBody>
      </p:sp>
      <p:sp>
        <p:nvSpPr>
          <p:cNvPr id="8" name="오른쪽 화살표 7"/>
          <p:cNvSpPr/>
          <p:nvPr/>
        </p:nvSpPr>
        <p:spPr>
          <a:xfrm>
            <a:off x="5656207" y="5206603"/>
            <a:ext cx="324465" cy="258097"/>
          </a:xfrm>
          <a:prstGeom prst="rightArrow">
            <a:avLst/>
          </a:prstGeom>
          <a:solidFill>
            <a:srgbClr val="FF00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3510116" y="2308123"/>
            <a:ext cx="1327355" cy="366497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3510116" y="4146140"/>
            <a:ext cx="1327355" cy="328152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1170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12" name="직선 화살표 연결선 11"/>
          <p:cNvCxnSpPr/>
          <p:nvPr/>
        </p:nvCxnSpPr>
        <p:spPr>
          <a:xfrm>
            <a:off x="3089786" y="4474292"/>
            <a:ext cx="420329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직사각형 12"/>
          <p:cNvSpPr/>
          <p:nvPr/>
        </p:nvSpPr>
        <p:spPr>
          <a:xfrm>
            <a:off x="1637071" y="4979424"/>
            <a:ext cx="995517" cy="328152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1170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915859" y="4674017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mtClean="0">
                <a:latin typeface="Consolas" panose="020B0609020204030204" pitchFamily="49" charset="0"/>
              </a:rPr>
              <a:t>rax</a:t>
            </a:r>
            <a:endParaRPr lang="ko-KR" altLang="en-US" smtClean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521238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82562" y="117987"/>
            <a:ext cx="3922869" cy="37856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smtClean="0">
                <a:latin typeface="Consolas" panose="020B0609020204030204" pitchFamily="49" charset="0"/>
              </a:rPr>
              <a:t>void foo(void)</a:t>
            </a:r>
          </a:p>
          <a:p>
            <a:r>
              <a:rPr lang="en-US" altLang="ko-KR" sz="2400" smtClean="0">
                <a:latin typeface="Consolas" panose="020B0609020204030204" pitchFamily="49" charset="0"/>
              </a:rPr>
              <a:t>{</a:t>
            </a:r>
          </a:p>
          <a:p>
            <a:r>
              <a:rPr lang="en-US" altLang="ko-KR" sz="2400">
                <a:latin typeface="Consolas" panose="020B0609020204030204" pitchFamily="49" charset="0"/>
              </a:rPr>
              <a:t> </a:t>
            </a:r>
            <a:r>
              <a:rPr lang="en-US" altLang="ko-KR" sz="2400" smtClean="0">
                <a:latin typeface="Consolas" panose="020B0609020204030204" pitchFamily="49" charset="0"/>
              </a:rPr>
              <a:t>   printf("foo()\n");</a:t>
            </a:r>
          </a:p>
          <a:p>
            <a:r>
              <a:rPr lang="en-US" altLang="ko-KR" sz="2400" smtClean="0">
                <a:latin typeface="Consolas" panose="020B0609020204030204" pitchFamily="49" charset="0"/>
              </a:rPr>
              <a:t>}</a:t>
            </a:r>
          </a:p>
          <a:p>
            <a:endParaRPr lang="en-US" altLang="ko-KR" sz="2400">
              <a:latin typeface="Consolas" panose="020B0609020204030204" pitchFamily="49" charset="0"/>
            </a:endParaRPr>
          </a:p>
          <a:p>
            <a:endParaRPr lang="en-US" altLang="ko-KR" sz="2400" smtClean="0">
              <a:latin typeface="Consolas" panose="020B0609020204030204" pitchFamily="49" charset="0"/>
            </a:endParaRPr>
          </a:p>
          <a:p>
            <a:r>
              <a:rPr lang="en-US" altLang="ko-KR" sz="2400" smtClean="0">
                <a:latin typeface="Consolas" panose="020B0609020204030204" pitchFamily="49" charset="0"/>
              </a:rPr>
              <a:t>int main()</a:t>
            </a:r>
          </a:p>
          <a:p>
            <a:r>
              <a:rPr lang="en-US" altLang="ko-KR" sz="2400" smtClean="0">
                <a:latin typeface="Consolas" panose="020B0609020204030204" pitchFamily="49" charset="0"/>
              </a:rPr>
              <a:t>{</a:t>
            </a:r>
          </a:p>
          <a:p>
            <a:r>
              <a:rPr lang="en-US" altLang="ko-KR" sz="2400">
                <a:latin typeface="Consolas" panose="020B0609020204030204" pitchFamily="49" charset="0"/>
              </a:rPr>
              <a:t> </a:t>
            </a:r>
            <a:r>
              <a:rPr lang="en-US" altLang="ko-KR" sz="2400" smtClean="0">
                <a:latin typeface="Consolas" panose="020B0609020204030204" pitchFamily="49" charset="0"/>
              </a:rPr>
              <a:t>   foo();</a:t>
            </a:r>
          </a:p>
          <a:p>
            <a:r>
              <a:rPr lang="en-US" altLang="ko-KR" sz="2400" smtClean="0">
                <a:latin typeface="Consolas" panose="020B0609020204030204" pitchFamily="49" charset="0"/>
              </a:rPr>
              <a:t>}</a:t>
            </a:r>
            <a:endParaRPr lang="ko-KR" altLang="en-US" sz="2400" smtClean="0">
              <a:latin typeface="Consolas" panose="020B0609020204030204" pitchFamily="49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0" y="66366"/>
            <a:ext cx="9555821" cy="53553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Consolas" panose="020B0609020204030204" pitchFamily="49" charset="0"/>
              </a:rPr>
              <a:t>0000000000001149 &lt;foo&gt;:</a:t>
            </a:r>
          </a:p>
          <a:p>
            <a:r>
              <a:rPr lang="en-US" altLang="ko-KR">
                <a:latin typeface="Consolas" panose="020B0609020204030204" pitchFamily="49" charset="0"/>
              </a:rPr>
              <a:t>    1149</a:t>
            </a:r>
            <a:r>
              <a:rPr lang="en-US" altLang="ko-KR">
                <a:latin typeface="Consolas" panose="020B0609020204030204" pitchFamily="49" charset="0"/>
              </a:rPr>
              <a:t>:       </a:t>
            </a:r>
            <a:r>
              <a:rPr lang="en-US" altLang="ko-KR" smtClean="0">
                <a:latin typeface="Consolas" panose="020B0609020204030204" pitchFamily="49" charset="0"/>
              </a:rPr>
              <a:t>endbr64</a:t>
            </a:r>
            <a:endParaRPr lang="en-US" altLang="ko-KR">
              <a:latin typeface="Consolas" panose="020B0609020204030204" pitchFamily="49" charset="0"/>
            </a:endParaRPr>
          </a:p>
          <a:p>
            <a:r>
              <a:rPr lang="en-US" altLang="ko-KR">
                <a:latin typeface="Consolas" panose="020B0609020204030204" pitchFamily="49" charset="0"/>
              </a:rPr>
              <a:t>    114d</a:t>
            </a:r>
            <a:r>
              <a:rPr lang="en-US" altLang="ko-KR">
                <a:latin typeface="Consolas" panose="020B0609020204030204" pitchFamily="49" charset="0"/>
              </a:rPr>
              <a:t>:       </a:t>
            </a:r>
            <a:r>
              <a:rPr lang="en-US" altLang="ko-KR" smtClean="0">
                <a:latin typeface="Consolas" panose="020B0609020204030204" pitchFamily="49" charset="0"/>
              </a:rPr>
              <a:t>push   </a:t>
            </a:r>
            <a:r>
              <a:rPr lang="en-US" altLang="ko-KR">
                <a:latin typeface="Consolas" panose="020B0609020204030204" pitchFamily="49" charset="0"/>
              </a:rPr>
              <a:t>%rbp</a:t>
            </a:r>
          </a:p>
          <a:p>
            <a:r>
              <a:rPr lang="en-US" altLang="ko-KR">
                <a:latin typeface="Consolas" panose="020B0609020204030204" pitchFamily="49" charset="0"/>
              </a:rPr>
              <a:t>    114e</a:t>
            </a:r>
            <a:r>
              <a:rPr lang="en-US" altLang="ko-KR">
                <a:latin typeface="Consolas" panose="020B0609020204030204" pitchFamily="49" charset="0"/>
              </a:rPr>
              <a:t>:       </a:t>
            </a:r>
            <a:r>
              <a:rPr lang="en-US" altLang="ko-KR" smtClean="0">
                <a:latin typeface="Consolas" panose="020B0609020204030204" pitchFamily="49" charset="0"/>
              </a:rPr>
              <a:t>mov    </a:t>
            </a:r>
            <a:r>
              <a:rPr lang="en-US" altLang="ko-KR">
                <a:latin typeface="Consolas" panose="020B0609020204030204" pitchFamily="49" charset="0"/>
              </a:rPr>
              <a:t>%rsp,%rbp</a:t>
            </a:r>
          </a:p>
          <a:p>
            <a:r>
              <a:rPr lang="en-US" altLang="ko-KR">
                <a:latin typeface="Consolas" panose="020B0609020204030204" pitchFamily="49" charset="0"/>
              </a:rPr>
              <a:t>    1151</a:t>
            </a:r>
            <a:r>
              <a:rPr lang="en-US" altLang="ko-KR">
                <a:latin typeface="Consolas" panose="020B0609020204030204" pitchFamily="49" charset="0"/>
              </a:rPr>
              <a:t>:       </a:t>
            </a:r>
            <a:r>
              <a:rPr lang="en-US" altLang="ko-KR" smtClean="0">
                <a:latin typeface="Consolas" panose="020B0609020204030204" pitchFamily="49" charset="0"/>
              </a:rPr>
              <a:t>lea    </a:t>
            </a:r>
            <a:r>
              <a:rPr lang="en-US" altLang="ko-KR">
                <a:latin typeface="Consolas" panose="020B0609020204030204" pitchFamily="49" charset="0"/>
              </a:rPr>
              <a:t>0xeac(%rip),%rax        # 2004 &lt;_IO_stdin_used+0x4&gt;</a:t>
            </a:r>
          </a:p>
          <a:p>
            <a:r>
              <a:rPr lang="en-US" altLang="ko-KR">
                <a:latin typeface="Consolas" panose="020B0609020204030204" pitchFamily="49" charset="0"/>
              </a:rPr>
              <a:t>    1158</a:t>
            </a:r>
            <a:r>
              <a:rPr lang="en-US" altLang="ko-KR">
                <a:latin typeface="Consolas" panose="020B0609020204030204" pitchFamily="49" charset="0"/>
              </a:rPr>
              <a:t>:       </a:t>
            </a:r>
            <a:r>
              <a:rPr lang="en-US" altLang="ko-KR" smtClean="0">
                <a:latin typeface="Consolas" panose="020B0609020204030204" pitchFamily="49" charset="0"/>
              </a:rPr>
              <a:t>mov    </a:t>
            </a:r>
            <a:r>
              <a:rPr lang="en-US" altLang="ko-KR">
                <a:latin typeface="Consolas" panose="020B0609020204030204" pitchFamily="49" charset="0"/>
              </a:rPr>
              <a:t>%rax,%rdi</a:t>
            </a:r>
          </a:p>
          <a:p>
            <a:r>
              <a:rPr lang="en-US" altLang="ko-KR">
                <a:latin typeface="Consolas" panose="020B0609020204030204" pitchFamily="49" charset="0"/>
              </a:rPr>
              <a:t>    115b</a:t>
            </a:r>
            <a:r>
              <a:rPr lang="en-US" altLang="ko-KR">
                <a:latin typeface="Consolas" panose="020B0609020204030204" pitchFamily="49" charset="0"/>
              </a:rPr>
              <a:t>:       </a:t>
            </a:r>
            <a:r>
              <a:rPr lang="en-US" altLang="ko-KR" smtClean="0">
                <a:latin typeface="Consolas" panose="020B0609020204030204" pitchFamily="49" charset="0"/>
              </a:rPr>
              <a:t>call   </a:t>
            </a:r>
            <a:r>
              <a:rPr lang="en-US" altLang="ko-KR">
                <a:latin typeface="Consolas" panose="020B0609020204030204" pitchFamily="49" charset="0"/>
              </a:rPr>
              <a:t>1050 &lt;puts@plt&gt;</a:t>
            </a:r>
          </a:p>
          <a:p>
            <a:r>
              <a:rPr lang="en-US" altLang="ko-KR">
                <a:latin typeface="Consolas" panose="020B0609020204030204" pitchFamily="49" charset="0"/>
              </a:rPr>
              <a:t>    1160</a:t>
            </a:r>
            <a:r>
              <a:rPr lang="en-US" altLang="ko-KR">
                <a:latin typeface="Consolas" panose="020B0609020204030204" pitchFamily="49" charset="0"/>
              </a:rPr>
              <a:t>:       </a:t>
            </a:r>
            <a:r>
              <a:rPr lang="en-US" altLang="ko-KR" smtClean="0">
                <a:latin typeface="Consolas" panose="020B0609020204030204" pitchFamily="49" charset="0"/>
              </a:rPr>
              <a:t>nop</a:t>
            </a:r>
            <a:endParaRPr lang="en-US" altLang="ko-KR">
              <a:latin typeface="Consolas" panose="020B0609020204030204" pitchFamily="49" charset="0"/>
            </a:endParaRPr>
          </a:p>
          <a:p>
            <a:r>
              <a:rPr lang="en-US" altLang="ko-KR">
                <a:latin typeface="Consolas" panose="020B0609020204030204" pitchFamily="49" charset="0"/>
              </a:rPr>
              <a:t>    </a:t>
            </a:r>
            <a:r>
              <a:rPr lang="en-US" altLang="ko-KR">
                <a:latin typeface="Consolas" panose="020B0609020204030204" pitchFamily="49" charset="0"/>
              </a:rPr>
              <a:t>1161</a:t>
            </a:r>
            <a:r>
              <a:rPr lang="en-US" altLang="ko-KR" smtClean="0">
                <a:latin typeface="Consolas" panose="020B0609020204030204" pitchFamily="49" charset="0"/>
              </a:rPr>
              <a:t>:</a:t>
            </a:r>
          </a:p>
          <a:p>
            <a:r>
              <a:rPr lang="en-US" altLang="ko-KR" smtClean="0">
                <a:latin typeface="Consolas" panose="020B0609020204030204" pitchFamily="49" charset="0"/>
              </a:rPr>
              <a:t>    </a:t>
            </a:r>
            <a:r>
              <a:rPr lang="en-US" altLang="ko-KR">
                <a:latin typeface="Consolas" panose="020B0609020204030204" pitchFamily="49" charset="0"/>
              </a:rPr>
              <a:t>1162</a:t>
            </a:r>
            <a:r>
              <a:rPr lang="en-US" altLang="ko-KR" smtClean="0">
                <a:latin typeface="Consolas" panose="020B0609020204030204" pitchFamily="49" charset="0"/>
              </a:rPr>
              <a:t>:       ret</a:t>
            </a:r>
            <a:endParaRPr lang="en-US" altLang="ko-KR">
              <a:latin typeface="Consolas" panose="020B0609020204030204" pitchFamily="49" charset="0"/>
            </a:endParaRPr>
          </a:p>
          <a:p>
            <a:endParaRPr lang="en-US" altLang="ko-KR">
              <a:latin typeface="Consolas" panose="020B0609020204030204" pitchFamily="49" charset="0"/>
            </a:endParaRPr>
          </a:p>
          <a:p>
            <a:r>
              <a:rPr lang="en-US" altLang="ko-KR">
                <a:latin typeface="Consolas" panose="020B0609020204030204" pitchFamily="49" charset="0"/>
              </a:rPr>
              <a:t>0000000000001163 &lt;main&gt;:</a:t>
            </a:r>
          </a:p>
          <a:p>
            <a:r>
              <a:rPr lang="en-US" altLang="ko-KR">
                <a:latin typeface="Consolas" panose="020B0609020204030204" pitchFamily="49" charset="0"/>
              </a:rPr>
              <a:t>    1163</a:t>
            </a:r>
            <a:r>
              <a:rPr lang="en-US" altLang="ko-KR">
                <a:latin typeface="Consolas" panose="020B0609020204030204" pitchFamily="49" charset="0"/>
              </a:rPr>
              <a:t>:       </a:t>
            </a:r>
            <a:r>
              <a:rPr lang="en-US" altLang="ko-KR" smtClean="0">
                <a:latin typeface="Consolas" panose="020B0609020204030204" pitchFamily="49" charset="0"/>
              </a:rPr>
              <a:t>endbr64</a:t>
            </a:r>
            <a:endParaRPr lang="en-US" altLang="ko-KR">
              <a:latin typeface="Consolas" panose="020B0609020204030204" pitchFamily="49" charset="0"/>
            </a:endParaRPr>
          </a:p>
          <a:p>
            <a:r>
              <a:rPr lang="en-US" altLang="ko-KR">
                <a:latin typeface="Consolas" panose="020B0609020204030204" pitchFamily="49" charset="0"/>
              </a:rPr>
              <a:t>    1167</a:t>
            </a:r>
            <a:r>
              <a:rPr lang="en-US" altLang="ko-KR">
                <a:latin typeface="Consolas" panose="020B0609020204030204" pitchFamily="49" charset="0"/>
              </a:rPr>
              <a:t>:       </a:t>
            </a:r>
            <a:r>
              <a:rPr lang="en-US" altLang="ko-KR" smtClean="0">
                <a:latin typeface="Consolas" panose="020B0609020204030204" pitchFamily="49" charset="0"/>
              </a:rPr>
              <a:t>push   </a:t>
            </a:r>
            <a:r>
              <a:rPr lang="en-US" altLang="ko-KR">
                <a:latin typeface="Consolas" panose="020B0609020204030204" pitchFamily="49" charset="0"/>
              </a:rPr>
              <a:t>%rbp</a:t>
            </a:r>
          </a:p>
          <a:p>
            <a:r>
              <a:rPr lang="en-US" altLang="ko-KR">
                <a:latin typeface="Consolas" panose="020B0609020204030204" pitchFamily="49" charset="0"/>
              </a:rPr>
              <a:t>    </a:t>
            </a:r>
            <a:r>
              <a:rPr lang="en-US" altLang="ko-KR">
                <a:latin typeface="Consolas" panose="020B0609020204030204" pitchFamily="49" charset="0"/>
              </a:rPr>
              <a:t>1168</a:t>
            </a:r>
            <a:r>
              <a:rPr lang="en-US" altLang="ko-KR" smtClean="0">
                <a:latin typeface="Consolas" panose="020B0609020204030204" pitchFamily="49" charset="0"/>
              </a:rPr>
              <a:t>:</a:t>
            </a:r>
            <a:endParaRPr lang="en-US" altLang="ko-KR">
              <a:latin typeface="Consolas" panose="020B0609020204030204" pitchFamily="49" charset="0"/>
            </a:endParaRPr>
          </a:p>
          <a:p>
            <a:r>
              <a:rPr lang="en-US" altLang="ko-KR">
                <a:latin typeface="Consolas" panose="020B0609020204030204" pitchFamily="49" charset="0"/>
              </a:rPr>
              <a:t>    116b</a:t>
            </a:r>
            <a:r>
              <a:rPr lang="en-US" altLang="ko-KR">
                <a:latin typeface="Consolas" panose="020B0609020204030204" pitchFamily="49" charset="0"/>
              </a:rPr>
              <a:t>:       </a:t>
            </a:r>
            <a:r>
              <a:rPr lang="en-US" altLang="ko-KR" smtClean="0">
                <a:latin typeface="Consolas" panose="020B0609020204030204" pitchFamily="49" charset="0"/>
              </a:rPr>
              <a:t>call    </a:t>
            </a:r>
            <a:r>
              <a:rPr lang="en-US" altLang="ko-KR">
                <a:latin typeface="Consolas" panose="020B0609020204030204" pitchFamily="49" charset="0"/>
              </a:rPr>
              <a:t>1149 &lt;foo&gt;</a:t>
            </a:r>
          </a:p>
          <a:p>
            <a:r>
              <a:rPr lang="en-US" altLang="ko-KR">
                <a:latin typeface="Consolas" panose="020B0609020204030204" pitchFamily="49" charset="0"/>
              </a:rPr>
              <a:t>    1170</a:t>
            </a:r>
            <a:r>
              <a:rPr lang="en-US" altLang="ko-KR">
                <a:latin typeface="Consolas" panose="020B0609020204030204" pitchFamily="49" charset="0"/>
              </a:rPr>
              <a:t>:       </a:t>
            </a:r>
            <a:r>
              <a:rPr lang="en-US" altLang="ko-KR" smtClean="0">
                <a:latin typeface="Consolas" panose="020B0609020204030204" pitchFamily="49" charset="0"/>
              </a:rPr>
              <a:t>mov    </a:t>
            </a:r>
            <a:r>
              <a:rPr lang="en-US" altLang="ko-KR">
                <a:latin typeface="Consolas" panose="020B0609020204030204" pitchFamily="49" charset="0"/>
              </a:rPr>
              <a:t>$0x0,%eax</a:t>
            </a:r>
          </a:p>
          <a:p>
            <a:r>
              <a:rPr lang="en-US" altLang="ko-KR">
                <a:latin typeface="Consolas" panose="020B0609020204030204" pitchFamily="49" charset="0"/>
              </a:rPr>
              <a:t>    1175</a:t>
            </a:r>
            <a:r>
              <a:rPr lang="en-US" altLang="ko-KR">
                <a:latin typeface="Consolas" panose="020B0609020204030204" pitchFamily="49" charset="0"/>
              </a:rPr>
              <a:t>:       </a:t>
            </a:r>
            <a:r>
              <a:rPr lang="en-US" altLang="ko-KR" smtClean="0">
                <a:latin typeface="Consolas" panose="020B0609020204030204" pitchFamily="49" charset="0"/>
              </a:rPr>
              <a:t>pop    </a:t>
            </a:r>
            <a:r>
              <a:rPr lang="en-US" altLang="ko-KR">
                <a:latin typeface="Consolas" panose="020B0609020204030204" pitchFamily="49" charset="0"/>
              </a:rPr>
              <a:t>%rbp</a:t>
            </a:r>
          </a:p>
          <a:p>
            <a:r>
              <a:rPr lang="en-US" altLang="ko-KR">
                <a:latin typeface="Consolas" panose="020B0609020204030204" pitchFamily="49" charset="0"/>
              </a:rPr>
              <a:t>    1176</a:t>
            </a:r>
            <a:r>
              <a:rPr lang="en-US" altLang="ko-KR">
                <a:latin typeface="Consolas" panose="020B0609020204030204" pitchFamily="49" charset="0"/>
              </a:rPr>
              <a:t>:       </a:t>
            </a:r>
            <a:r>
              <a:rPr lang="en-US" altLang="ko-KR" smtClean="0">
                <a:latin typeface="Consolas" panose="020B0609020204030204" pitchFamily="49" charset="0"/>
              </a:rPr>
              <a:t>ret</a:t>
            </a:r>
            <a:endParaRPr lang="en-US" altLang="ko-KR">
              <a:latin typeface="Consolas" panose="020B0609020204030204" pitchFamily="49" charset="0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1570704" y="4181168"/>
            <a:ext cx="1061884" cy="390833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1170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791930" y="3871452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mtClean="0">
                <a:latin typeface="Consolas" panose="020B0609020204030204" pitchFamily="49" charset="0"/>
              </a:rPr>
              <a:t>PC</a:t>
            </a:r>
            <a:endParaRPr lang="ko-KR" altLang="en-US" smtClean="0">
              <a:latin typeface="Consolas" panose="020B0609020204030204" pitchFamily="49" charset="0"/>
            </a:endParaRPr>
          </a:p>
        </p:txBody>
      </p:sp>
      <p:sp>
        <p:nvSpPr>
          <p:cNvPr id="8" name="오른쪽 화살표 7"/>
          <p:cNvSpPr/>
          <p:nvPr/>
        </p:nvSpPr>
        <p:spPr>
          <a:xfrm>
            <a:off x="5744697" y="4526534"/>
            <a:ext cx="324465" cy="258097"/>
          </a:xfrm>
          <a:prstGeom prst="rightArrow">
            <a:avLst/>
          </a:prstGeom>
          <a:solidFill>
            <a:srgbClr val="FF00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3510116" y="2308123"/>
            <a:ext cx="1327355" cy="366497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3510116" y="4146140"/>
            <a:ext cx="1327355" cy="328152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1170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12" name="직선 화살표 연결선 11"/>
          <p:cNvCxnSpPr/>
          <p:nvPr/>
        </p:nvCxnSpPr>
        <p:spPr>
          <a:xfrm>
            <a:off x="3089786" y="4474292"/>
            <a:ext cx="420329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직사각형 12"/>
          <p:cNvSpPr/>
          <p:nvPr/>
        </p:nvSpPr>
        <p:spPr>
          <a:xfrm>
            <a:off x="1637071" y="4979424"/>
            <a:ext cx="995517" cy="328152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  <a:latin typeface="Consolas" panose="020B0609020204030204" pitchFamily="49" charset="0"/>
              </a:rPr>
              <a:t>1170</a:t>
            </a:r>
            <a:endParaRPr lang="ko-KR" altLang="en-US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915859" y="4674017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mtClean="0">
                <a:latin typeface="Consolas" panose="020B0609020204030204" pitchFamily="49" charset="0"/>
              </a:rPr>
              <a:t>rax</a:t>
            </a:r>
            <a:endParaRPr lang="ko-KR" altLang="en-US" smtClean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688913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82562" y="117987"/>
            <a:ext cx="3922869" cy="37856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smtClean="0">
                <a:latin typeface="Consolas" panose="020B0609020204030204" pitchFamily="49" charset="0"/>
              </a:rPr>
              <a:t>void foo(void)</a:t>
            </a:r>
          </a:p>
          <a:p>
            <a:r>
              <a:rPr lang="en-US" altLang="ko-KR" sz="2400" smtClean="0">
                <a:latin typeface="Consolas" panose="020B0609020204030204" pitchFamily="49" charset="0"/>
              </a:rPr>
              <a:t>{</a:t>
            </a:r>
          </a:p>
          <a:p>
            <a:r>
              <a:rPr lang="en-US" altLang="ko-KR" sz="2400">
                <a:latin typeface="Consolas" panose="020B0609020204030204" pitchFamily="49" charset="0"/>
              </a:rPr>
              <a:t> </a:t>
            </a:r>
            <a:r>
              <a:rPr lang="en-US" altLang="ko-KR" sz="2400" smtClean="0">
                <a:latin typeface="Consolas" panose="020B0609020204030204" pitchFamily="49" charset="0"/>
              </a:rPr>
              <a:t>   printf("foo()\n");</a:t>
            </a:r>
          </a:p>
          <a:p>
            <a:r>
              <a:rPr lang="en-US" altLang="ko-KR" sz="2400" smtClean="0">
                <a:latin typeface="Consolas" panose="020B0609020204030204" pitchFamily="49" charset="0"/>
              </a:rPr>
              <a:t>}</a:t>
            </a:r>
          </a:p>
          <a:p>
            <a:endParaRPr lang="en-US" altLang="ko-KR" sz="2400">
              <a:latin typeface="Consolas" panose="020B0609020204030204" pitchFamily="49" charset="0"/>
            </a:endParaRPr>
          </a:p>
          <a:p>
            <a:endParaRPr lang="en-US" altLang="ko-KR" sz="2400" smtClean="0">
              <a:latin typeface="Consolas" panose="020B0609020204030204" pitchFamily="49" charset="0"/>
            </a:endParaRPr>
          </a:p>
          <a:p>
            <a:r>
              <a:rPr lang="en-US" altLang="ko-KR" sz="2400" smtClean="0">
                <a:latin typeface="Consolas" panose="020B0609020204030204" pitchFamily="49" charset="0"/>
              </a:rPr>
              <a:t>int main()</a:t>
            </a:r>
          </a:p>
          <a:p>
            <a:r>
              <a:rPr lang="en-US" altLang="ko-KR" sz="2400" smtClean="0">
                <a:latin typeface="Consolas" panose="020B0609020204030204" pitchFamily="49" charset="0"/>
              </a:rPr>
              <a:t>{</a:t>
            </a:r>
          </a:p>
          <a:p>
            <a:r>
              <a:rPr lang="en-US" altLang="ko-KR" sz="2400">
                <a:latin typeface="Consolas" panose="020B0609020204030204" pitchFamily="49" charset="0"/>
              </a:rPr>
              <a:t> </a:t>
            </a:r>
            <a:r>
              <a:rPr lang="en-US" altLang="ko-KR" sz="2400" smtClean="0">
                <a:latin typeface="Consolas" panose="020B0609020204030204" pitchFamily="49" charset="0"/>
              </a:rPr>
              <a:t>   foo();</a:t>
            </a:r>
          </a:p>
          <a:p>
            <a:r>
              <a:rPr lang="en-US" altLang="ko-KR" sz="2400" smtClean="0">
                <a:latin typeface="Consolas" panose="020B0609020204030204" pitchFamily="49" charset="0"/>
              </a:rPr>
              <a:t>}</a:t>
            </a:r>
            <a:endParaRPr lang="ko-KR" altLang="en-US" sz="2400" smtClean="0">
              <a:latin typeface="Consolas" panose="020B0609020204030204" pitchFamily="49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5604388" y="471949"/>
            <a:ext cx="643637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smtClean="0">
                <a:latin typeface="Consolas" panose="020B0609020204030204" pitchFamily="49" charset="0"/>
              </a:rPr>
              <a:t>decay : </a:t>
            </a:r>
            <a:r>
              <a:rPr lang="ko-KR" altLang="en-US" sz="2400" smtClean="0">
                <a:latin typeface="Consolas" panose="020B0609020204030204" pitchFamily="49" charset="0"/>
              </a:rPr>
              <a:t>함수의 이름은 일반적으로 </a:t>
            </a:r>
            <a:endParaRPr lang="en-US" altLang="ko-KR" sz="2400" smtClean="0">
              <a:latin typeface="Consolas" panose="020B0609020204030204" pitchFamily="49" charset="0"/>
            </a:endParaRPr>
          </a:p>
          <a:p>
            <a:r>
              <a:rPr lang="ko-KR" altLang="en-US" sz="2400" smtClean="0">
                <a:latin typeface="Consolas" panose="020B0609020204030204" pitchFamily="49" charset="0"/>
              </a:rPr>
              <a:t>함수 기계어코드의 시작 주소로 해석 된다</a:t>
            </a:r>
            <a:r>
              <a:rPr lang="en-US" altLang="ko-KR" sz="2400" smtClean="0">
                <a:latin typeface="Consolas" panose="020B0609020204030204" pitchFamily="49" charset="0"/>
              </a:rPr>
              <a:t>.</a:t>
            </a:r>
            <a:endParaRPr lang="ko-KR" altLang="en-US" sz="2400" smtClean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093327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82562" y="117987"/>
            <a:ext cx="25635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>
                <a:latin typeface="Consolas" panose="020B0609020204030204" pitchFamily="49" charset="0"/>
              </a:rPr>
              <a:t>void foo(void)</a:t>
            </a:r>
            <a:endParaRPr lang="ko-KR" altLang="en-US" sz="2400" smtClean="0">
              <a:latin typeface="Consolas" panose="020B0609020204030204" pitchFamily="49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582562" y="671052"/>
            <a:ext cx="56220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smtClean="0">
                <a:latin typeface="Consolas" panose="020B0609020204030204" pitchFamily="49" charset="0"/>
              </a:rPr>
              <a:t>// function(void) returning void</a:t>
            </a:r>
            <a:endParaRPr lang="ko-KR" altLang="en-US" sz="2400" smtClean="0">
              <a:latin typeface="Consolas" panose="020B0609020204030204" pitchFamily="49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82562" y="2160638"/>
            <a:ext cx="27334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>
                <a:latin typeface="Consolas" panose="020B0609020204030204" pitchFamily="49" charset="0"/>
              </a:rPr>
              <a:t>void </a:t>
            </a:r>
            <a:r>
              <a:rPr lang="en-US" altLang="ko-KR" sz="2400" smtClean="0">
                <a:latin typeface="Consolas" panose="020B0609020204030204" pitchFamily="49" charset="0"/>
              </a:rPr>
              <a:t>(</a:t>
            </a:r>
            <a:r>
              <a:rPr lang="ko-KR" altLang="en-US" sz="2400" smtClean="0">
                <a:latin typeface="Consolas" panose="020B0609020204030204" pitchFamily="49" charset="0"/>
              </a:rPr>
              <a:t>*</a:t>
            </a:r>
            <a:r>
              <a:rPr lang="en-US" altLang="ko-KR" sz="2400" smtClean="0">
                <a:latin typeface="Consolas" panose="020B0609020204030204" pitchFamily="49" charset="0"/>
              </a:rPr>
              <a:t>p)(void</a:t>
            </a:r>
            <a:r>
              <a:rPr lang="en-US" altLang="ko-KR" sz="2400">
                <a:latin typeface="Consolas" panose="020B0609020204030204" pitchFamily="49" charset="0"/>
              </a:rPr>
              <a:t>)</a:t>
            </a:r>
            <a:endParaRPr lang="ko-KR" altLang="en-US" sz="2400" smtClean="0">
              <a:latin typeface="Consolas" panose="020B0609020204030204" pitchFamily="49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82562" y="2713703"/>
            <a:ext cx="562205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smtClean="0">
                <a:latin typeface="Consolas" panose="020B0609020204030204" pitchFamily="49" charset="0"/>
              </a:rPr>
              <a:t>// pointer to</a:t>
            </a:r>
          </a:p>
          <a:p>
            <a:r>
              <a:rPr lang="en-US" altLang="ko-KR" sz="2400" smtClean="0">
                <a:latin typeface="Consolas" panose="020B0609020204030204" pitchFamily="49" charset="0"/>
              </a:rPr>
              <a:t>// function(void) returning void</a:t>
            </a:r>
            <a:endParaRPr lang="ko-KR" altLang="en-US" sz="2400" smtClean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920893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82562" y="117987"/>
            <a:ext cx="35830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>
                <a:latin typeface="Consolas" panose="020B0609020204030204" pitchFamily="49" charset="0"/>
              </a:rPr>
              <a:t>int (*(*bbb())())[2]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398207" y="978534"/>
            <a:ext cx="4772460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smtClean="0">
                <a:latin typeface="Consolas" panose="020B0609020204030204" pitchFamily="49" charset="0"/>
              </a:rPr>
              <a:t>// function(void) returning</a:t>
            </a:r>
          </a:p>
          <a:p>
            <a:r>
              <a:rPr lang="en-US" altLang="ko-KR" sz="2400" smtClean="0">
                <a:latin typeface="Consolas" panose="020B0609020204030204" pitchFamily="49" charset="0"/>
              </a:rPr>
              <a:t>// pointer to</a:t>
            </a:r>
          </a:p>
          <a:p>
            <a:r>
              <a:rPr lang="en-US" altLang="ko-KR" sz="2400">
                <a:latin typeface="Consolas" panose="020B0609020204030204" pitchFamily="49" charset="0"/>
              </a:rPr>
              <a:t>// function(void) returning</a:t>
            </a:r>
          </a:p>
          <a:p>
            <a:r>
              <a:rPr lang="en-US" altLang="ko-KR" sz="2400">
                <a:latin typeface="Consolas" panose="020B0609020204030204" pitchFamily="49" charset="0"/>
              </a:rPr>
              <a:t>// </a:t>
            </a:r>
            <a:r>
              <a:rPr lang="en-US" altLang="ko-KR" sz="2400">
                <a:latin typeface="Consolas" panose="020B0609020204030204" pitchFamily="49" charset="0"/>
              </a:rPr>
              <a:t>pointer </a:t>
            </a:r>
            <a:r>
              <a:rPr lang="en-US" altLang="ko-KR" sz="2400" smtClean="0">
                <a:latin typeface="Consolas" panose="020B0609020204030204" pitchFamily="49" charset="0"/>
              </a:rPr>
              <a:t>to</a:t>
            </a:r>
          </a:p>
          <a:p>
            <a:r>
              <a:rPr lang="en-US" altLang="ko-KR" sz="2400" smtClean="0">
                <a:latin typeface="Consolas" panose="020B0609020204030204" pitchFamily="49" charset="0"/>
              </a:rPr>
              <a:t>// array of 2</a:t>
            </a:r>
          </a:p>
          <a:p>
            <a:r>
              <a:rPr lang="en-US" altLang="ko-KR" sz="2400" smtClean="0">
                <a:latin typeface="Consolas" panose="020B0609020204030204" pitchFamily="49" charset="0"/>
              </a:rPr>
              <a:t>// int</a:t>
            </a:r>
            <a:endParaRPr lang="en-US" altLang="ko-KR" sz="2400">
              <a:latin typeface="Consolas" panose="020B0609020204030204" pitchFamily="49" charset="0"/>
            </a:endParaRPr>
          </a:p>
          <a:p>
            <a:endParaRPr lang="ko-KR" altLang="en-US" sz="2400" smtClean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6188012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82562" y="117987"/>
            <a:ext cx="47724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>
                <a:latin typeface="Consolas" panose="020B0609020204030204" pitchFamily="49" charset="0"/>
              </a:rPr>
              <a:t>int (*(*(*(*q)[2])())())[2]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582562" y="1974050"/>
            <a:ext cx="4092787" cy="37856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smtClean="0">
                <a:latin typeface="Consolas" panose="020B0609020204030204" pitchFamily="49" charset="0"/>
              </a:rPr>
              <a:t>// pointer to</a:t>
            </a:r>
          </a:p>
          <a:p>
            <a:r>
              <a:rPr lang="en-US" altLang="ko-KR" sz="2400" smtClean="0">
                <a:latin typeface="Consolas" panose="020B0609020204030204" pitchFamily="49" charset="0"/>
              </a:rPr>
              <a:t>// array of 2</a:t>
            </a:r>
          </a:p>
          <a:p>
            <a:r>
              <a:rPr lang="en-US" altLang="ko-KR" sz="2400">
                <a:latin typeface="Consolas" panose="020B0609020204030204" pitchFamily="49" charset="0"/>
              </a:rPr>
              <a:t>// </a:t>
            </a:r>
            <a:r>
              <a:rPr lang="en-US" altLang="ko-KR" sz="2400">
                <a:latin typeface="Consolas" panose="020B0609020204030204" pitchFamily="49" charset="0"/>
              </a:rPr>
              <a:t>pointer </a:t>
            </a:r>
            <a:r>
              <a:rPr lang="en-US" altLang="ko-KR" sz="2400" smtClean="0">
                <a:latin typeface="Consolas" panose="020B0609020204030204" pitchFamily="49" charset="0"/>
              </a:rPr>
              <a:t>to</a:t>
            </a:r>
          </a:p>
          <a:p>
            <a:r>
              <a:rPr lang="en-US" altLang="ko-KR" sz="2400" smtClean="0">
                <a:latin typeface="Consolas" panose="020B0609020204030204" pitchFamily="49" charset="0"/>
              </a:rPr>
              <a:t>// function() returning</a:t>
            </a:r>
          </a:p>
          <a:p>
            <a:r>
              <a:rPr lang="en-US" altLang="ko-KR" sz="2400" smtClean="0">
                <a:latin typeface="Consolas" panose="020B0609020204030204" pitchFamily="49" charset="0"/>
              </a:rPr>
              <a:t>// pointer to</a:t>
            </a:r>
          </a:p>
          <a:p>
            <a:r>
              <a:rPr lang="en-US" altLang="ko-KR" sz="2400">
                <a:latin typeface="Consolas" panose="020B0609020204030204" pitchFamily="49" charset="0"/>
              </a:rPr>
              <a:t>// function() returning</a:t>
            </a:r>
          </a:p>
          <a:p>
            <a:r>
              <a:rPr lang="en-US" altLang="ko-KR" sz="2400">
                <a:latin typeface="Consolas" panose="020B0609020204030204" pitchFamily="49" charset="0"/>
              </a:rPr>
              <a:t>// pointer to</a:t>
            </a:r>
          </a:p>
          <a:p>
            <a:r>
              <a:rPr lang="en-US" altLang="ko-KR" sz="2400">
                <a:latin typeface="Consolas" panose="020B0609020204030204" pitchFamily="49" charset="0"/>
              </a:rPr>
              <a:t>// array of 2</a:t>
            </a:r>
          </a:p>
          <a:p>
            <a:r>
              <a:rPr lang="en-US" altLang="ko-KR" sz="2400" smtClean="0">
                <a:latin typeface="Consolas" panose="020B0609020204030204" pitchFamily="49" charset="0"/>
              </a:rPr>
              <a:t>// int</a:t>
            </a:r>
            <a:endParaRPr lang="en-US" altLang="ko-KR" sz="2400">
              <a:latin typeface="Consolas" panose="020B0609020204030204" pitchFamily="49" charset="0"/>
            </a:endParaRPr>
          </a:p>
          <a:p>
            <a:r>
              <a:rPr lang="en-US" altLang="ko-KR" sz="2400" smtClean="0">
                <a:latin typeface="Consolas" panose="020B0609020204030204" pitchFamily="49" charset="0"/>
              </a:rPr>
              <a:t> </a:t>
            </a:r>
            <a:endParaRPr lang="ko-KR" altLang="en-US" sz="2400" smtClean="0">
              <a:latin typeface="Consolas" panose="020B0609020204030204" pitchFamily="49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63679" y="1283110"/>
            <a:ext cx="8643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>
                <a:latin typeface="Consolas" panose="020B0609020204030204" pitchFamily="49" charset="0"/>
              </a:rPr>
              <a:t>int </a:t>
            </a:r>
            <a:endParaRPr lang="en-US" altLang="ko-KR" sz="240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6846064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884903" y="560439"/>
            <a:ext cx="311304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mtClean="0">
                <a:latin typeface="Consolas" panose="020B0609020204030204" pitchFamily="49" charset="0"/>
              </a:rPr>
              <a:t>-</a:t>
            </a:r>
          </a:p>
          <a:p>
            <a:r>
              <a:rPr lang="en-US" altLang="ko-KR" smtClean="0">
                <a:latin typeface="Consolas" panose="020B0609020204030204" pitchFamily="49" charset="0"/>
              </a:rPr>
              <a:t>d</a:t>
            </a:r>
          </a:p>
          <a:p>
            <a:r>
              <a:rPr lang="en-US" altLang="ko-KR" smtClean="0">
                <a:latin typeface="Consolas" panose="020B0609020204030204" pitchFamily="49" charset="0"/>
              </a:rPr>
              <a:t>c</a:t>
            </a:r>
          </a:p>
          <a:p>
            <a:r>
              <a:rPr lang="en-US" altLang="ko-KR" smtClean="0">
                <a:latin typeface="Consolas" panose="020B0609020204030204" pitchFamily="49" charset="0"/>
              </a:rPr>
              <a:t>b</a:t>
            </a:r>
          </a:p>
          <a:p>
            <a:r>
              <a:rPr lang="en-US" altLang="ko-KR" smtClean="0">
                <a:latin typeface="Consolas" panose="020B0609020204030204" pitchFamily="49" charset="0"/>
              </a:rPr>
              <a:t>l</a:t>
            </a:r>
          </a:p>
          <a:p>
            <a:r>
              <a:rPr lang="en-US" altLang="ko-KR" smtClean="0">
                <a:latin typeface="Consolas" panose="020B0609020204030204" pitchFamily="49" charset="0"/>
              </a:rPr>
              <a:t>p</a:t>
            </a:r>
          </a:p>
          <a:p>
            <a:r>
              <a:rPr lang="en-US" altLang="ko-KR" smtClean="0">
                <a:latin typeface="Consolas" panose="020B0609020204030204" pitchFamily="49" charset="0"/>
              </a:rPr>
              <a:t>s</a:t>
            </a:r>
            <a:endParaRPr lang="ko-KR" altLang="en-US" smtClean="0">
              <a:latin typeface="Consolas" panose="020B0609020204030204" pitchFamily="49" charset="0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3664974" y="1039761"/>
            <a:ext cx="545691" cy="700549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smtClean="0">
                <a:solidFill>
                  <a:schemeClr val="tx1"/>
                </a:solidFill>
                <a:latin typeface="Consolas" panose="020B0609020204030204" pitchFamily="49" charset="0"/>
              </a:rPr>
              <a:t>r</a:t>
            </a:r>
            <a:endParaRPr lang="ko-KR" altLang="en-US" sz="2800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4210665" y="1039760"/>
            <a:ext cx="545691" cy="700549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smtClean="0">
                <a:solidFill>
                  <a:schemeClr val="tx1"/>
                </a:solidFill>
                <a:latin typeface="Consolas" panose="020B0609020204030204" pitchFamily="49" charset="0"/>
              </a:rPr>
              <a:t>w</a:t>
            </a:r>
            <a:endParaRPr lang="ko-KR" altLang="en-US" sz="2800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4756356" y="1039759"/>
            <a:ext cx="545691" cy="700549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smtClean="0">
                <a:solidFill>
                  <a:schemeClr val="tx1"/>
                </a:solidFill>
                <a:latin typeface="Consolas" panose="020B0609020204030204" pitchFamily="49" charset="0"/>
              </a:rPr>
              <a:t>-</a:t>
            </a:r>
            <a:endParaRPr lang="ko-KR" altLang="en-US" sz="2800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5302047" y="1039758"/>
            <a:ext cx="545691" cy="700549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smtClean="0">
                <a:solidFill>
                  <a:schemeClr val="tx1"/>
                </a:solidFill>
                <a:latin typeface="Consolas" panose="020B0609020204030204" pitchFamily="49" charset="0"/>
              </a:rPr>
              <a:t>r</a:t>
            </a:r>
            <a:endParaRPr lang="ko-KR" altLang="en-US" sz="2800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5847738" y="1039757"/>
            <a:ext cx="545691" cy="700549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smtClean="0">
                <a:solidFill>
                  <a:schemeClr val="tx1"/>
                </a:solidFill>
                <a:latin typeface="Consolas" panose="020B0609020204030204" pitchFamily="49" charset="0"/>
              </a:rPr>
              <a:t>-</a:t>
            </a:r>
            <a:endParaRPr lang="ko-KR" altLang="en-US" sz="2800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6393429" y="1039756"/>
            <a:ext cx="545691" cy="700549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smtClean="0">
                <a:solidFill>
                  <a:schemeClr val="tx1"/>
                </a:solidFill>
                <a:latin typeface="Consolas" panose="020B0609020204030204" pitchFamily="49" charset="0"/>
              </a:rPr>
              <a:t>-</a:t>
            </a:r>
            <a:endParaRPr lang="ko-KR" altLang="en-US" sz="2800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7" name="직사각형 16"/>
          <p:cNvSpPr/>
          <p:nvPr/>
        </p:nvSpPr>
        <p:spPr>
          <a:xfrm>
            <a:off x="6939120" y="1039755"/>
            <a:ext cx="545691" cy="700549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smtClean="0">
                <a:solidFill>
                  <a:schemeClr val="tx1"/>
                </a:solidFill>
                <a:latin typeface="Consolas" panose="020B0609020204030204" pitchFamily="49" charset="0"/>
              </a:rPr>
              <a:t>r</a:t>
            </a:r>
            <a:endParaRPr lang="ko-KR" altLang="en-US" sz="2800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7484811" y="1039754"/>
            <a:ext cx="545691" cy="700549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smtClean="0">
                <a:solidFill>
                  <a:schemeClr val="tx1"/>
                </a:solidFill>
                <a:latin typeface="Consolas" panose="020B0609020204030204" pitchFamily="49" charset="0"/>
              </a:rPr>
              <a:t>-</a:t>
            </a:r>
            <a:endParaRPr lang="ko-KR" altLang="en-US" sz="2800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9" name="직사각형 18"/>
          <p:cNvSpPr/>
          <p:nvPr/>
        </p:nvSpPr>
        <p:spPr>
          <a:xfrm>
            <a:off x="8030502" y="1039753"/>
            <a:ext cx="545691" cy="700549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smtClean="0">
                <a:solidFill>
                  <a:schemeClr val="tx1"/>
                </a:solidFill>
                <a:latin typeface="Consolas" panose="020B0609020204030204" pitchFamily="49" charset="0"/>
              </a:rPr>
              <a:t>-</a:t>
            </a:r>
            <a:endParaRPr lang="ko-KR" altLang="en-US" sz="2800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21" name="직선 연결선 20"/>
          <p:cNvCxnSpPr/>
          <p:nvPr/>
        </p:nvCxnSpPr>
        <p:spPr>
          <a:xfrm>
            <a:off x="3664974" y="700548"/>
            <a:ext cx="0" cy="3392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/>
          <p:cNvCxnSpPr/>
          <p:nvPr/>
        </p:nvCxnSpPr>
        <p:spPr>
          <a:xfrm>
            <a:off x="5302047" y="700548"/>
            <a:ext cx="0" cy="3392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/>
          <p:cNvCxnSpPr/>
          <p:nvPr/>
        </p:nvCxnSpPr>
        <p:spPr>
          <a:xfrm>
            <a:off x="6939120" y="730040"/>
            <a:ext cx="0" cy="3392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/>
          <p:cNvCxnSpPr/>
          <p:nvPr/>
        </p:nvCxnSpPr>
        <p:spPr>
          <a:xfrm>
            <a:off x="8576193" y="722661"/>
            <a:ext cx="0" cy="3392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직사각형 24"/>
          <p:cNvSpPr/>
          <p:nvPr/>
        </p:nvSpPr>
        <p:spPr>
          <a:xfrm>
            <a:off x="3650227" y="2800219"/>
            <a:ext cx="545691" cy="700549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smtClean="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800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4195918" y="2800218"/>
            <a:ext cx="545691" cy="700549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smtClean="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800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4741609" y="2800217"/>
            <a:ext cx="545691" cy="700549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800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5287300" y="2800216"/>
            <a:ext cx="545691" cy="700549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smtClean="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800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832991" y="2800215"/>
            <a:ext cx="545691" cy="700549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800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0" name="직사각형 29"/>
          <p:cNvSpPr/>
          <p:nvPr/>
        </p:nvSpPr>
        <p:spPr>
          <a:xfrm>
            <a:off x="6378682" y="2800214"/>
            <a:ext cx="545691" cy="700549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800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6924373" y="2800213"/>
            <a:ext cx="545691" cy="700549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smtClean="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800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2" name="직사각형 31"/>
          <p:cNvSpPr/>
          <p:nvPr/>
        </p:nvSpPr>
        <p:spPr>
          <a:xfrm>
            <a:off x="7470064" y="2800212"/>
            <a:ext cx="545691" cy="700549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800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3" name="직사각형 32"/>
          <p:cNvSpPr/>
          <p:nvPr/>
        </p:nvSpPr>
        <p:spPr>
          <a:xfrm>
            <a:off x="8015755" y="2800211"/>
            <a:ext cx="545691" cy="700549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800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4" name="직사각형 33"/>
          <p:cNvSpPr/>
          <p:nvPr/>
        </p:nvSpPr>
        <p:spPr>
          <a:xfrm>
            <a:off x="3650227" y="2129155"/>
            <a:ext cx="545691" cy="70054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smtClean="0">
                <a:solidFill>
                  <a:schemeClr val="tx1"/>
                </a:solidFill>
                <a:latin typeface="Consolas" panose="020B0609020204030204" pitchFamily="49" charset="0"/>
              </a:rPr>
              <a:t>4</a:t>
            </a:r>
            <a:endParaRPr lang="ko-KR" altLang="en-US" sz="2800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5" name="직사각형 34"/>
          <p:cNvSpPr/>
          <p:nvPr/>
        </p:nvSpPr>
        <p:spPr>
          <a:xfrm>
            <a:off x="4195918" y="2129154"/>
            <a:ext cx="545691" cy="70054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smtClean="0">
                <a:solidFill>
                  <a:schemeClr val="tx1"/>
                </a:solidFill>
                <a:latin typeface="Consolas" panose="020B0609020204030204" pitchFamily="49" charset="0"/>
              </a:rPr>
              <a:t>2</a:t>
            </a:r>
            <a:endParaRPr lang="ko-KR" altLang="en-US" sz="2800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4741609" y="2129153"/>
            <a:ext cx="545691" cy="70054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smtClean="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800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5287300" y="2129152"/>
            <a:ext cx="545691" cy="70054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smtClean="0">
                <a:solidFill>
                  <a:schemeClr val="tx1"/>
                </a:solidFill>
                <a:latin typeface="Consolas" panose="020B0609020204030204" pitchFamily="49" charset="0"/>
              </a:rPr>
              <a:t>4</a:t>
            </a:r>
            <a:endParaRPr lang="ko-KR" altLang="en-US" sz="2800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5832991" y="2129151"/>
            <a:ext cx="545691" cy="70054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smtClean="0">
                <a:solidFill>
                  <a:schemeClr val="tx1"/>
                </a:solidFill>
                <a:latin typeface="Consolas" panose="020B0609020204030204" pitchFamily="49" charset="0"/>
              </a:rPr>
              <a:t>2</a:t>
            </a:r>
            <a:endParaRPr lang="ko-KR" altLang="en-US" sz="2800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9" name="직사각형 38"/>
          <p:cNvSpPr/>
          <p:nvPr/>
        </p:nvSpPr>
        <p:spPr>
          <a:xfrm>
            <a:off x="6378682" y="2129150"/>
            <a:ext cx="545691" cy="70054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smtClean="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800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0" name="직사각형 39"/>
          <p:cNvSpPr/>
          <p:nvPr/>
        </p:nvSpPr>
        <p:spPr>
          <a:xfrm>
            <a:off x="6924373" y="2129149"/>
            <a:ext cx="545691" cy="70054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smtClean="0">
                <a:solidFill>
                  <a:schemeClr val="tx1"/>
                </a:solidFill>
                <a:latin typeface="Consolas" panose="020B0609020204030204" pitchFamily="49" charset="0"/>
              </a:rPr>
              <a:t>4</a:t>
            </a:r>
            <a:endParaRPr lang="ko-KR" altLang="en-US" sz="2800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1" name="직사각형 40"/>
          <p:cNvSpPr/>
          <p:nvPr/>
        </p:nvSpPr>
        <p:spPr>
          <a:xfrm>
            <a:off x="7470064" y="2129148"/>
            <a:ext cx="545691" cy="70054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smtClean="0">
                <a:solidFill>
                  <a:schemeClr val="tx1"/>
                </a:solidFill>
                <a:latin typeface="Consolas" panose="020B0609020204030204" pitchFamily="49" charset="0"/>
              </a:rPr>
              <a:t>2</a:t>
            </a:r>
            <a:endParaRPr lang="ko-KR" altLang="en-US" sz="2800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2" name="직사각형 41"/>
          <p:cNvSpPr/>
          <p:nvPr/>
        </p:nvSpPr>
        <p:spPr>
          <a:xfrm>
            <a:off x="8015755" y="2129147"/>
            <a:ext cx="545691" cy="70054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smtClean="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800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4380271" y="3642852"/>
            <a:ext cx="4106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smtClean="0">
                <a:latin typeface="Consolas" panose="020B0609020204030204" pitchFamily="49" charset="0"/>
              </a:rPr>
              <a:t>6</a:t>
            </a:r>
            <a:endParaRPr lang="ko-KR" altLang="en-US" sz="3200" smtClean="0">
              <a:latin typeface="Consolas" panose="020B0609020204030204" pitchFamily="49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6046843" y="3642852"/>
            <a:ext cx="4106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smtClean="0">
                <a:latin typeface="Consolas" panose="020B0609020204030204" pitchFamily="49" charset="0"/>
              </a:rPr>
              <a:t>4</a:t>
            </a:r>
            <a:endParaRPr lang="ko-KR" altLang="en-US" sz="3200" smtClean="0">
              <a:latin typeface="Consolas" panose="020B0609020204030204" pitchFamily="49" charset="0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7698669" y="3642852"/>
            <a:ext cx="4106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smtClean="0">
                <a:latin typeface="Consolas" panose="020B0609020204030204" pitchFamily="49" charset="0"/>
              </a:rPr>
              <a:t>4</a:t>
            </a:r>
            <a:endParaRPr lang="ko-KR" altLang="en-US" sz="3200" smtClean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42785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solidFill>
            <a:schemeClr val="bg1">
              <a:lumMod val="65000"/>
            </a:schemeClr>
          </a:solidFill>
        </a:ln>
      </a:spPr>
      <a:bodyPr rtlCol="0" anchor="ctr"/>
      <a:lstStyle>
        <a:defPPr algn="ctr">
          <a:defRPr smtClean="0">
            <a:solidFill>
              <a:schemeClr val="tx1"/>
            </a:solidFill>
            <a:latin typeface="Consolas" panose="020B0609020204030204" pitchFamily="49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defRPr smtClean="0">
            <a:latin typeface="Consolas" panose="020B0609020204030204" pitchFamily="49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1160</TotalTime>
  <Words>3791</Words>
  <Application>Microsoft Office PowerPoint</Application>
  <PresentationFormat>와이드스크린</PresentationFormat>
  <Paragraphs>1624</Paragraphs>
  <Slides>66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66</vt:i4>
      </vt:variant>
    </vt:vector>
  </HeadingPairs>
  <TitlesOfParts>
    <vt:vector size="71" baseType="lpstr">
      <vt:lpstr>맑은 고딕</vt:lpstr>
      <vt:lpstr>Arial</vt:lpstr>
      <vt:lpstr>Cambria Math</vt:lpstr>
      <vt:lpstr>Consolas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user</cp:lastModifiedBy>
  <cp:revision>50</cp:revision>
  <dcterms:created xsi:type="dcterms:W3CDTF">2026-06-16T00:22:35Z</dcterms:created>
  <dcterms:modified xsi:type="dcterms:W3CDTF">2026-06-17T09:39:41Z</dcterms:modified>
</cp:coreProperties>
</file>